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4268e78-4311-8bc8-b387-141c6a504ca7}">
          <p14:sldIdLst>
            <p14:sldId id="256"/>
          </p14:sldIdLst>
        </p14:section>
        <p14:section name="The idea" id="{096d717b-531c-f1eb-4773-491238dabe49}">
          <p14:sldIdLst>
            <p14:sldId id="257"/>
            <p14:sldId id="258"/>
            <p14:sldId id="259"/>
          </p14:sldIdLst>
        </p14:section>
        <p14:section name="The product" id="{9a26e534-3068-0064-3d75-895188bbb672}">
          <p14:sldIdLst>
            <p14:sldId id="260"/>
            <p14:sldId id="261"/>
            <p14:sldId id="262"/>
            <p14:sldId id="263"/>
          </p14:sldIdLst>
        </p14:section>
        <p14:section name="What it does" id="{a8a9e103-260f-965f-4e0d-215e2fd6dc59}">
          <p14:sldIdLst>
            <p14:sldId id="264"/>
            <p14:sldId id="265"/>
            <p14:sldId id="266"/>
            <p14:sldId id="267"/>
            <p14:sldId id="268"/>
          </p14:sldIdLst>
        </p14:section>
        <p14:section name="Trust, platforms and plans" id="{ffc5fddc-0c62-57d4-deb2-bb818c2ed44e}">
          <p14:sldIdLst>
            <p14:sldId id="269"/>
            <p14:sldId id="270"/>
            <p14:sldId id="271"/>
          </p14:sldIdLst>
        </p14:section>
        <p14:section name="Close" id="{5a02ae59-c6cf-8f93-f08c-6f185cfb98e2}">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HandOffly keeps one record for everything you hand to someone, from the moment you give it to the moment it is fully returned. In the next half hour I will show the problem, how it works, what it does for your business, and the plans. The picture on the right is the real product, not a mock-up.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handoffs are recorded in a notebook, a chat thread or a spreadsheet. That works until something goes wrong. These are the four places it breaks: there is no proof of what was given, the recipient never confirmed it, returns in parts overwrite the original numbers, and missing items get argued about later. HandOffly is designed around exactly these four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important to say what this is not. It is not an inventory or warehouse system. It does not tell you how much stock you hold. It answers three questions for every handoff: what did we give, did the recipient acknowledge it, and what is still outstanding. One engine serves every industry; only the category you type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handoff follows the same path whatever is being handed over. You create it, you give it with a secure link, the recipient acknowledges, the items are out with them, returns are recorded in as many parts as needed, and when everything is accounted for the record is closed and becomes read-only. Exceptions such as declined, cancelled, disputed and overdue are recorded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dashboard with sample data. At the top, what needs attention: overdue handoffs and ones the recipient has not answered yet. Below, every handoff with its reference, recipient, status and the quantities given, returned, missing and remaining. The remaining number is always calculated by the system, never typed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idea. Five hundred chairs went out and five hundred came back. Eighty tables went out and seventy-eight came back, so two are still outstanding. Bedsheets all came back. The system shows the remaining count automatically. The outgoing quantities are never overwritten, and every return is a separate entry on the same handoff, so the history is always intact. A missing item must be confirmed by the recipient before the handoff can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 handoff shows its reference, the recipient, the expected return date and a lifecycle strip with the current stage highlighted. The totals sit right under it. Only the actions that make sense at this stage are offered, for example record a return, or duplicate this handoff for the next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your customer or colleague sees. There is nothing to install and no account to create. They open the link from the email, check the items, and either accept by typing their name or decline with a reason. The link opens only this one handoff and it expires. We are careful with wording: the typed name is an acknowledgement of the items, a record of their confirmation, not a legally binding electronic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engine serves every industry. A tent house hands out chairs and tables by the hundred. A construction firm hands out tools to crews. An IT team hands out laptops with serial numbers. Schools, offices, key holders and repair shops all follow the same pattern: something goes out, someone acknowledges it, and it needs to come back. Documents work the same way. There is no per-industry setup, only a free-text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capabilities are on every plan. Proof of handoff, the secure link, partial returns, missing-item confirmation, evidence and the audit trail. On top of that you can download or email a PDF, duplicate an earlier handoff, import items from a CSV or Excel file, get references with your own prefix, and see due dates and overdue handoffs.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Typing a handoff takes time, so there is an optional assistant. You describe the handoff in your own words, typed or spoken. It shows you what it understood, you can change anything, and then you save it as a draft. It only ever prepares a draft: nothing is sent to anyone until you submit it yourself. It is available on every plan, and the core workflow never depends on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HandoffCheck is a separate tool for a common problem: two documents that should match but do not. You upload, for example, a quotation and a purchase order, or what you gave and what came back. It reads CSV, Excel and PDF files and highlights every difference: quantities that do not match and items that appear in only one file. An optional AI helper can suggest which columns hold the item and the quantity. HandoffCheck is included in the Half-yearly and Yearly plans. The table shown is an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 lists the handoffs created in any period with how many were given, returned and missing, and it can be exported. On Half-yearly and Yearly you can also ask questions in plain language and the answer is calculated from your own data. Five optional reminder emails watch for you: what is due back soon, what is overdue, what still has missing items, what the recipient has not answered, and a weekly summary. You choose the schedule, and every run is kept in a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Handoff records are evidence, so they are protected and their history is kept intact. Passwords are stored hashed and sign-in attempts are rate limited. A session ends automatically after 15 minutes of inactivity, both in the app and on the server. Recipient links are random, stored hashed, expire, and open one handoff only. Returns are separate entries, events are never edited, and a closed handoff is read-only. Customers can only see their own records, and uploads are checked on arrival. Again, the typed acknowledgement is a record of confirmation and not presented as a legally binding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ways in. The customer web app is the main workspace. The mobile web app can be installed on a phone for work in the field. The support portal is for HandOffly staff, with roles for administrators, managers and ticket agents. And the recipient page needs nothing installed. One backend and one set of rules sit behind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Prices are in Indian rupees. All four plans include the full core product: unlimited handoffs, returns and missing-item tracking, attachments and evidence, and the AI Handoff Creator. Longer plans cost less per month and add tools and support. HandoffCheck and the AI Report Assistant come with Half-yearly and Yearly. Quarterly adds in-app contact support, Half-yearly adds tickets and priority handling, and Yearly adds a direct phone line and the highest priority. A customer on Monthly or Quarterly can upgrade to a longer plan by paying only the difference in list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it together. Fewer disputes because the recipient accepted a specific list at a specific time. Less lost property because outstanding items are visible. Faster handoffs because drafts can be created from a sentence, duplicated or imported. Less chasing because reminders go out on a schedule. It works for any business without per-industry setup, and the record holds up because its history is preserved.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takes three steps: choose a plan and sign up, create your first handoff by hand or with the AI Handoff Creator, then record returns and close it when everything is accounted for. I am happy to take questions, and to walk through a live demo with your own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355080"/>
            <a:ext cx="2743200" cy="274320"/>
          </a:xfrm>
          <a:prstGeom prst="rect">
            <a:avLst/>
          </a:prstGeom>
          <a:noFill/>
          <a:ln/>
        </p:spPr>
        <p:txBody>
          <a:bodyPr wrap="square" lIns="0" tIns="0" rIns="0" bIns="0" rtlCol="0" anchor="ctr"/>
          <a:lstStyle/>
          <a:p>
            <a:pPr indent="0" marL="0">
              <a:buNone/>
            </a:pPr>
            <a:r>
              <a:rPr lang="en-US" sz="1100" dirty="0">
                <a:solidFill>
                  <a:schemeClr val="accent5"/>
                </a:solidFill>
              </a:rPr>
              <a:t>HandOffly</a:t>
            </a:r>
            <a:endParaRPr lang="en-US" sz="1100" dirty="0"/>
          </a:p>
        </p:txBody>
      </p:sp>
      <p:sp>
        <p:nvSpPr>
          <p:cNvPr id="25" name="Slide Number Placeholder 0"/>
          <p:cNvSpPr>
            <a:spLocks noGrp="1"/>
          </p:cNvSpPr>
          <p:nvPr>
            <p:ph type="sldNum" sz="quarter" idx="4294967295"/>
          </p:nvPr>
        </p:nvSpPr>
        <p:spPr>
          <a:xfrm>
            <a:off x="11045952"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45952"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andOffly logo">    </p:cNvPr>
          <p:cNvPicPr>
            <a:picLocks noChangeAspect="1"/>
          </p:cNvPicPr>
          <p:nvPr/>
        </p:nvPicPr>
        <p:blipFill>
          <a:blip r:embed="rId1"/>
          <a:stretch>
            <a:fillRect/>
          </a:stretch>
        </p:blipFill>
        <p:spPr>
          <a:xfrm>
            <a:off x="640080" y="502920"/>
            <a:ext cx="1737360" cy="1527429"/>
          </a:xfrm>
          <a:prstGeom prst="rect">
            <a:avLst/>
          </a:prstGeom>
        </p:spPr>
      </p:pic>
      <p:sp>
        <p:nvSpPr>
          <p:cNvPr id="3" name="headline"/>
          <p:cNvSpPr txBox="1"/>
          <p:nvPr/>
        </p:nvSpPr>
        <p:spPr>
          <a:xfrm>
            <a:off x="640080" y="2514600"/>
            <a:ext cx="5852160" cy="1645920"/>
          </a:xfrm>
          <a:prstGeom prst="rect">
            <a:avLst/>
          </a:prstGeom>
          <a:noFill/>
          <a:ln/>
        </p:spPr>
        <p:txBody>
          <a:bodyPr wrap="square" lIns="0" tIns="0" rIns="0" bIns="0" rtlCol="0" anchor="t"/>
          <a:lstStyle/>
          <a:p>
            <a:pPr indent="0" marL="0">
              <a:buNone/>
            </a:pPr>
            <a:r>
              <a:rPr lang="en-US" sz="4000" b="1" dirty="0">
                <a:solidFill>
                  <a:schemeClr val="bg1"/>
                </a:solidFill>
              </a:rPr>
              <a:t>Proof of every handoff.</a:t>
            </a:r>
            <a:endParaRPr lang="en-US" sz="4000" dirty="0"/>
          </a:p>
          <a:p>
            <a:pPr indent="0" marL="0">
              <a:buNone/>
            </a:pPr>
            <a:r>
              <a:rPr lang="en-US" sz="4000" b="1" dirty="0">
                <a:solidFill>
                  <a:schemeClr val="bg1"/>
                </a:solidFill>
              </a:rPr>
              <a:t>Tracked until it’s returned.</a:t>
            </a:r>
            <a:endParaRPr lang="en-US" sz="4000" dirty="0"/>
          </a:p>
        </p:txBody>
      </p:sp>
      <p:sp>
        <p:nvSpPr>
          <p:cNvPr id="4" name="subhead"/>
          <p:cNvSpPr txBox="1"/>
          <p:nvPr/>
        </p:nvSpPr>
        <p:spPr>
          <a:xfrm>
            <a:off x="640080" y="4343400"/>
            <a:ext cx="5394960" cy="914400"/>
          </a:xfrm>
          <a:prstGeom prst="rect">
            <a:avLst/>
          </a:prstGeom>
          <a:noFill/>
          <a:ln/>
        </p:spPr>
        <p:txBody>
          <a:bodyPr wrap="square" lIns="0" tIns="0" rIns="0" bIns="0" rtlCol="0" anchor="ctr"/>
          <a:lstStyle/>
          <a:p>
            <a:pPr indent="0" marL="0">
              <a:buNone/>
            </a:pPr>
            <a:r>
              <a:rPr lang="en-US" sz="1800" dirty="0">
                <a:solidFill>
                  <a:schemeClr val="accent6"/>
                </a:solidFill>
              </a:rPr>
              <a:t>Universal proof-of-handoff and return tracking for rentals, events, tools, IT assets, documents and keys.</a:t>
            </a:r>
            <a:endParaRPr lang="en-US" sz="1800" dirty="0"/>
          </a:p>
        </p:txBody>
      </p:sp>
      <p:sp>
        <p:nvSpPr>
          <p:cNvPr id="5" name="kicker"/>
          <p:cNvSpPr txBox="1"/>
          <p:nvPr/>
        </p:nvSpPr>
        <p:spPr>
          <a:xfrm>
            <a:off x="640080" y="6035040"/>
            <a:ext cx="4572000" cy="365760"/>
          </a:xfrm>
          <a:prstGeom prst="rect">
            <a:avLst/>
          </a:prstGeom>
          <a:noFill/>
          <a:ln/>
        </p:spPr>
        <p:txBody>
          <a:bodyPr wrap="square" lIns="0" tIns="0" rIns="0" bIns="0" rtlCol="0" anchor="ctr"/>
          <a:lstStyle/>
          <a:p>
            <a:pPr indent="0" marL="0">
              <a:buNone/>
            </a:pPr>
            <a:r>
              <a:rPr lang="en-US" sz="1400" dirty="0">
                <a:solidFill>
                  <a:schemeClr val="accent6"/>
                </a:solidFill>
              </a:rPr>
              <a:t>Product overview for clients</a:t>
            </a:r>
            <a:endParaRPr lang="en-US" sz="1400" dirty="0"/>
          </a:p>
        </p:txBody>
      </p:sp>
      <p:pic>
        <p:nvPicPr>
          <p:cNvPr id="6" name="Screenshot of the HandOffly home page" descr="Screenshot of the HandOffly home page">    </p:cNvPr>
          <p:cNvPicPr>
            <a:picLocks noChangeAspect="1"/>
          </p:cNvPicPr>
          <p:nvPr/>
        </p:nvPicPr>
        <p:blipFill>
          <a:blip r:embed="rId2"/>
          <a:stretch>
            <a:fillRect/>
          </a:stretch>
        </p:blipFill>
        <p:spPr>
          <a:xfrm>
            <a:off x="6492240" y="1645920"/>
            <a:ext cx="5212080" cy="3257550"/>
          </a:xfrm>
          <a:prstGeom prst="rect">
            <a:avLst/>
          </a:prstGeom>
          <a:effectLst>
            <a:outerShdw sx="100000" sy="100000" kx="0" ky="0" algn="bl" rotWithShape="0" blurRad="127000" dist="38100" dir="5400000">
              <a:srgbClr val="000000">
                <a:alpha val="22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Handoffs fail at the same four points</a:t>
            </a:r>
            <a:endParaRPr lang="en-US" sz="3200" dirty="0"/>
          </a:p>
        </p:txBody>
      </p:sp>
      <p:sp>
        <p:nvSpPr>
          <p:cNvPr id="3" name="problem-card-1"/>
          <p:cNvSpPr/>
          <p:nvPr/>
        </p:nvSpPr>
        <p:spPr>
          <a:xfrm>
            <a:off x="548640" y="1508760"/>
            <a:ext cx="5449824" cy="2103120"/>
          </a:xfrm>
          <a:prstGeom prst="roundRect">
            <a:avLst>
              <a:gd name="adj" fmla="val 5217"/>
            </a:avLst>
          </a:prstGeom>
          <a:solidFill>
            <a:schemeClr val="bg2"/>
          </a:solidFill>
          <a:ln w="12700">
            <a:solidFill>
              <a:schemeClr val="bg2"/>
            </a:solidFill>
            <a:prstDash val="solid"/>
          </a:ln>
        </p:spPr>
      </p:sp>
      <p:sp>
        <p:nvSpPr>
          <p:cNvPr id="4" name="icon-circle-FaClipboardList"/>
          <p:cNvSpPr/>
          <p:nvPr/>
        </p:nvSpPr>
        <p:spPr>
          <a:xfrm>
            <a:off x="868680" y="1874520"/>
            <a:ext cx="731520" cy="731520"/>
          </a:xfrm>
          <a:prstGeom prst="ellipse">
            <a:avLst/>
          </a:prstGeom>
          <a:solidFill>
            <a:srgbClr val="DC2626"/>
          </a:solidFill>
          <a:ln w="12700">
            <a:solidFill>
              <a:srgbClr val="DC2626"/>
            </a:solidFill>
            <a:prstDash val="solid"/>
          </a:ln>
        </p:spPr>
      </p:sp>
      <p:pic>
        <p:nvPicPr>
          <p:cNvPr id="5" name="Image 0" descr="ClipboardList icon">    </p:cNvPr>
          <p:cNvPicPr>
            <a:picLocks noChangeAspect="1"/>
          </p:cNvPicPr>
          <p:nvPr/>
        </p:nvPicPr>
        <p:blipFill>
          <a:blip r:embed="rId1"/>
          <a:stretch>
            <a:fillRect/>
          </a:stretch>
        </p:blipFill>
        <p:spPr>
          <a:xfrm>
            <a:off x="1058875" y="2064715"/>
            <a:ext cx="351130" cy="351130"/>
          </a:xfrm>
          <a:prstGeom prst="rect">
            <a:avLst/>
          </a:prstGeom>
        </p:spPr>
      </p:pic>
      <p:sp>
        <p:nvSpPr>
          <p:cNvPr id="6" name="Text 3"/>
          <p:cNvSpPr txBox="1"/>
          <p:nvPr/>
        </p:nvSpPr>
        <p:spPr>
          <a:xfrm>
            <a:off x="1828800" y="1874520"/>
            <a:ext cx="3931920" cy="411480"/>
          </a:xfrm>
          <a:prstGeom prst="rect">
            <a:avLst/>
          </a:prstGeom>
          <a:noFill/>
          <a:ln/>
        </p:spPr>
        <p:txBody>
          <a:bodyPr wrap="square" lIns="0" tIns="0" rIns="0" bIns="0" rtlCol="0" anchor="ctr"/>
          <a:lstStyle/>
          <a:p>
            <a:pPr indent="0" marL="0">
              <a:buNone/>
            </a:pPr>
            <a:r>
              <a:rPr lang="en-US" sz="2200" b="1" dirty="0">
                <a:solidFill>
                  <a:schemeClr val="tx1"/>
                </a:solidFill>
              </a:rPr>
              <a:t>No proof</a:t>
            </a:r>
            <a:endParaRPr lang="en-US" sz="2200" dirty="0"/>
          </a:p>
        </p:txBody>
      </p:sp>
      <p:sp>
        <p:nvSpPr>
          <p:cNvPr id="7" name="Text 4"/>
          <p:cNvSpPr txBox="1"/>
          <p:nvPr/>
        </p:nvSpPr>
        <p:spPr>
          <a:xfrm>
            <a:off x="1828800" y="2377440"/>
            <a:ext cx="3931920" cy="914400"/>
          </a:xfrm>
          <a:prstGeom prst="rect">
            <a:avLst/>
          </a:prstGeom>
          <a:noFill/>
          <a:ln/>
        </p:spPr>
        <p:txBody>
          <a:bodyPr wrap="square" lIns="0" tIns="0" rIns="0" bIns="0" rtlCol="0" anchor="t"/>
          <a:lstStyle/>
          <a:p>
            <a:pPr indent="0" marL="0">
              <a:buNone/>
            </a:pPr>
            <a:r>
              <a:rPr lang="en-US" sz="1600" dirty="0">
                <a:solidFill>
                  <a:schemeClr val="accent5"/>
                </a:solidFill>
              </a:rPr>
              <a:t>The list lives on paper or in a chat, and anyone can edit it later.</a:t>
            </a:r>
            <a:endParaRPr lang="en-US" sz="1600" dirty="0"/>
          </a:p>
        </p:txBody>
      </p:sp>
      <p:sp>
        <p:nvSpPr>
          <p:cNvPr id="8" name="problem-card-2"/>
          <p:cNvSpPr/>
          <p:nvPr/>
        </p:nvSpPr>
        <p:spPr>
          <a:xfrm>
            <a:off x="6190488" y="1508760"/>
            <a:ext cx="5449824" cy="2103120"/>
          </a:xfrm>
          <a:prstGeom prst="roundRect">
            <a:avLst>
              <a:gd name="adj" fmla="val 5217"/>
            </a:avLst>
          </a:prstGeom>
          <a:solidFill>
            <a:schemeClr val="bg2"/>
          </a:solidFill>
          <a:ln w="12700">
            <a:solidFill>
              <a:schemeClr val="bg2"/>
            </a:solidFill>
            <a:prstDash val="solid"/>
          </a:ln>
        </p:spPr>
      </p:sp>
      <p:sp>
        <p:nvSpPr>
          <p:cNvPr id="9" name="icon-circle-FaUserCheck"/>
          <p:cNvSpPr/>
          <p:nvPr/>
        </p:nvSpPr>
        <p:spPr>
          <a:xfrm>
            <a:off x="6510528" y="1874520"/>
            <a:ext cx="731520" cy="731520"/>
          </a:xfrm>
          <a:prstGeom prst="ellipse">
            <a:avLst/>
          </a:prstGeom>
          <a:solidFill>
            <a:srgbClr val="DC2626"/>
          </a:solidFill>
          <a:ln w="12700">
            <a:solidFill>
              <a:srgbClr val="DC2626"/>
            </a:solidFill>
            <a:prstDash val="solid"/>
          </a:ln>
        </p:spPr>
      </p:sp>
      <p:pic>
        <p:nvPicPr>
          <p:cNvPr id="10" name="Image 1" descr="UserCheck icon">    </p:cNvPr>
          <p:cNvPicPr>
            <a:picLocks noChangeAspect="1"/>
          </p:cNvPicPr>
          <p:nvPr/>
        </p:nvPicPr>
        <p:blipFill>
          <a:blip r:embed="rId2"/>
          <a:stretch>
            <a:fillRect/>
          </a:stretch>
        </p:blipFill>
        <p:spPr>
          <a:xfrm>
            <a:off x="6700723" y="2064715"/>
            <a:ext cx="351130" cy="351130"/>
          </a:xfrm>
          <a:prstGeom prst="rect">
            <a:avLst/>
          </a:prstGeom>
        </p:spPr>
      </p:pic>
      <p:sp>
        <p:nvSpPr>
          <p:cNvPr id="11" name="Text 7"/>
          <p:cNvSpPr txBox="1"/>
          <p:nvPr/>
        </p:nvSpPr>
        <p:spPr>
          <a:xfrm>
            <a:off x="7470648" y="1874520"/>
            <a:ext cx="3931920" cy="411480"/>
          </a:xfrm>
          <a:prstGeom prst="rect">
            <a:avLst/>
          </a:prstGeom>
          <a:noFill/>
          <a:ln/>
        </p:spPr>
        <p:txBody>
          <a:bodyPr wrap="square" lIns="0" tIns="0" rIns="0" bIns="0" rtlCol="0" anchor="ctr"/>
          <a:lstStyle/>
          <a:p>
            <a:pPr indent="0" marL="0">
              <a:buNone/>
            </a:pPr>
            <a:r>
              <a:rPr lang="en-US" sz="2200" b="1" dirty="0">
                <a:solidFill>
                  <a:schemeClr val="tx1"/>
                </a:solidFill>
              </a:rPr>
              <a:t>No confirmation</a:t>
            </a:r>
            <a:endParaRPr lang="en-US" sz="2200" dirty="0"/>
          </a:p>
        </p:txBody>
      </p:sp>
      <p:sp>
        <p:nvSpPr>
          <p:cNvPr id="12" name="Text 8"/>
          <p:cNvSpPr txBox="1"/>
          <p:nvPr/>
        </p:nvSpPr>
        <p:spPr>
          <a:xfrm>
            <a:off x="7470648" y="2377440"/>
            <a:ext cx="3931920" cy="914400"/>
          </a:xfrm>
          <a:prstGeom prst="rect">
            <a:avLst/>
          </a:prstGeom>
          <a:noFill/>
          <a:ln/>
        </p:spPr>
        <p:txBody>
          <a:bodyPr wrap="square" lIns="0" tIns="0" rIns="0" bIns="0" rtlCol="0" anchor="t"/>
          <a:lstStyle/>
          <a:p>
            <a:pPr indent="0" marL="0">
              <a:buNone/>
            </a:pPr>
            <a:r>
              <a:rPr lang="en-US" sz="1600" dirty="0">
                <a:solidFill>
                  <a:schemeClr val="accent5"/>
                </a:solidFill>
              </a:rPr>
              <a:t>The recipient never confirms they accepted this exact list.</a:t>
            </a:r>
            <a:endParaRPr lang="en-US" sz="1600" dirty="0"/>
          </a:p>
        </p:txBody>
      </p:sp>
      <p:sp>
        <p:nvSpPr>
          <p:cNvPr id="13" name="problem-card-3"/>
          <p:cNvSpPr/>
          <p:nvPr/>
        </p:nvSpPr>
        <p:spPr>
          <a:xfrm>
            <a:off x="548640" y="3840480"/>
            <a:ext cx="5449824" cy="2103120"/>
          </a:xfrm>
          <a:prstGeom prst="roundRect">
            <a:avLst>
              <a:gd name="adj" fmla="val 5217"/>
            </a:avLst>
          </a:prstGeom>
          <a:solidFill>
            <a:schemeClr val="bg2"/>
          </a:solidFill>
          <a:ln w="12700">
            <a:solidFill>
              <a:schemeClr val="bg2"/>
            </a:solidFill>
            <a:prstDash val="solid"/>
          </a:ln>
        </p:spPr>
      </p:sp>
      <p:sp>
        <p:nvSpPr>
          <p:cNvPr id="14" name="icon-circle-FaUndoAlt"/>
          <p:cNvSpPr/>
          <p:nvPr/>
        </p:nvSpPr>
        <p:spPr>
          <a:xfrm>
            <a:off x="868680" y="4206240"/>
            <a:ext cx="731520" cy="731520"/>
          </a:xfrm>
          <a:prstGeom prst="ellipse">
            <a:avLst/>
          </a:prstGeom>
          <a:solidFill>
            <a:srgbClr val="DC2626"/>
          </a:solidFill>
          <a:ln w="12700">
            <a:solidFill>
              <a:srgbClr val="DC2626"/>
            </a:solidFill>
            <a:prstDash val="solid"/>
          </a:ln>
        </p:spPr>
      </p:sp>
      <p:pic>
        <p:nvPicPr>
          <p:cNvPr id="15" name="Image 2" descr="UndoAlt icon">    </p:cNvPr>
          <p:cNvPicPr>
            <a:picLocks noChangeAspect="1"/>
          </p:cNvPicPr>
          <p:nvPr/>
        </p:nvPicPr>
        <p:blipFill>
          <a:blip r:embed="rId3"/>
          <a:stretch>
            <a:fillRect/>
          </a:stretch>
        </p:blipFill>
        <p:spPr>
          <a:xfrm>
            <a:off x="1058875" y="4396435"/>
            <a:ext cx="351130" cy="351130"/>
          </a:xfrm>
          <a:prstGeom prst="rect">
            <a:avLst/>
          </a:prstGeom>
        </p:spPr>
      </p:pic>
      <p:sp>
        <p:nvSpPr>
          <p:cNvPr id="16" name="Text 11"/>
          <p:cNvSpPr txBox="1"/>
          <p:nvPr/>
        </p:nvSpPr>
        <p:spPr>
          <a:xfrm>
            <a:off x="1828800" y="4206240"/>
            <a:ext cx="3931920" cy="411480"/>
          </a:xfrm>
          <a:prstGeom prst="rect">
            <a:avLst/>
          </a:prstGeom>
          <a:noFill/>
          <a:ln/>
        </p:spPr>
        <p:txBody>
          <a:bodyPr wrap="square" lIns="0" tIns="0" rIns="0" bIns="0" rtlCol="0" anchor="ctr"/>
          <a:lstStyle/>
          <a:p>
            <a:pPr indent="0" marL="0">
              <a:buNone/>
            </a:pPr>
            <a:r>
              <a:rPr lang="en-US" sz="2200" b="1" dirty="0">
                <a:solidFill>
                  <a:schemeClr val="tx1"/>
                </a:solidFill>
              </a:rPr>
              <a:t>History is overwritten</a:t>
            </a:r>
            <a:endParaRPr lang="en-US" sz="2200" dirty="0"/>
          </a:p>
        </p:txBody>
      </p:sp>
      <p:sp>
        <p:nvSpPr>
          <p:cNvPr id="17" name="Text 12"/>
          <p:cNvSpPr txBox="1"/>
          <p:nvPr/>
        </p:nvSpPr>
        <p:spPr>
          <a:xfrm>
            <a:off x="1828800" y="4709160"/>
            <a:ext cx="3931920" cy="914400"/>
          </a:xfrm>
          <a:prstGeom prst="rect">
            <a:avLst/>
          </a:prstGeom>
          <a:noFill/>
          <a:ln/>
        </p:spPr>
        <p:txBody>
          <a:bodyPr wrap="square" lIns="0" tIns="0" rIns="0" bIns="0" rtlCol="0" anchor="t"/>
          <a:lstStyle/>
          <a:p>
            <a:pPr indent="0" marL="0">
              <a:buNone/>
            </a:pPr>
            <a:r>
              <a:rPr lang="en-US" sz="1600" dirty="0">
                <a:solidFill>
                  <a:schemeClr val="accent5"/>
                </a:solidFill>
              </a:rPr>
              <a:t>Items come back in parts and the original quantity is lost.</a:t>
            </a:r>
            <a:endParaRPr lang="en-US" sz="1600" dirty="0"/>
          </a:p>
        </p:txBody>
      </p:sp>
      <p:sp>
        <p:nvSpPr>
          <p:cNvPr id="18" name="problem-card-4"/>
          <p:cNvSpPr/>
          <p:nvPr/>
        </p:nvSpPr>
        <p:spPr>
          <a:xfrm>
            <a:off x="6190488" y="3840480"/>
            <a:ext cx="5449824" cy="2103120"/>
          </a:xfrm>
          <a:prstGeom prst="roundRect">
            <a:avLst>
              <a:gd name="adj" fmla="val 5217"/>
            </a:avLst>
          </a:prstGeom>
          <a:solidFill>
            <a:schemeClr val="bg2"/>
          </a:solidFill>
          <a:ln w="12700">
            <a:solidFill>
              <a:schemeClr val="bg2"/>
            </a:solidFill>
            <a:prstDash val="solid"/>
          </a:ln>
        </p:spPr>
      </p:sp>
      <p:sp>
        <p:nvSpPr>
          <p:cNvPr id="19" name="icon-circle-FaQuestionCircle"/>
          <p:cNvSpPr/>
          <p:nvPr/>
        </p:nvSpPr>
        <p:spPr>
          <a:xfrm>
            <a:off x="6510528" y="4206240"/>
            <a:ext cx="731520" cy="731520"/>
          </a:xfrm>
          <a:prstGeom prst="ellipse">
            <a:avLst/>
          </a:prstGeom>
          <a:solidFill>
            <a:srgbClr val="DC2626"/>
          </a:solidFill>
          <a:ln w="12700">
            <a:solidFill>
              <a:srgbClr val="DC2626"/>
            </a:solidFill>
            <a:prstDash val="solid"/>
          </a:ln>
        </p:spPr>
      </p:sp>
      <p:pic>
        <p:nvPicPr>
          <p:cNvPr id="20" name="Image 3" descr="QuestionCircle icon">    </p:cNvPr>
          <p:cNvPicPr>
            <a:picLocks noChangeAspect="1"/>
          </p:cNvPicPr>
          <p:nvPr/>
        </p:nvPicPr>
        <p:blipFill>
          <a:blip r:embed="rId4"/>
          <a:stretch>
            <a:fillRect/>
          </a:stretch>
        </p:blipFill>
        <p:spPr>
          <a:xfrm>
            <a:off x="6700723" y="4396435"/>
            <a:ext cx="351130" cy="351130"/>
          </a:xfrm>
          <a:prstGeom prst="rect">
            <a:avLst/>
          </a:prstGeom>
        </p:spPr>
      </p:pic>
      <p:sp>
        <p:nvSpPr>
          <p:cNvPr id="21" name="Text 15"/>
          <p:cNvSpPr txBox="1"/>
          <p:nvPr/>
        </p:nvSpPr>
        <p:spPr>
          <a:xfrm>
            <a:off x="7470648" y="4206240"/>
            <a:ext cx="3931920" cy="411480"/>
          </a:xfrm>
          <a:prstGeom prst="rect">
            <a:avLst/>
          </a:prstGeom>
          <a:noFill/>
          <a:ln/>
        </p:spPr>
        <p:txBody>
          <a:bodyPr wrap="square" lIns="0" tIns="0" rIns="0" bIns="0" rtlCol="0" anchor="ctr"/>
          <a:lstStyle/>
          <a:p>
            <a:pPr indent="0" marL="0">
              <a:buNone/>
            </a:pPr>
            <a:r>
              <a:rPr lang="en-US" sz="2200" b="1" dirty="0">
                <a:solidFill>
                  <a:schemeClr val="tx1"/>
                </a:solidFill>
              </a:rPr>
              <a:t>Missing items are argued</a:t>
            </a:r>
            <a:endParaRPr lang="en-US" sz="2200" dirty="0"/>
          </a:p>
        </p:txBody>
      </p:sp>
      <p:sp>
        <p:nvSpPr>
          <p:cNvPr id="22" name="Text 16"/>
          <p:cNvSpPr txBox="1"/>
          <p:nvPr/>
        </p:nvSpPr>
        <p:spPr>
          <a:xfrm>
            <a:off x="7470648" y="4709160"/>
            <a:ext cx="3931920" cy="914400"/>
          </a:xfrm>
          <a:prstGeom prst="rect">
            <a:avLst/>
          </a:prstGeom>
          <a:noFill/>
          <a:ln/>
        </p:spPr>
        <p:txBody>
          <a:bodyPr wrap="square" lIns="0" tIns="0" rIns="0" bIns="0" rtlCol="0" anchor="t"/>
          <a:lstStyle/>
          <a:p>
            <a:pPr indent="0" marL="0">
              <a:buNone/>
            </a:pPr>
            <a:r>
              <a:rPr lang="en-US" sz="1600" dirty="0">
                <a:solidFill>
                  <a:schemeClr val="accent5"/>
                </a:solidFill>
              </a:rPr>
              <a:t>Nobody can say what is still outstanding, so it is settled by memory.</a:t>
            </a:r>
            <a:endParaRPr lang="en-US" sz="1600" dirty="0"/>
          </a:p>
        </p:txBody>
      </p:sp>
      <p:sp>
        <p:nvSpPr>
          <p:cNvPr id="25" name="Slide Number Placeholder 0"/>
          <p:cNvSpPr>
            <a:spLocks noGrp="1"/>
          </p:cNvSpPr>
          <p:nvPr>
            <p:ph type="sldNum" sz="quarter" idx="4294967295"/>
          </p:nvPr>
        </p:nvSpPr>
        <p:spPr>
          <a:xfrm>
            <a:off x="11045952"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A record of every handoff, not an inventory</a:t>
            </a:r>
            <a:endParaRPr lang="en-US" sz="3200" dirty="0"/>
          </a:p>
        </p:txBody>
      </p:sp>
      <p:sp>
        <p:nvSpPr>
          <p:cNvPr id="3" name="is-card"/>
          <p:cNvSpPr/>
          <p:nvPr/>
        </p:nvSpPr>
        <p:spPr>
          <a:xfrm>
            <a:off x="548640" y="1508760"/>
            <a:ext cx="5449824" cy="4480560"/>
          </a:xfrm>
          <a:prstGeom prst="roundRect">
            <a:avLst>
              <a:gd name="adj" fmla="val 2449"/>
            </a:avLst>
          </a:prstGeom>
          <a:solidFill>
            <a:schemeClr val="bg2"/>
          </a:solidFill>
          <a:ln w="12700">
            <a:solidFill>
              <a:schemeClr val="bg2"/>
            </a:solidFill>
            <a:prstDash val="solid"/>
          </a:ln>
        </p:spPr>
      </p:sp>
      <p:sp>
        <p:nvSpPr>
          <p:cNvPr id="4" name="is-header"/>
          <p:cNvSpPr/>
          <p:nvPr/>
        </p:nvSpPr>
        <p:spPr>
          <a:xfrm>
            <a:off x="548640" y="1508760"/>
            <a:ext cx="5449824" cy="777240"/>
          </a:xfrm>
          <a:prstGeom prst="roundRect">
            <a:avLst>
              <a:gd name="adj" fmla="val 14118"/>
            </a:avLst>
          </a:prstGeom>
          <a:solidFill>
            <a:schemeClr val="accent1"/>
          </a:solidFill>
          <a:ln w="12700">
            <a:solidFill>
              <a:schemeClr val="accent1"/>
            </a:solidFill>
            <a:prstDash val="solid"/>
          </a:ln>
        </p:spPr>
      </p:sp>
      <p:sp>
        <p:nvSpPr>
          <p:cNvPr id="5" name="Text 3"/>
          <p:cNvSpPr txBox="1"/>
          <p:nvPr/>
        </p:nvSpPr>
        <p:spPr>
          <a:xfrm>
            <a:off x="868680" y="1508760"/>
            <a:ext cx="4754880" cy="777240"/>
          </a:xfrm>
          <a:prstGeom prst="rect">
            <a:avLst/>
          </a:prstGeom>
          <a:noFill/>
          <a:ln/>
        </p:spPr>
        <p:txBody>
          <a:bodyPr wrap="square" lIns="0" tIns="0" rIns="0" bIns="0" rtlCol="0" anchor="ctr"/>
          <a:lstStyle/>
          <a:p>
            <a:pPr indent="0" marL="0">
              <a:buNone/>
            </a:pPr>
            <a:r>
              <a:rPr lang="en-US" sz="2400" b="1" dirty="0">
                <a:solidFill>
                  <a:schemeClr val="bg1"/>
                </a:solidFill>
              </a:rPr>
              <a:t>HandOffly is</a:t>
            </a:r>
            <a:endParaRPr lang="en-US" sz="2400" dirty="0"/>
          </a:p>
        </p:txBody>
      </p:sp>
      <p:sp>
        <p:nvSpPr>
          <p:cNvPr id="6" name="icon-circle-FaCheck"/>
          <p:cNvSpPr/>
          <p:nvPr/>
        </p:nvSpPr>
        <p:spPr>
          <a:xfrm>
            <a:off x="868680" y="2606040"/>
            <a:ext cx="457200" cy="457200"/>
          </a:xfrm>
          <a:prstGeom prst="ellipse">
            <a:avLst/>
          </a:prstGeom>
          <a:solidFill>
            <a:srgbClr val="0E9F8E"/>
          </a:solidFill>
          <a:ln w="12700">
            <a:solidFill>
              <a:srgbClr val="0E9F8E"/>
            </a:solidFill>
            <a:prstDash val="solid"/>
          </a:ln>
        </p:spPr>
      </p:sp>
      <p:pic>
        <p:nvPicPr>
          <p:cNvPr id="7" name="Image 0" descr="Check icon">    </p:cNvPr>
          <p:cNvPicPr>
            <a:picLocks noChangeAspect="1"/>
          </p:cNvPicPr>
          <p:nvPr/>
        </p:nvPicPr>
        <p:blipFill>
          <a:blip r:embed="rId1"/>
          <a:stretch>
            <a:fillRect/>
          </a:stretch>
        </p:blipFill>
        <p:spPr>
          <a:xfrm>
            <a:off x="987552" y="2724912"/>
            <a:ext cx="219456" cy="219456"/>
          </a:xfrm>
          <a:prstGeom prst="rect">
            <a:avLst/>
          </a:prstGeom>
        </p:spPr>
      </p:pic>
      <p:sp>
        <p:nvSpPr>
          <p:cNvPr id="8" name="Text 5"/>
          <p:cNvSpPr txBox="1"/>
          <p:nvPr/>
        </p:nvSpPr>
        <p:spPr>
          <a:xfrm>
            <a:off x="1508760" y="2606040"/>
            <a:ext cx="4297680" cy="457200"/>
          </a:xfrm>
          <a:prstGeom prst="rect">
            <a:avLst/>
          </a:prstGeom>
          <a:noFill/>
          <a:ln/>
        </p:spPr>
        <p:txBody>
          <a:bodyPr wrap="square" lIns="0" tIns="0" rIns="0" bIns="0" rtlCol="0" anchor="ctr"/>
          <a:lstStyle/>
          <a:p>
            <a:pPr indent="0" marL="0">
              <a:buNone/>
            </a:pPr>
            <a:r>
              <a:rPr lang="en-US" sz="1700" dirty="0">
                <a:solidFill>
                  <a:schemeClr val="tx1"/>
                </a:solidFill>
              </a:rPr>
              <a:t>One living record for each handoff</a:t>
            </a:r>
            <a:endParaRPr lang="en-US" sz="1700" dirty="0"/>
          </a:p>
        </p:txBody>
      </p:sp>
      <p:sp>
        <p:nvSpPr>
          <p:cNvPr id="9" name="icon-circle-FaCheck"/>
          <p:cNvSpPr/>
          <p:nvPr/>
        </p:nvSpPr>
        <p:spPr>
          <a:xfrm>
            <a:off x="868680" y="3429000"/>
            <a:ext cx="457200" cy="457200"/>
          </a:xfrm>
          <a:prstGeom prst="ellipse">
            <a:avLst/>
          </a:prstGeom>
          <a:solidFill>
            <a:srgbClr val="0E9F8E"/>
          </a:solidFill>
          <a:ln w="12700">
            <a:solidFill>
              <a:srgbClr val="0E9F8E"/>
            </a:solidFill>
            <a:prstDash val="solid"/>
          </a:ln>
        </p:spPr>
      </p:sp>
      <p:pic>
        <p:nvPicPr>
          <p:cNvPr id="10" name="Image 1" descr="Check icon">    </p:cNvPr>
          <p:cNvPicPr>
            <a:picLocks noChangeAspect="1"/>
          </p:cNvPicPr>
          <p:nvPr/>
        </p:nvPicPr>
        <p:blipFill>
          <a:blip r:embed="rId2"/>
          <a:stretch>
            <a:fillRect/>
          </a:stretch>
        </p:blipFill>
        <p:spPr>
          <a:xfrm>
            <a:off x="987552" y="3547872"/>
            <a:ext cx="219456" cy="219456"/>
          </a:xfrm>
          <a:prstGeom prst="rect">
            <a:avLst/>
          </a:prstGeom>
        </p:spPr>
      </p:pic>
      <p:sp>
        <p:nvSpPr>
          <p:cNvPr id="11" name="Text 7"/>
          <p:cNvSpPr txBox="1"/>
          <p:nvPr/>
        </p:nvSpPr>
        <p:spPr>
          <a:xfrm>
            <a:off x="1508760" y="3429000"/>
            <a:ext cx="4297680" cy="457200"/>
          </a:xfrm>
          <a:prstGeom prst="rect">
            <a:avLst/>
          </a:prstGeom>
          <a:noFill/>
          <a:ln/>
        </p:spPr>
        <p:txBody>
          <a:bodyPr wrap="square" lIns="0" tIns="0" rIns="0" bIns="0" rtlCol="0" anchor="ctr"/>
          <a:lstStyle/>
          <a:p>
            <a:pPr indent="0" marL="0">
              <a:buNone/>
            </a:pPr>
            <a:r>
              <a:rPr lang="en-US" sz="1700" dirty="0">
                <a:solidFill>
                  <a:schemeClr val="tx1"/>
                </a:solidFill>
              </a:rPr>
              <a:t>A typed acknowledgement from the recipient</a:t>
            </a:r>
            <a:endParaRPr lang="en-US" sz="1700" dirty="0"/>
          </a:p>
        </p:txBody>
      </p:sp>
      <p:sp>
        <p:nvSpPr>
          <p:cNvPr id="12" name="icon-circle-FaCheck"/>
          <p:cNvSpPr/>
          <p:nvPr/>
        </p:nvSpPr>
        <p:spPr>
          <a:xfrm>
            <a:off x="868680" y="4251960"/>
            <a:ext cx="457200" cy="457200"/>
          </a:xfrm>
          <a:prstGeom prst="ellipse">
            <a:avLst/>
          </a:prstGeom>
          <a:solidFill>
            <a:srgbClr val="0E9F8E"/>
          </a:solidFill>
          <a:ln w="12700">
            <a:solidFill>
              <a:srgbClr val="0E9F8E"/>
            </a:solidFill>
            <a:prstDash val="solid"/>
          </a:ln>
        </p:spPr>
      </p:sp>
      <p:pic>
        <p:nvPicPr>
          <p:cNvPr id="13" name="Image 2" descr="Check icon">    </p:cNvPr>
          <p:cNvPicPr>
            <a:picLocks noChangeAspect="1"/>
          </p:cNvPicPr>
          <p:nvPr/>
        </p:nvPicPr>
        <p:blipFill>
          <a:blip r:embed="rId3"/>
          <a:stretch>
            <a:fillRect/>
          </a:stretch>
        </p:blipFill>
        <p:spPr>
          <a:xfrm>
            <a:off x="987552" y="4370832"/>
            <a:ext cx="219456" cy="219456"/>
          </a:xfrm>
          <a:prstGeom prst="rect">
            <a:avLst/>
          </a:prstGeom>
        </p:spPr>
      </p:pic>
      <p:sp>
        <p:nvSpPr>
          <p:cNvPr id="14" name="Text 9"/>
          <p:cNvSpPr txBox="1"/>
          <p:nvPr/>
        </p:nvSpPr>
        <p:spPr>
          <a:xfrm>
            <a:off x="1508760" y="4251960"/>
            <a:ext cx="4297680" cy="457200"/>
          </a:xfrm>
          <a:prstGeom prst="rect">
            <a:avLst/>
          </a:prstGeom>
          <a:noFill/>
          <a:ln/>
        </p:spPr>
        <p:txBody>
          <a:bodyPr wrap="square" lIns="0" tIns="0" rIns="0" bIns="0" rtlCol="0" anchor="ctr"/>
          <a:lstStyle/>
          <a:p>
            <a:pPr indent="0" marL="0">
              <a:buNone/>
            </a:pPr>
            <a:r>
              <a:rPr lang="en-US" sz="1700" dirty="0">
                <a:solidFill>
                  <a:schemeClr val="tx1"/>
                </a:solidFill>
              </a:rPr>
              <a:t>Partial and multiple returns on the same record</a:t>
            </a:r>
            <a:endParaRPr lang="en-US" sz="1700" dirty="0"/>
          </a:p>
        </p:txBody>
      </p:sp>
      <p:sp>
        <p:nvSpPr>
          <p:cNvPr id="15" name="icon-circle-FaCheck"/>
          <p:cNvSpPr/>
          <p:nvPr/>
        </p:nvSpPr>
        <p:spPr>
          <a:xfrm>
            <a:off x="868680" y="5074920"/>
            <a:ext cx="457200" cy="457200"/>
          </a:xfrm>
          <a:prstGeom prst="ellipse">
            <a:avLst/>
          </a:prstGeom>
          <a:solidFill>
            <a:srgbClr val="0E9F8E"/>
          </a:solidFill>
          <a:ln w="12700">
            <a:solidFill>
              <a:srgbClr val="0E9F8E"/>
            </a:solidFill>
            <a:prstDash val="solid"/>
          </a:ln>
        </p:spPr>
      </p:sp>
      <p:pic>
        <p:nvPicPr>
          <p:cNvPr id="16" name="Image 3" descr="Check icon">    </p:cNvPr>
          <p:cNvPicPr>
            <a:picLocks noChangeAspect="1"/>
          </p:cNvPicPr>
          <p:nvPr/>
        </p:nvPicPr>
        <p:blipFill>
          <a:blip r:embed="rId4"/>
          <a:stretch>
            <a:fillRect/>
          </a:stretch>
        </p:blipFill>
        <p:spPr>
          <a:xfrm>
            <a:off x="987552" y="5193792"/>
            <a:ext cx="219456" cy="219456"/>
          </a:xfrm>
          <a:prstGeom prst="rect">
            <a:avLst/>
          </a:prstGeom>
        </p:spPr>
      </p:pic>
      <p:sp>
        <p:nvSpPr>
          <p:cNvPr id="17" name="Text 11"/>
          <p:cNvSpPr txBox="1"/>
          <p:nvPr/>
        </p:nvSpPr>
        <p:spPr>
          <a:xfrm>
            <a:off x="1508760" y="5074920"/>
            <a:ext cx="4297680" cy="457200"/>
          </a:xfrm>
          <a:prstGeom prst="rect">
            <a:avLst/>
          </a:prstGeom>
          <a:noFill/>
          <a:ln/>
        </p:spPr>
        <p:txBody>
          <a:bodyPr wrap="square" lIns="0" tIns="0" rIns="0" bIns="0" rtlCol="0" anchor="ctr"/>
          <a:lstStyle/>
          <a:p>
            <a:pPr indent="0" marL="0">
              <a:buNone/>
            </a:pPr>
            <a:r>
              <a:rPr lang="en-US" sz="1700" dirty="0">
                <a:solidFill>
                  <a:schemeClr val="tx1"/>
                </a:solidFill>
              </a:rPr>
              <a:t>An audit trail that is never edited</a:t>
            </a:r>
            <a:endParaRPr lang="en-US" sz="1700" dirty="0"/>
          </a:p>
        </p:txBody>
      </p:sp>
      <p:sp>
        <p:nvSpPr>
          <p:cNvPr id="18" name="not-card"/>
          <p:cNvSpPr/>
          <p:nvPr/>
        </p:nvSpPr>
        <p:spPr>
          <a:xfrm>
            <a:off x="6190488" y="1508760"/>
            <a:ext cx="5449824" cy="4480560"/>
          </a:xfrm>
          <a:prstGeom prst="roundRect">
            <a:avLst>
              <a:gd name="adj" fmla="val 2449"/>
            </a:avLst>
          </a:prstGeom>
          <a:solidFill>
            <a:schemeClr val="bg2"/>
          </a:solidFill>
          <a:ln w="12700">
            <a:solidFill>
              <a:schemeClr val="bg2"/>
            </a:solidFill>
            <a:prstDash val="solid"/>
          </a:ln>
        </p:spPr>
      </p:sp>
      <p:sp>
        <p:nvSpPr>
          <p:cNvPr id="19" name="not-header"/>
          <p:cNvSpPr/>
          <p:nvPr/>
        </p:nvSpPr>
        <p:spPr>
          <a:xfrm>
            <a:off x="6190488" y="1508760"/>
            <a:ext cx="5449824" cy="777240"/>
          </a:xfrm>
          <a:prstGeom prst="roundRect">
            <a:avLst>
              <a:gd name="adj" fmla="val 14118"/>
            </a:avLst>
          </a:prstGeom>
          <a:solidFill>
            <a:schemeClr val="accent5"/>
          </a:solidFill>
          <a:ln w="12700">
            <a:solidFill>
              <a:schemeClr val="accent5"/>
            </a:solidFill>
            <a:prstDash val="solid"/>
          </a:ln>
        </p:spPr>
      </p:sp>
      <p:sp>
        <p:nvSpPr>
          <p:cNvPr id="20" name="Text 14"/>
          <p:cNvSpPr txBox="1"/>
          <p:nvPr/>
        </p:nvSpPr>
        <p:spPr>
          <a:xfrm>
            <a:off x="6510528" y="1508760"/>
            <a:ext cx="4754880" cy="777240"/>
          </a:xfrm>
          <a:prstGeom prst="rect">
            <a:avLst/>
          </a:prstGeom>
          <a:noFill/>
          <a:ln/>
        </p:spPr>
        <p:txBody>
          <a:bodyPr wrap="square" lIns="0" tIns="0" rIns="0" bIns="0" rtlCol="0" anchor="ctr"/>
          <a:lstStyle/>
          <a:p>
            <a:pPr indent="0" marL="0">
              <a:buNone/>
            </a:pPr>
            <a:r>
              <a:rPr lang="en-US" sz="2400" b="1" dirty="0">
                <a:solidFill>
                  <a:schemeClr val="bg1"/>
                </a:solidFill>
              </a:rPr>
              <a:t>HandOffly is not</a:t>
            </a:r>
            <a:endParaRPr lang="en-US" sz="2400" dirty="0"/>
          </a:p>
        </p:txBody>
      </p:sp>
      <p:sp>
        <p:nvSpPr>
          <p:cNvPr id="21" name="icon-circle-FaTimes"/>
          <p:cNvSpPr/>
          <p:nvPr/>
        </p:nvSpPr>
        <p:spPr>
          <a:xfrm>
            <a:off x="6510528" y="2606040"/>
            <a:ext cx="457200" cy="457200"/>
          </a:xfrm>
          <a:prstGeom prst="ellipse">
            <a:avLst/>
          </a:prstGeom>
          <a:solidFill>
            <a:srgbClr val="64748B"/>
          </a:solidFill>
          <a:ln w="12700">
            <a:solidFill>
              <a:srgbClr val="64748B"/>
            </a:solidFill>
            <a:prstDash val="solid"/>
          </a:ln>
        </p:spPr>
      </p:sp>
      <p:pic>
        <p:nvPicPr>
          <p:cNvPr id="22" name="Image 4" descr="Times icon">    </p:cNvPr>
          <p:cNvPicPr>
            <a:picLocks noChangeAspect="1"/>
          </p:cNvPicPr>
          <p:nvPr/>
        </p:nvPicPr>
        <p:blipFill>
          <a:blip r:embed="rId5"/>
          <a:stretch>
            <a:fillRect/>
          </a:stretch>
        </p:blipFill>
        <p:spPr>
          <a:xfrm>
            <a:off x="6629400" y="2724912"/>
            <a:ext cx="219456" cy="219456"/>
          </a:xfrm>
          <a:prstGeom prst="rect">
            <a:avLst/>
          </a:prstGeom>
        </p:spPr>
      </p:pic>
      <p:sp>
        <p:nvSpPr>
          <p:cNvPr id="23" name="Text 16"/>
          <p:cNvSpPr txBox="1"/>
          <p:nvPr/>
        </p:nvSpPr>
        <p:spPr>
          <a:xfrm>
            <a:off x="7150608" y="2606040"/>
            <a:ext cx="4297680" cy="457200"/>
          </a:xfrm>
          <a:prstGeom prst="rect">
            <a:avLst/>
          </a:prstGeom>
          <a:noFill/>
          <a:ln/>
        </p:spPr>
        <p:txBody>
          <a:bodyPr wrap="square" lIns="0" tIns="0" rIns="0" bIns="0" rtlCol="0" anchor="ctr"/>
          <a:lstStyle/>
          <a:p>
            <a:pPr indent="0" marL="0">
              <a:buNone/>
            </a:pPr>
            <a:r>
              <a:rPr lang="en-US" sz="1700" dirty="0">
                <a:solidFill>
                  <a:schemeClr val="tx1"/>
                </a:solidFill>
              </a:rPr>
              <a:t>A stock or warehouse system</a:t>
            </a:r>
            <a:endParaRPr lang="en-US" sz="1700" dirty="0"/>
          </a:p>
        </p:txBody>
      </p:sp>
      <p:sp>
        <p:nvSpPr>
          <p:cNvPr id="24" name="icon-circle-FaTimes"/>
          <p:cNvSpPr/>
          <p:nvPr/>
        </p:nvSpPr>
        <p:spPr>
          <a:xfrm>
            <a:off x="6510528" y="3429000"/>
            <a:ext cx="457200" cy="457200"/>
          </a:xfrm>
          <a:prstGeom prst="ellipse">
            <a:avLst/>
          </a:prstGeom>
          <a:solidFill>
            <a:srgbClr val="64748B"/>
          </a:solidFill>
          <a:ln w="12700">
            <a:solidFill>
              <a:srgbClr val="64748B"/>
            </a:solidFill>
            <a:prstDash val="solid"/>
          </a:ln>
        </p:spPr>
      </p:sp>
      <p:pic>
        <p:nvPicPr>
          <p:cNvPr id="25" name="Image 5" descr="Times icon">    </p:cNvPr>
          <p:cNvPicPr>
            <a:picLocks noChangeAspect="1"/>
          </p:cNvPicPr>
          <p:nvPr/>
        </p:nvPicPr>
        <p:blipFill>
          <a:blip r:embed="rId6"/>
          <a:stretch>
            <a:fillRect/>
          </a:stretch>
        </p:blipFill>
        <p:spPr>
          <a:xfrm>
            <a:off x="6629400" y="3547872"/>
            <a:ext cx="219456" cy="219456"/>
          </a:xfrm>
          <a:prstGeom prst="rect">
            <a:avLst/>
          </a:prstGeom>
        </p:spPr>
      </p:pic>
      <p:sp>
        <p:nvSpPr>
          <p:cNvPr id="26" name="Text 18"/>
          <p:cNvSpPr txBox="1"/>
          <p:nvPr/>
        </p:nvSpPr>
        <p:spPr>
          <a:xfrm>
            <a:off x="7150608" y="3429000"/>
            <a:ext cx="4297680" cy="457200"/>
          </a:xfrm>
          <a:prstGeom prst="rect">
            <a:avLst/>
          </a:prstGeom>
          <a:noFill/>
          <a:ln/>
        </p:spPr>
        <p:txBody>
          <a:bodyPr wrap="square" lIns="0" tIns="0" rIns="0" bIns="0" rtlCol="0" anchor="ctr"/>
          <a:lstStyle/>
          <a:p>
            <a:pPr indent="0" marL="0">
              <a:buNone/>
            </a:pPr>
            <a:r>
              <a:rPr lang="en-US" sz="1700" dirty="0">
                <a:solidFill>
                  <a:schemeClr val="tx1"/>
                </a:solidFill>
              </a:rPr>
              <a:t>A one-time document that is signed and forgotten</a:t>
            </a:r>
            <a:endParaRPr lang="en-US" sz="1700" dirty="0"/>
          </a:p>
        </p:txBody>
      </p:sp>
      <p:sp>
        <p:nvSpPr>
          <p:cNvPr id="27" name="icon-circle-FaTimes"/>
          <p:cNvSpPr/>
          <p:nvPr/>
        </p:nvSpPr>
        <p:spPr>
          <a:xfrm>
            <a:off x="6510528" y="4251960"/>
            <a:ext cx="457200" cy="457200"/>
          </a:xfrm>
          <a:prstGeom prst="ellipse">
            <a:avLst/>
          </a:prstGeom>
          <a:solidFill>
            <a:srgbClr val="64748B"/>
          </a:solidFill>
          <a:ln w="12700">
            <a:solidFill>
              <a:srgbClr val="64748B"/>
            </a:solidFill>
            <a:prstDash val="solid"/>
          </a:ln>
        </p:spPr>
      </p:sp>
      <p:pic>
        <p:nvPicPr>
          <p:cNvPr id="28" name="Image 6" descr="Times icon">    </p:cNvPr>
          <p:cNvPicPr>
            <a:picLocks noChangeAspect="1"/>
          </p:cNvPicPr>
          <p:nvPr/>
        </p:nvPicPr>
        <p:blipFill>
          <a:blip r:embed="rId7"/>
          <a:stretch>
            <a:fillRect/>
          </a:stretch>
        </p:blipFill>
        <p:spPr>
          <a:xfrm>
            <a:off x="6629400" y="4370832"/>
            <a:ext cx="219456" cy="219456"/>
          </a:xfrm>
          <a:prstGeom prst="rect">
            <a:avLst/>
          </a:prstGeom>
        </p:spPr>
      </p:pic>
      <p:sp>
        <p:nvSpPr>
          <p:cNvPr id="29" name="Text 20"/>
          <p:cNvSpPr txBox="1"/>
          <p:nvPr/>
        </p:nvSpPr>
        <p:spPr>
          <a:xfrm>
            <a:off x="7150608" y="4251960"/>
            <a:ext cx="4297680" cy="457200"/>
          </a:xfrm>
          <a:prstGeom prst="rect">
            <a:avLst/>
          </a:prstGeom>
          <a:noFill/>
          <a:ln/>
        </p:spPr>
        <p:txBody>
          <a:bodyPr wrap="square" lIns="0" tIns="0" rIns="0" bIns="0" rtlCol="0" anchor="ctr"/>
          <a:lstStyle/>
          <a:p>
            <a:pPr indent="0" marL="0">
              <a:buNone/>
            </a:pPr>
            <a:r>
              <a:rPr lang="en-US" sz="1700" dirty="0">
                <a:solidFill>
                  <a:schemeClr val="tx1"/>
                </a:solidFill>
              </a:rPr>
              <a:t>Built for one industry only</a:t>
            </a:r>
            <a:endParaRPr lang="en-US" sz="1700" dirty="0"/>
          </a:p>
        </p:txBody>
      </p:sp>
      <p:sp>
        <p:nvSpPr>
          <p:cNvPr id="30" name="icon-circle-FaTimes"/>
          <p:cNvSpPr/>
          <p:nvPr/>
        </p:nvSpPr>
        <p:spPr>
          <a:xfrm>
            <a:off x="6510528" y="5074920"/>
            <a:ext cx="457200" cy="457200"/>
          </a:xfrm>
          <a:prstGeom prst="ellipse">
            <a:avLst/>
          </a:prstGeom>
          <a:solidFill>
            <a:srgbClr val="64748B"/>
          </a:solidFill>
          <a:ln w="12700">
            <a:solidFill>
              <a:srgbClr val="64748B"/>
            </a:solidFill>
            <a:prstDash val="solid"/>
          </a:ln>
        </p:spPr>
      </p:sp>
      <p:pic>
        <p:nvPicPr>
          <p:cNvPr id="31" name="Image 7" descr="Times icon">    </p:cNvPr>
          <p:cNvPicPr>
            <a:picLocks noChangeAspect="1"/>
          </p:cNvPicPr>
          <p:nvPr/>
        </p:nvPicPr>
        <p:blipFill>
          <a:blip r:embed="rId8"/>
          <a:stretch>
            <a:fillRect/>
          </a:stretch>
        </p:blipFill>
        <p:spPr>
          <a:xfrm>
            <a:off x="6629400" y="5193792"/>
            <a:ext cx="219456" cy="219456"/>
          </a:xfrm>
          <a:prstGeom prst="rect">
            <a:avLst/>
          </a:prstGeom>
        </p:spPr>
      </p:pic>
      <p:sp>
        <p:nvSpPr>
          <p:cNvPr id="32" name="Text 22"/>
          <p:cNvSpPr txBox="1"/>
          <p:nvPr/>
        </p:nvSpPr>
        <p:spPr>
          <a:xfrm>
            <a:off x="7150608" y="5074920"/>
            <a:ext cx="4297680" cy="457200"/>
          </a:xfrm>
          <a:prstGeom prst="rect">
            <a:avLst/>
          </a:prstGeom>
          <a:noFill/>
          <a:ln/>
        </p:spPr>
        <p:txBody>
          <a:bodyPr wrap="square" lIns="0" tIns="0" rIns="0" bIns="0" rtlCol="0" anchor="ctr"/>
          <a:lstStyle/>
          <a:p>
            <a:pPr indent="0" marL="0">
              <a:buNone/>
            </a:pPr>
            <a:r>
              <a:rPr lang="en-US" sz="1700" dirty="0">
                <a:solidFill>
                  <a:schemeClr val="tx1"/>
                </a:solidFill>
              </a:rPr>
              <a:t>An accounting or billing system</a:t>
            </a:r>
            <a:endParaRPr lang="en-US" sz="1700" dirty="0"/>
          </a:p>
        </p:txBody>
      </p:sp>
      <p:sp>
        <p:nvSpPr>
          <p:cNvPr id="25" name="Slide Number Placeholder 0"/>
          <p:cNvSpPr>
            <a:spLocks noGrp="1"/>
          </p:cNvSpPr>
          <p:nvPr>
            <p:ph type="sldNum" sz="quarter" idx="4294967295"/>
          </p:nvPr>
        </p:nvSpPr>
        <p:spPr>
          <a:xfrm>
            <a:off x="11045952"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One record, from Give to Closed</a:t>
            </a:r>
            <a:endParaRPr lang="en-US" sz="3200" dirty="0"/>
          </a:p>
        </p:txBody>
      </p:sp>
      <p:sp>
        <p:nvSpPr>
          <p:cNvPr id="3" name="step-line-1"/>
          <p:cNvSpPr/>
          <p:nvPr/>
        </p:nvSpPr>
        <p:spPr>
          <a:xfrm>
            <a:off x="1280160" y="2194560"/>
            <a:ext cx="1117092" cy="0"/>
          </a:xfrm>
          <a:prstGeom prst="line">
            <a:avLst/>
          </a:prstGeom>
          <a:noFill/>
          <a:ln w="38100">
            <a:solidFill>
              <a:schemeClr val="accent6"/>
            </a:solidFill>
            <a:prstDash val="solid"/>
          </a:ln>
        </p:spPr>
      </p:sp>
      <p:sp>
        <p:nvSpPr>
          <p:cNvPr id="4" name="step-circle-1"/>
          <p:cNvSpPr/>
          <p:nvPr/>
        </p:nvSpPr>
        <p:spPr>
          <a:xfrm>
            <a:off x="548640" y="1828800"/>
            <a:ext cx="731520" cy="731520"/>
          </a:xfrm>
          <a:prstGeom prst="ellipse">
            <a:avLst/>
          </a:prstGeom>
          <a:solidFill>
            <a:schemeClr val="accent1"/>
          </a:solidFill>
          <a:ln w="38100">
            <a:solidFill>
              <a:schemeClr val="bg1"/>
            </a:solidFill>
            <a:prstDash val="solid"/>
          </a:ln>
        </p:spPr>
      </p:sp>
      <p:sp>
        <p:nvSpPr>
          <p:cNvPr id="5" name="Text 3"/>
          <p:cNvSpPr txBox="1"/>
          <p:nvPr/>
        </p:nvSpPr>
        <p:spPr>
          <a:xfrm>
            <a:off x="548640" y="182880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6" name="Text 4"/>
          <p:cNvSpPr txBox="1"/>
          <p:nvPr/>
        </p:nvSpPr>
        <p:spPr>
          <a:xfrm>
            <a:off x="548640" y="2788920"/>
            <a:ext cx="1665732" cy="685800"/>
          </a:xfrm>
          <a:prstGeom prst="rect">
            <a:avLst/>
          </a:prstGeom>
          <a:noFill/>
          <a:ln/>
        </p:spPr>
        <p:txBody>
          <a:bodyPr wrap="square" lIns="0" tIns="0" rIns="0" bIns="0" rtlCol="0" anchor="t"/>
          <a:lstStyle/>
          <a:p>
            <a:pPr indent="0" marL="0">
              <a:buNone/>
            </a:pPr>
            <a:r>
              <a:rPr lang="en-US" sz="1800" b="1" dirty="0">
                <a:solidFill>
                  <a:schemeClr val="tx1"/>
                </a:solidFill>
              </a:rPr>
              <a:t>Give</a:t>
            </a:r>
            <a:endParaRPr lang="en-US" sz="1800" dirty="0"/>
          </a:p>
        </p:txBody>
      </p:sp>
      <p:sp>
        <p:nvSpPr>
          <p:cNvPr id="7" name="Text 5"/>
          <p:cNvSpPr txBox="1"/>
          <p:nvPr/>
        </p:nvSpPr>
        <p:spPr>
          <a:xfrm>
            <a:off x="548640" y="3520440"/>
            <a:ext cx="1620012" cy="1371600"/>
          </a:xfrm>
          <a:prstGeom prst="rect">
            <a:avLst/>
          </a:prstGeom>
          <a:noFill/>
          <a:ln/>
        </p:spPr>
        <p:txBody>
          <a:bodyPr wrap="square" lIns="0" tIns="0" rIns="0" bIns="0" rtlCol="0" anchor="t"/>
          <a:lstStyle/>
          <a:p>
            <a:pPr indent="0" marL="0">
              <a:buNone/>
            </a:pPr>
            <a:r>
              <a:rPr lang="en-US" sz="1400" dirty="0">
                <a:solidFill>
                  <a:schemeClr val="accent5"/>
                </a:solidFill>
              </a:rPr>
              <a:t>Add items and the recipient, then send a secure link.</a:t>
            </a:r>
            <a:endParaRPr lang="en-US" sz="1400" dirty="0"/>
          </a:p>
        </p:txBody>
      </p:sp>
      <p:sp>
        <p:nvSpPr>
          <p:cNvPr id="8" name="step-line-2"/>
          <p:cNvSpPr/>
          <p:nvPr/>
        </p:nvSpPr>
        <p:spPr>
          <a:xfrm>
            <a:off x="3128772" y="2194560"/>
            <a:ext cx="1117092" cy="0"/>
          </a:xfrm>
          <a:prstGeom prst="line">
            <a:avLst/>
          </a:prstGeom>
          <a:noFill/>
          <a:ln w="38100">
            <a:solidFill>
              <a:schemeClr val="accent6"/>
            </a:solidFill>
            <a:prstDash val="solid"/>
          </a:ln>
        </p:spPr>
      </p:sp>
      <p:sp>
        <p:nvSpPr>
          <p:cNvPr id="9" name="step-circle-2"/>
          <p:cNvSpPr/>
          <p:nvPr/>
        </p:nvSpPr>
        <p:spPr>
          <a:xfrm>
            <a:off x="2397252" y="1828800"/>
            <a:ext cx="731520" cy="731520"/>
          </a:xfrm>
          <a:prstGeom prst="ellipse">
            <a:avLst/>
          </a:prstGeom>
          <a:solidFill>
            <a:schemeClr val="accent1"/>
          </a:solidFill>
          <a:ln w="38100">
            <a:solidFill>
              <a:schemeClr val="bg1"/>
            </a:solidFill>
            <a:prstDash val="solid"/>
          </a:ln>
        </p:spPr>
      </p:sp>
      <p:sp>
        <p:nvSpPr>
          <p:cNvPr id="10" name="Text 8"/>
          <p:cNvSpPr txBox="1"/>
          <p:nvPr/>
        </p:nvSpPr>
        <p:spPr>
          <a:xfrm>
            <a:off x="2397252" y="182880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1" name="Text 9"/>
          <p:cNvSpPr txBox="1"/>
          <p:nvPr/>
        </p:nvSpPr>
        <p:spPr>
          <a:xfrm>
            <a:off x="2397252" y="2788920"/>
            <a:ext cx="1665732" cy="685800"/>
          </a:xfrm>
          <a:prstGeom prst="rect">
            <a:avLst/>
          </a:prstGeom>
          <a:noFill/>
          <a:ln/>
        </p:spPr>
        <p:txBody>
          <a:bodyPr wrap="square" lIns="0" tIns="0" rIns="0" bIns="0" rtlCol="0" anchor="t"/>
          <a:lstStyle/>
          <a:p>
            <a:pPr indent="0" marL="0">
              <a:buNone/>
            </a:pPr>
            <a:r>
              <a:rPr lang="en-US" sz="1800" b="1" dirty="0">
                <a:solidFill>
                  <a:schemeClr val="tx1"/>
                </a:solidFill>
              </a:rPr>
              <a:t>Acknowledge</a:t>
            </a:r>
            <a:endParaRPr lang="en-US" sz="1800" dirty="0"/>
          </a:p>
        </p:txBody>
      </p:sp>
      <p:sp>
        <p:nvSpPr>
          <p:cNvPr id="12" name="Text 10"/>
          <p:cNvSpPr txBox="1"/>
          <p:nvPr/>
        </p:nvSpPr>
        <p:spPr>
          <a:xfrm>
            <a:off x="2397252" y="3520440"/>
            <a:ext cx="1620012" cy="1371600"/>
          </a:xfrm>
          <a:prstGeom prst="rect">
            <a:avLst/>
          </a:prstGeom>
          <a:noFill/>
          <a:ln/>
        </p:spPr>
        <p:txBody>
          <a:bodyPr wrap="square" lIns="0" tIns="0" rIns="0" bIns="0" rtlCol="0" anchor="t"/>
          <a:lstStyle/>
          <a:p>
            <a:pPr indent="0" marL="0">
              <a:buNone/>
            </a:pPr>
            <a:r>
              <a:rPr lang="en-US" sz="1400" dirty="0">
                <a:solidFill>
                  <a:schemeClr val="accent5"/>
                </a:solidFill>
              </a:rPr>
              <a:t>The recipient accepts with a typed acknowledgement.</a:t>
            </a:r>
            <a:endParaRPr lang="en-US" sz="1400" dirty="0"/>
          </a:p>
        </p:txBody>
      </p:sp>
      <p:sp>
        <p:nvSpPr>
          <p:cNvPr id="13" name="step-line-3"/>
          <p:cNvSpPr/>
          <p:nvPr/>
        </p:nvSpPr>
        <p:spPr>
          <a:xfrm>
            <a:off x="4977384" y="2194560"/>
            <a:ext cx="1117092" cy="0"/>
          </a:xfrm>
          <a:prstGeom prst="line">
            <a:avLst/>
          </a:prstGeom>
          <a:noFill/>
          <a:ln w="38100">
            <a:solidFill>
              <a:schemeClr val="accent6"/>
            </a:solidFill>
            <a:prstDash val="solid"/>
          </a:ln>
        </p:spPr>
      </p:sp>
      <p:sp>
        <p:nvSpPr>
          <p:cNvPr id="14" name="step-circle-3"/>
          <p:cNvSpPr/>
          <p:nvPr/>
        </p:nvSpPr>
        <p:spPr>
          <a:xfrm>
            <a:off x="4245864" y="1828800"/>
            <a:ext cx="731520" cy="731520"/>
          </a:xfrm>
          <a:prstGeom prst="ellipse">
            <a:avLst/>
          </a:prstGeom>
          <a:solidFill>
            <a:schemeClr val="accent1"/>
          </a:solidFill>
          <a:ln w="38100">
            <a:solidFill>
              <a:schemeClr val="bg1"/>
            </a:solidFill>
            <a:prstDash val="solid"/>
          </a:ln>
        </p:spPr>
      </p:sp>
      <p:sp>
        <p:nvSpPr>
          <p:cNvPr id="15" name="Text 13"/>
          <p:cNvSpPr txBox="1"/>
          <p:nvPr/>
        </p:nvSpPr>
        <p:spPr>
          <a:xfrm>
            <a:off x="4245864" y="182880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6" name="Text 14"/>
          <p:cNvSpPr txBox="1"/>
          <p:nvPr/>
        </p:nvSpPr>
        <p:spPr>
          <a:xfrm>
            <a:off x="4245864" y="2788920"/>
            <a:ext cx="1665732" cy="685800"/>
          </a:xfrm>
          <a:prstGeom prst="rect">
            <a:avLst/>
          </a:prstGeom>
          <a:noFill/>
          <a:ln/>
        </p:spPr>
        <p:txBody>
          <a:bodyPr wrap="square" lIns="0" tIns="0" rIns="0" bIns="0" rtlCol="0" anchor="t"/>
          <a:lstStyle/>
          <a:p>
            <a:pPr indent="0" marL="0">
              <a:buNone/>
            </a:pPr>
            <a:r>
              <a:rPr lang="en-US" sz="1800" b="1" dirty="0">
                <a:solidFill>
                  <a:schemeClr val="tx1"/>
                </a:solidFill>
              </a:rPr>
              <a:t>Active with recipient</a:t>
            </a:r>
            <a:endParaRPr lang="en-US" sz="1800" dirty="0"/>
          </a:p>
        </p:txBody>
      </p:sp>
      <p:sp>
        <p:nvSpPr>
          <p:cNvPr id="17" name="Text 15"/>
          <p:cNvSpPr txBox="1"/>
          <p:nvPr/>
        </p:nvSpPr>
        <p:spPr>
          <a:xfrm>
            <a:off x="4245864" y="3520440"/>
            <a:ext cx="1620012" cy="1371600"/>
          </a:xfrm>
          <a:prstGeom prst="rect">
            <a:avLst/>
          </a:prstGeom>
          <a:noFill/>
          <a:ln/>
        </p:spPr>
        <p:txBody>
          <a:bodyPr wrap="square" lIns="0" tIns="0" rIns="0" bIns="0" rtlCol="0" anchor="t"/>
          <a:lstStyle/>
          <a:p>
            <a:pPr indent="0" marL="0">
              <a:buNone/>
            </a:pPr>
            <a:r>
              <a:rPr lang="en-US" sz="1400" dirty="0">
                <a:solidFill>
                  <a:schemeClr val="accent5"/>
                </a:solidFill>
              </a:rPr>
              <a:t>Items are out. Due dates and overdue are tracked.</a:t>
            </a:r>
            <a:endParaRPr lang="en-US" sz="1400" dirty="0"/>
          </a:p>
        </p:txBody>
      </p:sp>
      <p:sp>
        <p:nvSpPr>
          <p:cNvPr id="18" name="step-line-4"/>
          <p:cNvSpPr/>
          <p:nvPr/>
        </p:nvSpPr>
        <p:spPr>
          <a:xfrm>
            <a:off x="6825996" y="2194560"/>
            <a:ext cx="1117092" cy="0"/>
          </a:xfrm>
          <a:prstGeom prst="line">
            <a:avLst/>
          </a:prstGeom>
          <a:noFill/>
          <a:ln w="38100">
            <a:solidFill>
              <a:schemeClr val="accent6"/>
            </a:solidFill>
            <a:prstDash val="solid"/>
          </a:ln>
        </p:spPr>
      </p:sp>
      <p:sp>
        <p:nvSpPr>
          <p:cNvPr id="19" name="step-circle-4"/>
          <p:cNvSpPr/>
          <p:nvPr/>
        </p:nvSpPr>
        <p:spPr>
          <a:xfrm>
            <a:off x="6094476" y="1828800"/>
            <a:ext cx="731520" cy="731520"/>
          </a:xfrm>
          <a:prstGeom prst="ellipse">
            <a:avLst/>
          </a:prstGeom>
          <a:solidFill>
            <a:schemeClr val="accent1"/>
          </a:solidFill>
          <a:ln w="38100">
            <a:solidFill>
              <a:schemeClr val="bg1"/>
            </a:solidFill>
            <a:prstDash val="solid"/>
          </a:ln>
        </p:spPr>
      </p:sp>
      <p:sp>
        <p:nvSpPr>
          <p:cNvPr id="20" name="Text 18"/>
          <p:cNvSpPr txBox="1"/>
          <p:nvPr/>
        </p:nvSpPr>
        <p:spPr>
          <a:xfrm>
            <a:off x="6094476" y="182880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1" name="Text 19"/>
          <p:cNvSpPr txBox="1"/>
          <p:nvPr/>
        </p:nvSpPr>
        <p:spPr>
          <a:xfrm>
            <a:off x="6094476" y="2788920"/>
            <a:ext cx="1665732" cy="685800"/>
          </a:xfrm>
          <a:prstGeom prst="rect">
            <a:avLst/>
          </a:prstGeom>
          <a:noFill/>
          <a:ln/>
        </p:spPr>
        <p:txBody>
          <a:bodyPr wrap="square" lIns="0" tIns="0" rIns="0" bIns="0" rtlCol="0" anchor="t"/>
          <a:lstStyle/>
          <a:p>
            <a:pPr indent="0" marL="0">
              <a:buNone/>
            </a:pPr>
            <a:r>
              <a:rPr lang="en-US" sz="1800" b="1" dirty="0">
                <a:solidFill>
                  <a:schemeClr val="tx1"/>
                </a:solidFill>
              </a:rPr>
              <a:t>Partial returns</a:t>
            </a:r>
            <a:endParaRPr lang="en-US" sz="1800" dirty="0"/>
          </a:p>
        </p:txBody>
      </p:sp>
      <p:sp>
        <p:nvSpPr>
          <p:cNvPr id="22" name="Text 20"/>
          <p:cNvSpPr txBox="1"/>
          <p:nvPr/>
        </p:nvSpPr>
        <p:spPr>
          <a:xfrm>
            <a:off x="6094476" y="3520440"/>
            <a:ext cx="1620012" cy="1371600"/>
          </a:xfrm>
          <a:prstGeom prst="rect">
            <a:avLst/>
          </a:prstGeom>
          <a:noFill/>
          <a:ln/>
        </p:spPr>
        <p:txBody>
          <a:bodyPr wrap="square" lIns="0" tIns="0" rIns="0" bIns="0" rtlCol="0" anchor="t"/>
          <a:lstStyle/>
          <a:p>
            <a:pPr indent="0" marL="0">
              <a:buNone/>
            </a:pPr>
            <a:r>
              <a:rPr lang="en-US" sz="1400" dirty="0">
                <a:solidFill>
                  <a:schemeClr val="accent5"/>
                </a:solidFill>
              </a:rPr>
              <a:t>Record each return as items come back.</a:t>
            </a:r>
            <a:endParaRPr lang="en-US" sz="1400" dirty="0"/>
          </a:p>
        </p:txBody>
      </p:sp>
      <p:sp>
        <p:nvSpPr>
          <p:cNvPr id="23" name="step-line-5"/>
          <p:cNvSpPr/>
          <p:nvPr/>
        </p:nvSpPr>
        <p:spPr>
          <a:xfrm>
            <a:off x="8674608" y="2194560"/>
            <a:ext cx="1117092" cy="0"/>
          </a:xfrm>
          <a:prstGeom prst="line">
            <a:avLst/>
          </a:prstGeom>
          <a:noFill/>
          <a:ln w="38100">
            <a:solidFill>
              <a:schemeClr val="accent6"/>
            </a:solidFill>
            <a:prstDash val="solid"/>
          </a:ln>
        </p:spPr>
      </p:sp>
      <p:sp>
        <p:nvSpPr>
          <p:cNvPr id="24" name="step-circle-5"/>
          <p:cNvSpPr/>
          <p:nvPr/>
        </p:nvSpPr>
        <p:spPr>
          <a:xfrm>
            <a:off x="7943088" y="1828800"/>
            <a:ext cx="731520" cy="731520"/>
          </a:xfrm>
          <a:prstGeom prst="ellipse">
            <a:avLst/>
          </a:prstGeom>
          <a:solidFill>
            <a:schemeClr val="accent1"/>
          </a:solidFill>
          <a:ln w="38100">
            <a:solidFill>
              <a:schemeClr val="bg1"/>
            </a:solidFill>
            <a:prstDash val="solid"/>
          </a:ln>
        </p:spPr>
      </p:sp>
      <p:sp>
        <p:nvSpPr>
          <p:cNvPr id="25" name="Text 23"/>
          <p:cNvSpPr txBox="1"/>
          <p:nvPr/>
        </p:nvSpPr>
        <p:spPr>
          <a:xfrm>
            <a:off x="7943088" y="182880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26" name="Text 24"/>
          <p:cNvSpPr txBox="1"/>
          <p:nvPr/>
        </p:nvSpPr>
        <p:spPr>
          <a:xfrm>
            <a:off x="7943088" y="2788920"/>
            <a:ext cx="1665732" cy="685800"/>
          </a:xfrm>
          <a:prstGeom prst="rect">
            <a:avLst/>
          </a:prstGeom>
          <a:noFill/>
          <a:ln/>
        </p:spPr>
        <p:txBody>
          <a:bodyPr wrap="square" lIns="0" tIns="0" rIns="0" bIns="0" rtlCol="0" anchor="t"/>
          <a:lstStyle/>
          <a:p>
            <a:pPr indent="0" marL="0">
              <a:buNone/>
            </a:pPr>
            <a:r>
              <a:rPr lang="en-US" sz="1800" b="1" dirty="0">
                <a:solidFill>
                  <a:schemeClr val="tx1"/>
                </a:solidFill>
              </a:rPr>
              <a:t>Full return</a:t>
            </a:r>
            <a:endParaRPr lang="en-US" sz="1800" dirty="0"/>
          </a:p>
        </p:txBody>
      </p:sp>
      <p:sp>
        <p:nvSpPr>
          <p:cNvPr id="27" name="Text 25"/>
          <p:cNvSpPr txBox="1"/>
          <p:nvPr/>
        </p:nvSpPr>
        <p:spPr>
          <a:xfrm>
            <a:off x="7943088" y="3520440"/>
            <a:ext cx="1620012" cy="1371600"/>
          </a:xfrm>
          <a:prstGeom prst="rect">
            <a:avLst/>
          </a:prstGeom>
          <a:noFill/>
          <a:ln/>
        </p:spPr>
        <p:txBody>
          <a:bodyPr wrap="square" lIns="0" tIns="0" rIns="0" bIns="0" rtlCol="0" anchor="t"/>
          <a:lstStyle/>
          <a:p>
            <a:pPr indent="0" marL="0">
              <a:buNone/>
            </a:pPr>
            <a:r>
              <a:rPr lang="en-US" sz="1400" dirty="0">
                <a:solidFill>
                  <a:schemeClr val="accent5"/>
                </a:solidFill>
              </a:rPr>
              <a:t>Nothing remains. Missing items are confirmed.</a:t>
            </a:r>
            <a:endParaRPr lang="en-US" sz="1400" dirty="0"/>
          </a:p>
        </p:txBody>
      </p:sp>
      <p:sp>
        <p:nvSpPr>
          <p:cNvPr id="28" name="step-circle-6"/>
          <p:cNvSpPr/>
          <p:nvPr/>
        </p:nvSpPr>
        <p:spPr>
          <a:xfrm>
            <a:off x="9791700" y="1828800"/>
            <a:ext cx="731520" cy="731520"/>
          </a:xfrm>
          <a:prstGeom prst="ellipse">
            <a:avLst/>
          </a:prstGeom>
          <a:solidFill>
            <a:schemeClr val="accent2"/>
          </a:solidFill>
          <a:ln w="38100">
            <a:solidFill>
              <a:schemeClr val="bg1"/>
            </a:solidFill>
            <a:prstDash val="solid"/>
          </a:ln>
        </p:spPr>
      </p:sp>
      <p:sp>
        <p:nvSpPr>
          <p:cNvPr id="29" name="Text 27"/>
          <p:cNvSpPr txBox="1"/>
          <p:nvPr/>
        </p:nvSpPr>
        <p:spPr>
          <a:xfrm>
            <a:off x="9791700" y="182880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6</a:t>
            </a:r>
            <a:endParaRPr lang="en-US" sz="2200" dirty="0"/>
          </a:p>
        </p:txBody>
      </p:sp>
      <p:sp>
        <p:nvSpPr>
          <p:cNvPr id="30" name="Text 28"/>
          <p:cNvSpPr txBox="1"/>
          <p:nvPr/>
        </p:nvSpPr>
        <p:spPr>
          <a:xfrm>
            <a:off x="9791700" y="2788920"/>
            <a:ext cx="1665732" cy="685800"/>
          </a:xfrm>
          <a:prstGeom prst="rect">
            <a:avLst/>
          </a:prstGeom>
          <a:noFill/>
          <a:ln/>
        </p:spPr>
        <p:txBody>
          <a:bodyPr wrap="square" lIns="0" tIns="0" rIns="0" bIns="0" rtlCol="0" anchor="t"/>
          <a:lstStyle/>
          <a:p>
            <a:pPr indent="0" marL="0">
              <a:buNone/>
            </a:pPr>
            <a:r>
              <a:rPr lang="en-US" sz="1800" b="1" dirty="0">
                <a:solidFill>
                  <a:schemeClr val="tx1"/>
                </a:solidFill>
              </a:rPr>
              <a:t>Closed</a:t>
            </a:r>
            <a:endParaRPr lang="en-US" sz="1800" dirty="0"/>
          </a:p>
        </p:txBody>
      </p:sp>
      <p:sp>
        <p:nvSpPr>
          <p:cNvPr id="31" name="Text 29"/>
          <p:cNvSpPr txBox="1"/>
          <p:nvPr/>
        </p:nvSpPr>
        <p:spPr>
          <a:xfrm>
            <a:off x="9791700" y="3520440"/>
            <a:ext cx="1620012" cy="1371600"/>
          </a:xfrm>
          <a:prstGeom prst="rect">
            <a:avLst/>
          </a:prstGeom>
          <a:noFill/>
          <a:ln/>
        </p:spPr>
        <p:txBody>
          <a:bodyPr wrap="square" lIns="0" tIns="0" rIns="0" bIns="0" rtlCol="0" anchor="t"/>
          <a:lstStyle/>
          <a:p>
            <a:pPr indent="0" marL="0">
              <a:buNone/>
            </a:pPr>
            <a:r>
              <a:rPr lang="en-US" sz="1400" dirty="0">
                <a:solidFill>
                  <a:schemeClr val="accent5"/>
                </a:solidFill>
              </a:rPr>
              <a:t>The record becomes read-only.</a:t>
            </a:r>
            <a:endParaRPr lang="en-US" sz="1400" dirty="0"/>
          </a:p>
        </p:txBody>
      </p:sp>
      <p:sp>
        <p:nvSpPr>
          <p:cNvPr id="32" name="exceptions-banner"/>
          <p:cNvSpPr/>
          <p:nvPr/>
        </p:nvSpPr>
        <p:spPr>
          <a:xfrm>
            <a:off x="548640" y="5074920"/>
            <a:ext cx="11091672" cy="868680"/>
          </a:xfrm>
          <a:prstGeom prst="roundRect">
            <a:avLst>
              <a:gd name="adj" fmla="val 12632"/>
            </a:avLst>
          </a:prstGeom>
          <a:solidFill>
            <a:schemeClr val="bg2"/>
          </a:solidFill>
          <a:ln w="12700">
            <a:solidFill>
              <a:schemeClr val="bg2"/>
            </a:solidFill>
            <a:prstDash val="solid"/>
          </a:ln>
        </p:spPr>
      </p:sp>
      <p:sp>
        <p:nvSpPr>
          <p:cNvPr id="33" name="icon-circle-FaExclamationTriangle"/>
          <p:cNvSpPr/>
          <p:nvPr/>
        </p:nvSpPr>
        <p:spPr>
          <a:xfrm>
            <a:off x="822960" y="5212080"/>
            <a:ext cx="594360" cy="594360"/>
          </a:xfrm>
          <a:prstGeom prst="ellipse">
            <a:avLst/>
          </a:prstGeom>
          <a:solidFill>
            <a:srgbClr val="F59E0B"/>
          </a:solidFill>
          <a:ln w="12700">
            <a:solidFill>
              <a:srgbClr val="F59E0B"/>
            </a:solidFill>
            <a:prstDash val="solid"/>
          </a:ln>
        </p:spPr>
      </p:sp>
      <p:pic>
        <p:nvPicPr>
          <p:cNvPr id="34" name="Image 0" descr="ExclamationTriangle icon">    </p:cNvPr>
          <p:cNvPicPr>
            <a:picLocks noChangeAspect="1"/>
          </p:cNvPicPr>
          <p:nvPr/>
        </p:nvPicPr>
        <p:blipFill>
          <a:blip r:embed="rId1"/>
          <a:stretch>
            <a:fillRect/>
          </a:stretch>
        </p:blipFill>
        <p:spPr>
          <a:xfrm>
            <a:off x="977494" y="5366614"/>
            <a:ext cx="285293" cy="285293"/>
          </a:xfrm>
          <a:prstGeom prst="rect">
            <a:avLst/>
          </a:prstGeom>
        </p:spPr>
      </p:pic>
      <p:sp>
        <p:nvSpPr>
          <p:cNvPr id="35" name="Text 32"/>
          <p:cNvSpPr txBox="1"/>
          <p:nvPr/>
        </p:nvSpPr>
        <p:spPr>
          <a:xfrm>
            <a:off x="1645920" y="5074920"/>
            <a:ext cx="9692640" cy="868680"/>
          </a:xfrm>
          <a:prstGeom prst="rect">
            <a:avLst/>
          </a:prstGeom>
          <a:noFill/>
          <a:ln/>
        </p:spPr>
        <p:txBody>
          <a:bodyPr wrap="square" lIns="0" tIns="0" rIns="0" bIns="0" rtlCol="0" anchor="ctr"/>
          <a:lstStyle/>
          <a:p>
            <a:pPr indent="0" marL="0">
              <a:buNone/>
            </a:pPr>
            <a:r>
              <a:rPr lang="en-US" sz="1700" dirty="0">
                <a:solidFill>
                  <a:schemeClr val="tx1"/>
                </a:solidFill>
              </a:rPr>
              <a:t>Exceptions stay on the record too: declined by the recipient, cancelled, disputed or overdue.</a:t>
            </a:r>
            <a:endParaRPr lang="en-US" sz="1700" dirty="0"/>
          </a:p>
        </p:txBody>
      </p:sp>
      <p:sp>
        <p:nvSpPr>
          <p:cNvPr id="25" name="Slide Number Placeholder 0"/>
          <p:cNvSpPr>
            <a:spLocks noGrp="1"/>
          </p:cNvSpPr>
          <p:nvPr>
            <p:ph type="sldNum" sz="quarter" idx="4294967295"/>
          </p:nvPr>
        </p:nvSpPr>
        <p:spPr>
          <a:xfrm>
            <a:off x="11045952"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Your whole operation on one screen</a:t>
            </a:r>
            <a:endParaRPr lang="en-US" sz="3200" dirty="0"/>
          </a:p>
        </p:txBody>
      </p:sp>
      <p:pic>
        <p:nvPicPr>
          <p:cNvPr id="3" name="Screenshot of the HandOffly dashboard listing five handoffs" descr="Screenshot of the HandOffly dashboard listing five handoffs">    </p:cNvPr>
          <p:cNvPicPr>
            <a:picLocks noChangeAspect="1"/>
          </p:cNvPicPr>
          <p:nvPr/>
        </p:nvPicPr>
        <p:blipFill>
          <a:blip r:embed="rId1"/>
          <a:stretch>
            <a:fillRect/>
          </a:stretch>
        </p:blipFill>
        <p:spPr>
          <a:xfrm>
            <a:off x="548640" y="1463040"/>
            <a:ext cx="7315200" cy="4572000"/>
          </a:xfrm>
          <a:prstGeom prst="rect">
            <a:avLst/>
          </a:prstGeom>
          <a:effectLst>
            <a:outerShdw sx="100000" sy="100000" kx="0" ky="0" algn="bl" rotWithShape="0" blurRad="127000" dist="38100" dir="5400000">
              <a:srgbClr val="000000">
                <a:alpha val="22000"/>
              </a:srgbClr>
            </a:outerShdw>
          </a:effectLst>
        </p:spPr>
      </p:pic>
      <p:sp>
        <p:nvSpPr>
          <p:cNvPr id="4" name="icon-circle-FaBell"/>
          <p:cNvSpPr/>
          <p:nvPr/>
        </p:nvSpPr>
        <p:spPr>
          <a:xfrm>
            <a:off x="8229600" y="1463040"/>
            <a:ext cx="640080" cy="640080"/>
          </a:xfrm>
          <a:prstGeom prst="ellipse">
            <a:avLst/>
          </a:prstGeom>
          <a:solidFill>
            <a:srgbClr val="2563EB"/>
          </a:solidFill>
          <a:ln w="12700">
            <a:solidFill>
              <a:srgbClr val="2563EB"/>
            </a:solidFill>
            <a:prstDash val="solid"/>
          </a:ln>
        </p:spPr>
      </p:sp>
      <p:pic>
        <p:nvPicPr>
          <p:cNvPr id="5" name="Image 1" descr="Bell icon">    </p:cNvPr>
          <p:cNvPicPr>
            <a:picLocks noChangeAspect="1"/>
          </p:cNvPicPr>
          <p:nvPr/>
        </p:nvPicPr>
        <p:blipFill>
          <a:blip r:embed="rId2"/>
          <a:stretch>
            <a:fillRect/>
          </a:stretch>
        </p:blipFill>
        <p:spPr>
          <a:xfrm>
            <a:off x="8396021" y="1629461"/>
            <a:ext cx="307238" cy="307238"/>
          </a:xfrm>
          <a:prstGeom prst="rect">
            <a:avLst/>
          </a:prstGeom>
        </p:spPr>
      </p:pic>
      <p:sp>
        <p:nvSpPr>
          <p:cNvPr id="6" name="Text 2"/>
          <p:cNvSpPr txBox="1"/>
          <p:nvPr/>
        </p:nvSpPr>
        <p:spPr>
          <a:xfrm>
            <a:off x="9052560" y="1463040"/>
            <a:ext cx="2606040" cy="365760"/>
          </a:xfrm>
          <a:prstGeom prst="rect">
            <a:avLst/>
          </a:prstGeom>
          <a:noFill/>
          <a:ln/>
        </p:spPr>
        <p:txBody>
          <a:bodyPr wrap="square" lIns="0" tIns="0" rIns="0" bIns="0" rtlCol="0" anchor="ctr"/>
          <a:lstStyle/>
          <a:p>
            <a:pPr indent="0" marL="0">
              <a:buNone/>
            </a:pPr>
            <a:r>
              <a:rPr lang="en-US" sz="1800" b="1" dirty="0">
                <a:solidFill>
                  <a:schemeClr val="tx1"/>
                </a:solidFill>
              </a:rPr>
              <a:t>Needs attention</a:t>
            </a:r>
            <a:endParaRPr lang="en-US" sz="1800" dirty="0"/>
          </a:p>
        </p:txBody>
      </p:sp>
      <p:sp>
        <p:nvSpPr>
          <p:cNvPr id="7" name="Text 3"/>
          <p:cNvSpPr txBox="1"/>
          <p:nvPr/>
        </p:nvSpPr>
        <p:spPr>
          <a:xfrm>
            <a:off x="9052560" y="1920240"/>
            <a:ext cx="2606040" cy="914400"/>
          </a:xfrm>
          <a:prstGeom prst="rect">
            <a:avLst/>
          </a:prstGeom>
          <a:noFill/>
          <a:ln/>
        </p:spPr>
        <p:txBody>
          <a:bodyPr wrap="square" lIns="0" tIns="0" rIns="0" bIns="0" rtlCol="0" anchor="t"/>
          <a:lstStyle/>
          <a:p>
            <a:pPr indent="0" marL="0">
              <a:buNone/>
            </a:pPr>
            <a:r>
              <a:rPr lang="en-US" sz="1400" dirty="0">
                <a:solidFill>
                  <a:schemeClr val="accent5"/>
                </a:solidFill>
              </a:rPr>
              <a:t>Overdue handoffs and unanswered ones come first.</a:t>
            </a:r>
            <a:endParaRPr lang="en-US" sz="1400" dirty="0"/>
          </a:p>
        </p:txBody>
      </p:sp>
      <p:sp>
        <p:nvSpPr>
          <p:cNvPr id="8" name="icon-circle-FaFilter"/>
          <p:cNvSpPr/>
          <p:nvPr/>
        </p:nvSpPr>
        <p:spPr>
          <a:xfrm>
            <a:off x="8229600" y="3017520"/>
            <a:ext cx="640080" cy="640080"/>
          </a:xfrm>
          <a:prstGeom prst="ellipse">
            <a:avLst/>
          </a:prstGeom>
          <a:solidFill>
            <a:srgbClr val="2563EB"/>
          </a:solidFill>
          <a:ln w="12700">
            <a:solidFill>
              <a:srgbClr val="2563EB"/>
            </a:solidFill>
            <a:prstDash val="solid"/>
          </a:ln>
        </p:spPr>
      </p:sp>
      <p:pic>
        <p:nvPicPr>
          <p:cNvPr id="9" name="Image 2" descr="Filter icon">    </p:cNvPr>
          <p:cNvPicPr>
            <a:picLocks noChangeAspect="1"/>
          </p:cNvPicPr>
          <p:nvPr/>
        </p:nvPicPr>
        <p:blipFill>
          <a:blip r:embed="rId3"/>
          <a:stretch>
            <a:fillRect/>
          </a:stretch>
        </p:blipFill>
        <p:spPr>
          <a:xfrm>
            <a:off x="8396021" y="3183941"/>
            <a:ext cx="307238" cy="307238"/>
          </a:xfrm>
          <a:prstGeom prst="rect">
            <a:avLst/>
          </a:prstGeom>
        </p:spPr>
      </p:pic>
      <p:sp>
        <p:nvSpPr>
          <p:cNvPr id="10" name="Text 5"/>
          <p:cNvSpPr txBox="1"/>
          <p:nvPr/>
        </p:nvSpPr>
        <p:spPr>
          <a:xfrm>
            <a:off x="9052560" y="3017520"/>
            <a:ext cx="2606040" cy="365760"/>
          </a:xfrm>
          <a:prstGeom prst="rect">
            <a:avLst/>
          </a:prstGeom>
          <a:noFill/>
          <a:ln/>
        </p:spPr>
        <p:txBody>
          <a:bodyPr wrap="square" lIns="0" tIns="0" rIns="0" bIns="0" rtlCol="0" anchor="ctr"/>
          <a:lstStyle/>
          <a:p>
            <a:pPr indent="0" marL="0">
              <a:buNone/>
            </a:pPr>
            <a:r>
              <a:rPr lang="en-US" sz="1800" b="1" dirty="0">
                <a:solidFill>
                  <a:schemeClr val="tx1"/>
                </a:solidFill>
              </a:rPr>
              <a:t>Status at a glance</a:t>
            </a:r>
            <a:endParaRPr lang="en-US" sz="1800" dirty="0"/>
          </a:p>
        </p:txBody>
      </p:sp>
      <p:sp>
        <p:nvSpPr>
          <p:cNvPr id="11" name="Text 6"/>
          <p:cNvSpPr txBox="1"/>
          <p:nvPr/>
        </p:nvSpPr>
        <p:spPr>
          <a:xfrm>
            <a:off x="9052560" y="3474720"/>
            <a:ext cx="2606040" cy="914400"/>
          </a:xfrm>
          <a:prstGeom prst="rect">
            <a:avLst/>
          </a:prstGeom>
          <a:noFill/>
          <a:ln/>
        </p:spPr>
        <p:txBody>
          <a:bodyPr wrap="square" lIns="0" tIns="0" rIns="0" bIns="0" rtlCol="0" anchor="t"/>
          <a:lstStyle/>
          <a:p>
            <a:pPr indent="0" marL="0">
              <a:buNone/>
            </a:pPr>
            <a:r>
              <a:rPr lang="en-US" sz="1400" dirty="0">
                <a:solidFill>
                  <a:schemeClr val="accent5"/>
                </a:solidFill>
              </a:rPr>
              <a:t>Draft, active, partly returned, closed. One click filters the list.</a:t>
            </a:r>
            <a:endParaRPr lang="en-US" sz="1400" dirty="0"/>
          </a:p>
        </p:txBody>
      </p:sp>
      <p:sp>
        <p:nvSpPr>
          <p:cNvPr id="12" name="icon-circle-FaCalculator"/>
          <p:cNvSpPr/>
          <p:nvPr/>
        </p:nvSpPr>
        <p:spPr>
          <a:xfrm>
            <a:off x="8229600" y="4572000"/>
            <a:ext cx="640080" cy="640080"/>
          </a:xfrm>
          <a:prstGeom prst="ellipse">
            <a:avLst/>
          </a:prstGeom>
          <a:solidFill>
            <a:srgbClr val="2563EB"/>
          </a:solidFill>
          <a:ln w="12700">
            <a:solidFill>
              <a:srgbClr val="2563EB"/>
            </a:solidFill>
            <a:prstDash val="solid"/>
          </a:ln>
        </p:spPr>
      </p:sp>
      <p:pic>
        <p:nvPicPr>
          <p:cNvPr id="13" name="Image 3" descr="Calculator icon">    </p:cNvPr>
          <p:cNvPicPr>
            <a:picLocks noChangeAspect="1"/>
          </p:cNvPicPr>
          <p:nvPr/>
        </p:nvPicPr>
        <p:blipFill>
          <a:blip r:embed="rId4"/>
          <a:stretch>
            <a:fillRect/>
          </a:stretch>
        </p:blipFill>
        <p:spPr>
          <a:xfrm>
            <a:off x="8396021" y="4738421"/>
            <a:ext cx="307238" cy="307238"/>
          </a:xfrm>
          <a:prstGeom prst="rect">
            <a:avLst/>
          </a:prstGeom>
        </p:spPr>
      </p:pic>
      <p:sp>
        <p:nvSpPr>
          <p:cNvPr id="14" name="Text 8"/>
          <p:cNvSpPr txBox="1"/>
          <p:nvPr/>
        </p:nvSpPr>
        <p:spPr>
          <a:xfrm>
            <a:off x="9052560" y="4572000"/>
            <a:ext cx="2606040" cy="365760"/>
          </a:xfrm>
          <a:prstGeom prst="rect">
            <a:avLst/>
          </a:prstGeom>
          <a:noFill/>
          <a:ln/>
        </p:spPr>
        <p:txBody>
          <a:bodyPr wrap="square" lIns="0" tIns="0" rIns="0" bIns="0" rtlCol="0" anchor="ctr"/>
          <a:lstStyle/>
          <a:p>
            <a:pPr indent="0" marL="0">
              <a:buNone/>
            </a:pPr>
            <a:r>
              <a:rPr lang="en-US" sz="1800" b="1" dirty="0">
                <a:solidFill>
                  <a:schemeClr val="tx1"/>
                </a:solidFill>
              </a:rPr>
              <a:t>Always calculated</a:t>
            </a:r>
            <a:endParaRPr lang="en-US" sz="1800" dirty="0"/>
          </a:p>
        </p:txBody>
      </p:sp>
      <p:sp>
        <p:nvSpPr>
          <p:cNvPr id="15" name="Text 9"/>
          <p:cNvSpPr txBox="1"/>
          <p:nvPr/>
        </p:nvSpPr>
        <p:spPr>
          <a:xfrm>
            <a:off x="9052560" y="5029200"/>
            <a:ext cx="2606040" cy="914400"/>
          </a:xfrm>
          <a:prstGeom prst="rect">
            <a:avLst/>
          </a:prstGeom>
          <a:noFill/>
          <a:ln/>
        </p:spPr>
        <p:txBody>
          <a:bodyPr wrap="square" lIns="0" tIns="0" rIns="0" bIns="0" rtlCol="0" anchor="t"/>
          <a:lstStyle/>
          <a:p>
            <a:pPr indent="0" marL="0">
              <a:buNone/>
            </a:pPr>
            <a:r>
              <a:rPr lang="en-US" sz="1400" dirty="0">
                <a:solidFill>
                  <a:schemeClr val="accent5"/>
                </a:solidFill>
              </a:rPr>
              <a:t>Given, returned, missing and remaining for every handoff.</a:t>
            </a:r>
            <a:endParaRPr lang="en-US" sz="1400" dirty="0"/>
          </a:p>
        </p:txBody>
      </p:sp>
      <p:sp>
        <p:nvSpPr>
          <p:cNvPr id="25" name="Slide Number Placeholder 0"/>
          <p:cNvSpPr>
            <a:spLocks noGrp="1"/>
          </p:cNvSpPr>
          <p:nvPr>
            <p:ph type="sldNum" sz="quarter" idx="4294967295"/>
          </p:nvPr>
        </p:nvSpPr>
        <p:spPr>
          <a:xfrm>
            <a:off x="11045952"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Partial returns, remaining calculated for you</a:t>
            </a:r>
            <a:endParaRPr lang="en-US" sz="3200" dirty="0"/>
          </a:p>
        </p:txBody>
      </p:sp>
      <p:sp>
        <p:nvSpPr>
          <p:cNvPr id="3" name="return-example-card"/>
          <p:cNvSpPr/>
          <p:nvPr/>
        </p:nvSpPr>
        <p:spPr>
          <a:xfrm>
            <a:off x="548640" y="1463040"/>
            <a:ext cx="6949440" cy="4526280"/>
          </a:xfrm>
          <a:prstGeom prst="roundRect">
            <a:avLst>
              <a:gd name="adj" fmla="val 2424"/>
            </a:avLst>
          </a:prstGeom>
          <a:solidFill>
            <a:schemeClr val="bg2"/>
          </a:solidFill>
          <a:ln w="12700">
            <a:solidFill>
              <a:schemeClr val="bg2"/>
            </a:solidFill>
            <a:prstDash val="solid"/>
          </a:ln>
        </p:spPr>
      </p:sp>
      <p:sp>
        <p:nvSpPr>
          <p:cNvPr id="4" name="Text 2"/>
          <p:cNvSpPr txBox="1"/>
          <p:nvPr/>
        </p:nvSpPr>
        <p:spPr>
          <a:xfrm>
            <a:off x="914400" y="1691640"/>
            <a:ext cx="4572000" cy="365760"/>
          </a:xfrm>
          <a:prstGeom prst="rect">
            <a:avLst/>
          </a:prstGeom>
          <a:noFill/>
          <a:ln/>
        </p:spPr>
        <p:txBody>
          <a:bodyPr wrap="square" lIns="0" tIns="0" rIns="0" bIns="0" rtlCol="0" anchor="ctr"/>
          <a:lstStyle/>
          <a:p>
            <a:pPr indent="0" marL="0">
              <a:buNone/>
            </a:pPr>
            <a:r>
              <a:rPr lang="en-US" sz="2000" b="1" dirty="0">
                <a:solidFill>
                  <a:schemeClr val="tx1"/>
                </a:solidFill>
              </a:rPr>
              <a:t>Sharma Wedding Rental</a:t>
            </a:r>
            <a:endParaRPr lang="en-US" sz="2000" dirty="0"/>
          </a:p>
        </p:txBody>
      </p:sp>
      <p:sp>
        <p:nvSpPr>
          <p:cNvPr id="5" name="Text 3"/>
          <p:cNvSpPr txBox="1"/>
          <p:nvPr/>
        </p:nvSpPr>
        <p:spPr>
          <a:xfrm>
            <a:off x="6309360" y="1691640"/>
            <a:ext cx="914400" cy="365760"/>
          </a:xfrm>
          <a:prstGeom prst="rect">
            <a:avLst/>
          </a:prstGeom>
          <a:noFill/>
          <a:ln/>
        </p:spPr>
        <p:txBody>
          <a:bodyPr wrap="square" lIns="0" tIns="0" rIns="0" bIns="0" rtlCol="0" anchor="ctr"/>
          <a:lstStyle/>
          <a:p>
            <a:pPr algn="r" indent="0" marL="0">
              <a:buNone/>
            </a:pPr>
            <a:r>
              <a:rPr lang="en-US" sz="1400" dirty="0">
                <a:solidFill>
                  <a:schemeClr val="accent5"/>
                </a:solidFill>
              </a:rPr>
              <a:t>Example</a:t>
            </a:r>
            <a:endParaRPr lang="en-US" sz="1400" dirty="0"/>
          </a:p>
        </p:txBody>
      </p:sp>
      <p:sp>
        <p:nvSpPr>
          <p:cNvPr id="6" name="Text 4"/>
          <p:cNvSpPr txBox="1"/>
          <p:nvPr/>
        </p:nvSpPr>
        <p:spPr>
          <a:xfrm>
            <a:off x="914400" y="2423160"/>
            <a:ext cx="1554480" cy="411480"/>
          </a:xfrm>
          <a:prstGeom prst="rect">
            <a:avLst/>
          </a:prstGeom>
          <a:noFill/>
          <a:ln/>
        </p:spPr>
        <p:txBody>
          <a:bodyPr wrap="square" lIns="0" tIns="0" rIns="0" bIns="0" rtlCol="0" anchor="ctr"/>
          <a:lstStyle/>
          <a:p>
            <a:pPr indent="0" marL="0">
              <a:buNone/>
            </a:pPr>
            <a:r>
              <a:rPr lang="en-US" sz="1800" b="1" dirty="0">
                <a:solidFill>
                  <a:schemeClr val="tx1"/>
                </a:solidFill>
              </a:rPr>
              <a:t>Chairs</a:t>
            </a:r>
            <a:endParaRPr lang="en-US" sz="1800" dirty="0"/>
          </a:p>
        </p:txBody>
      </p:sp>
      <p:sp>
        <p:nvSpPr>
          <p:cNvPr id="7" name="track-Chairs"/>
          <p:cNvSpPr/>
          <p:nvPr/>
        </p:nvSpPr>
        <p:spPr>
          <a:xfrm>
            <a:off x="2514600" y="2496312"/>
            <a:ext cx="3291840" cy="274320"/>
          </a:xfrm>
          <a:prstGeom prst="roundRect">
            <a:avLst>
              <a:gd name="adj" fmla="val 50000"/>
            </a:avLst>
          </a:prstGeom>
          <a:solidFill>
            <a:schemeClr val="accent6"/>
          </a:solidFill>
          <a:ln w="12700">
            <a:solidFill>
              <a:schemeClr val="accent6"/>
            </a:solidFill>
            <a:prstDash val="solid"/>
          </a:ln>
        </p:spPr>
      </p:sp>
      <p:sp>
        <p:nvSpPr>
          <p:cNvPr id="8" name="fill-Chairs"/>
          <p:cNvSpPr/>
          <p:nvPr/>
        </p:nvSpPr>
        <p:spPr>
          <a:xfrm>
            <a:off x="2514600" y="2496312"/>
            <a:ext cx="3291840" cy="274320"/>
          </a:xfrm>
          <a:prstGeom prst="roundRect">
            <a:avLst>
              <a:gd name="adj" fmla="val 50000"/>
            </a:avLst>
          </a:prstGeom>
          <a:solidFill>
            <a:schemeClr val="accent2"/>
          </a:solidFill>
          <a:ln w="12700">
            <a:solidFill>
              <a:schemeClr val="accent2"/>
            </a:solidFill>
            <a:prstDash val="solid"/>
          </a:ln>
        </p:spPr>
      </p:sp>
      <p:sp>
        <p:nvSpPr>
          <p:cNvPr id="9" name="Text 7"/>
          <p:cNvSpPr txBox="1"/>
          <p:nvPr/>
        </p:nvSpPr>
        <p:spPr>
          <a:xfrm>
            <a:off x="5943600" y="2423160"/>
            <a:ext cx="1371600" cy="411480"/>
          </a:xfrm>
          <a:prstGeom prst="rect">
            <a:avLst/>
          </a:prstGeom>
          <a:noFill/>
          <a:ln/>
        </p:spPr>
        <p:txBody>
          <a:bodyPr wrap="square" lIns="0" tIns="0" rIns="0" bIns="0" rtlCol="0" anchor="ctr"/>
          <a:lstStyle/>
          <a:p>
            <a:pPr algn="r" indent="0" marL="0">
              <a:buNone/>
            </a:pPr>
            <a:r>
              <a:rPr lang="en-US" sz="1600" dirty="0">
                <a:solidFill>
                  <a:schemeClr val="tx1"/>
                </a:solidFill>
              </a:rPr>
              <a:t>500 of 500</a:t>
            </a:r>
            <a:endParaRPr lang="en-US" sz="1600" dirty="0"/>
          </a:p>
        </p:txBody>
      </p:sp>
      <p:sp>
        <p:nvSpPr>
          <p:cNvPr id="10" name="Text 8"/>
          <p:cNvSpPr txBox="1"/>
          <p:nvPr/>
        </p:nvSpPr>
        <p:spPr>
          <a:xfrm>
            <a:off x="914400" y="3429000"/>
            <a:ext cx="1554480" cy="411480"/>
          </a:xfrm>
          <a:prstGeom prst="rect">
            <a:avLst/>
          </a:prstGeom>
          <a:noFill/>
          <a:ln/>
        </p:spPr>
        <p:txBody>
          <a:bodyPr wrap="square" lIns="0" tIns="0" rIns="0" bIns="0" rtlCol="0" anchor="ctr"/>
          <a:lstStyle/>
          <a:p>
            <a:pPr indent="0" marL="0">
              <a:buNone/>
            </a:pPr>
            <a:r>
              <a:rPr lang="en-US" sz="1800" b="1" dirty="0">
                <a:solidFill>
                  <a:schemeClr val="tx1"/>
                </a:solidFill>
              </a:rPr>
              <a:t>Tables</a:t>
            </a:r>
            <a:endParaRPr lang="en-US" sz="1800" dirty="0"/>
          </a:p>
        </p:txBody>
      </p:sp>
      <p:sp>
        <p:nvSpPr>
          <p:cNvPr id="11" name="track-Tables"/>
          <p:cNvSpPr/>
          <p:nvPr/>
        </p:nvSpPr>
        <p:spPr>
          <a:xfrm>
            <a:off x="2514600" y="3502152"/>
            <a:ext cx="3291840" cy="274320"/>
          </a:xfrm>
          <a:prstGeom prst="roundRect">
            <a:avLst>
              <a:gd name="adj" fmla="val 50000"/>
            </a:avLst>
          </a:prstGeom>
          <a:solidFill>
            <a:schemeClr val="accent6"/>
          </a:solidFill>
          <a:ln w="12700">
            <a:solidFill>
              <a:schemeClr val="accent6"/>
            </a:solidFill>
            <a:prstDash val="solid"/>
          </a:ln>
        </p:spPr>
      </p:sp>
      <p:sp>
        <p:nvSpPr>
          <p:cNvPr id="12" name="fill-Tables"/>
          <p:cNvSpPr/>
          <p:nvPr/>
        </p:nvSpPr>
        <p:spPr>
          <a:xfrm>
            <a:off x="2514600" y="3502152"/>
            <a:ext cx="3209544" cy="274320"/>
          </a:xfrm>
          <a:prstGeom prst="roundRect">
            <a:avLst>
              <a:gd name="adj" fmla="val 50000"/>
            </a:avLst>
          </a:prstGeom>
          <a:solidFill>
            <a:schemeClr val="accent3"/>
          </a:solidFill>
          <a:ln w="12700">
            <a:solidFill>
              <a:schemeClr val="accent3"/>
            </a:solidFill>
            <a:prstDash val="solid"/>
          </a:ln>
        </p:spPr>
      </p:sp>
      <p:sp>
        <p:nvSpPr>
          <p:cNvPr id="13" name="Text 11"/>
          <p:cNvSpPr txBox="1"/>
          <p:nvPr/>
        </p:nvSpPr>
        <p:spPr>
          <a:xfrm>
            <a:off x="5943600" y="3429000"/>
            <a:ext cx="1371600" cy="411480"/>
          </a:xfrm>
          <a:prstGeom prst="rect">
            <a:avLst/>
          </a:prstGeom>
          <a:noFill/>
          <a:ln/>
        </p:spPr>
        <p:txBody>
          <a:bodyPr wrap="square" lIns="0" tIns="0" rIns="0" bIns="0" rtlCol="0" anchor="ctr"/>
          <a:lstStyle/>
          <a:p>
            <a:pPr algn="r" indent="0" marL="0">
              <a:buNone/>
            </a:pPr>
            <a:r>
              <a:rPr lang="en-US" sz="1600" dirty="0">
                <a:solidFill>
                  <a:schemeClr val="tx1"/>
                </a:solidFill>
              </a:rPr>
              <a:t>78 of 80</a:t>
            </a:r>
            <a:endParaRPr lang="en-US" sz="1600" dirty="0"/>
          </a:p>
        </p:txBody>
      </p:sp>
      <p:sp>
        <p:nvSpPr>
          <p:cNvPr id="14" name="Text 12"/>
          <p:cNvSpPr txBox="1"/>
          <p:nvPr/>
        </p:nvSpPr>
        <p:spPr>
          <a:xfrm>
            <a:off x="2514600" y="3886200"/>
            <a:ext cx="3657600" cy="320040"/>
          </a:xfrm>
          <a:prstGeom prst="rect">
            <a:avLst/>
          </a:prstGeom>
          <a:noFill/>
          <a:ln/>
        </p:spPr>
        <p:txBody>
          <a:bodyPr wrap="square" lIns="0" tIns="0" rIns="0" bIns="0" rtlCol="0" anchor="ctr"/>
          <a:lstStyle/>
          <a:p>
            <a:pPr indent="0" marL="0">
              <a:buNone/>
            </a:pPr>
            <a:r>
              <a:rPr lang="en-US" sz="1400" b="1" dirty="0">
                <a:solidFill>
                  <a:schemeClr val="tx1"/>
                </a:solidFill>
              </a:rPr>
              <a:t>2 still to come back</a:t>
            </a:r>
            <a:endParaRPr lang="en-US" sz="1400" dirty="0"/>
          </a:p>
        </p:txBody>
      </p:sp>
      <p:sp>
        <p:nvSpPr>
          <p:cNvPr id="15" name="Text 13"/>
          <p:cNvSpPr txBox="1"/>
          <p:nvPr/>
        </p:nvSpPr>
        <p:spPr>
          <a:xfrm>
            <a:off x="914400" y="4434840"/>
            <a:ext cx="1554480" cy="411480"/>
          </a:xfrm>
          <a:prstGeom prst="rect">
            <a:avLst/>
          </a:prstGeom>
          <a:noFill/>
          <a:ln/>
        </p:spPr>
        <p:txBody>
          <a:bodyPr wrap="square" lIns="0" tIns="0" rIns="0" bIns="0" rtlCol="0" anchor="ctr"/>
          <a:lstStyle/>
          <a:p>
            <a:pPr indent="0" marL="0">
              <a:buNone/>
            </a:pPr>
            <a:r>
              <a:rPr lang="en-US" sz="1800" b="1" dirty="0">
                <a:solidFill>
                  <a:schemeClr val="tx1"/>
                </a:solidFill>
              </a:rPr>
              <a:t>Bedsheets</a:t>
            </a:r>
            <a:endParaRPr lang="en-US" sz="1800" dirty="0"/>
          </a:p>
        </p:txBody>
      </p:sp>
      <p:sp>
        <p:nvSpPr>
          <p:cNvPr id="16" name="track-Bedsheets"/>
          <p:cNvSpPr/>
          <p:nvPr/>
        </p:nvSpPr>
        <p:spPr>
          <a:xfrm>
            <a:off x="2514600" y="4507992"/>
            <a:ext cx="3291840" cy="274320"/>
          </a:xfrm>
          <a:prstGeom prst="roundRect">
            <a:avLst>
              <a:gd name="adj" fmla="val 50000"/>
            </a:avLst>
          </a:prstGeom>
          <a:solidFill>
            <a:schemeClr val="accent6"/>
          </a:solidFill>
          <a:ln w="12700">
            <a:solidFill>
              <a:schemeClr val="accent6"/>
            </a:solidFill>
            <a:prstDash val="solid"/>
          </a:ln>
        </p:spPr>
      </p:sp>
      <p:sp>
        <p:nvSpPr>
          <p:cNvPr id="17" name="fill-Bedsheets"/>
          <p:cNvSpPr/>
          <p:nvPr/>
        </p:nvSpPr>
        <p:spPr>
          <a:xfrm>
            <a:off x="2514600" y="4507992"/>
            <a:ext cx="3291840" cy="274320"/>
          </a:xfrm>
          <a:prstGeom prst="roundRect">
            <a:avLst>
              <a:gd name="adj" fmla="val 50000"/>
            </a:avLst>
          </a:prstGeom>
          <a:solidFill>
            <a:schemeClr val="accent2"/>
          </a:solidFill>
          <a:ln w="12700">
            <a:solidFill>
              <a:schemeClr val="accent2"/>
            </a:solidFill>
            <a:prstDash val="solid"/>
          </a:ln>
        </p:spPr>
      </p:sp>
      <p:sp>
        <p:nvSpPr>
          <p:cNvPr id="18" name="Text 16"/>
          <p:cNvSpPr txBox="1"/>
          <p:nvPr/>
        </p:nvSpPr>
        <p:spPr>
          <a:xfrm>
            <a:off x="5943600" y="4434840"/>
            <a:ext cx="1371600" cy="411480"/>
          </a:xfrm>
          <a:prstGeom prst="rect">
            <a:avLst/>
          </a:prstGeom>
          <a:noFill/>
          <a:ln/>
        </p:spPr>
        <p:txBody>
          <a:bodyPr wrap="square" lIns="0" tIns="0" rIns="0" bIns="0" rtlCol="0" anchor="ctr"/>
          <a:lstStyle/>
          <a:p>
            <a:pPr algn="r" indent="0" marL="0">
              <a:buNone/>
            </a:pPr>
            <a:r>
              <a:rPr lang="en-US" sz="1600" dirty="0">
                <a:solidFill>
                  <a:schemeClr val="tx1"/>
                </a:solidFill>
              </a:rPr>
              <a:t>200 of 200</a:t>
            </a:r>
            <a:endParaRPr lang="en-US" sz="1600" dirty="0"/>
          </a:p>
        </p:txBody>
      </p:sp>
      <p:sp>
        <p:nvSpPr>
          <p:cNvPr id="19" name="Text 17"/>
          <p:cNvSpPr txBox="1"/>
          <p:nvPr/>
        </p:nvSpPr>
        <p:spPr>
          <a:xfrm>
            <a:off x="914400" y="5349240"/>
            <a:ext cx="6309360" cy="457200"/>
          </a:xfrm>
          <a:prstGeom prst="rect">
            <a:avLst/>
          </a:prstGeom>
          <a:noFill/>
          <a:ln/>
        </p:spPr>
        <p:txBody>
          <a:bodyPr wrap="square" lIns="0" tIns="0" rIns="0" bIns="0" rtlCol="0" anchor="t"/>
          <a:lstStyle/>
          <a:p>
            <a:pPr indent="0" marL="0">
              <a:buNone/>
            </a:pPr>
            <a:r>
              <a:rPr lang="en-US" sz="1400" dirty="0">
                <a:solidFill>
                  <a:schemeClr val="accent5"/>
                </a:solidFill>
              </a:rPr>
              <a:t>The original quantities never change. Every return is its own entry on the same handoff.</a:t>
            </a:r>
            <a:endParaRPr lang="en-US" sz="1400" dirty="0"/>
          </a:p>
        </p:txBody>
      </p:sp>
      <p:sp>
        <p:nvSpPr>
          <p:cNvPr id="20" name="Text 18"/>
          <p:cNvSpPr txBox="1"/>
          <p:nvPr/>
        </p:nvSpPr>
        <p:spPr>
          <a:xfrm>
            <a:off x="8138160" y="1463040"/>
            <a:ext cx="3474720" cy="914400"/>
          </a:xfrm>
          <a:prstGeom prst="rect">
            <a:avLst/>
          </a:prstGeom>
          <a:noFill/>
          <a:ln/>
        </p:spPr>
        <p:txBody>
          <a:bodyPr wrap="square" lIns="0" tIns="0" rIns="0" bIns="0" rtlCol="0" anchor="ctr"/>
          <a:lstStyle/>
          <a:p>
            <a:pPr indent="0" marL="0">
              <a:buNone/>
            </a:pPr>
            <a:r>
              <a:rPr lang="en-US" sz="6000" b="1" dirty="0">
                <a:solidFill>
                  <a:schemeClr val="tx1"/>
                </a:solidFill>
              </a:rPr>
              <a:t>780</a:t>
            </a:r>
            <a:endParaRPr lang="en-US" sz="6000" dirty="0"/>
          </a:p>
        </p:txBody>
      </p:sp>
      <p:sp>
        <p:nvSpPr>
          <p:cNvPr id="21" name="Text 19"/>
          <p:cNvSpPr txBox="1"/>
          <p:nvPr/>
        </p:nvSpPr>
        <p:spPr>
          <a:xfrm>
            <a:off x="8138160" y="2377440"/>
            <a:ext cx="3474720" cy="365760"/>
          </a:xfrm>
          <a:prstGeom prst="rect">
            <a:avLst/>
          </a:prstGeom>
          <a:noFill/>
          <a:ln/>
        </p:spPr>
        <p:txBody>
          <a:bodyPr wrap="square" lIns="0" tIns="0" rIns="0" bIns="0" rtlCol="0" anchor="t"/>
          <a:lstStyle/>
          <a:p>
            <a:pPr indent="0" marL="0">
              <a:buNone/>
            </a:pPr>
            <a:r>
              <a:rPr lang="en-US" sz="1800" dirty="0">
                <a:solidFill>
                  <a:schemeClr val="accent5"/>
                </a:solidFill>
              </a:rPr>
              <a:t>Given</a:t>
            </a:r>
            <a:endParaRPr lang="en-US" sz="1800" dirty="0"/>
          </a:p>
        </p:txBody>
      </p:sp>
      <p:sp>
        <p:nvSpPr>
          <p:cNvPr id="22" name="Text 20"/>
          <p:cNvSpPr txBox="1"/>
          <p:nvPr/>
        </p:nvSpPr>
        <p:spPr>
          <a:xfrm>
            <a:off x="8138160" y="2971800"/>
            <a:ext cx="3474720" cy="914400"/>
          </a:xfrm>
          <a:prstGeom prst="rect">
            <a:avLst/>
          </a:prstGeom>
          <a:noFill/>
          <a:ln/>
        </p:spPr>
        <p:txBody>
          <a:bodyPr wrap="square" lIns="0" tIns="0" rIns="0" bIns="0" rtlCol="0" anchor="ctr"/>
          <a:lstStyle/>
          <a:p>
            <a:pPr indent="0" marL="0">
              <a:buNone/>
            </a:pPr>
            <a:r>
              <a:rPr lang="en-US" sz="6000" b="1" dirty="0">
                <a:solidFill>
                  <a:schemeClr val="accent2"/>
                </a:solidFill>
              </a:rPr>
              <a:t>778</a:t>
            </a:r>
            <a:endParaRPr lang="en-US" sz="6000" dirty="0"/>
          </a:p>
        </p:txBody>
      </p:sp>
      <p:sp>
        <p:nvSpPr>
          <p:cNvPr id="23" name="Text 21"/>
          <p:cNvSpPr txBox="1"/>
          <p:nvPr/>
        </p:nvSpPr>
        <p:spPr>
          <a:xfrm>
            <a:off x="8138160" y="3886200"/>
            <a:ext cx="3474720" cy="365760"/>
          </a:xfrm>
          <a:prstGeom prst="rect">
            <a:avLst/>
          </a:prstGeom>
          <a:noFill/>
          <a:ln/>
        </p:spPr>
        <p:txBody>
          <a:bodyPr wrap="square" lIns="0" tIns="0" rIns="0" bIns="0" rtlCol="0" anchor="t"/>
          <a:lstStyle/>
          <a:p>
            <a:pPr indent="0" marL="0">
              <a:buNone/>
            </a:pPr>
            <a:r>
              <a:rPr lang="en-US" sz="1800" dirty="0">
                <a:solidFill>
                  <a:schemeClr val="accent5"/>
                </a:solidFill>
              </a:rPr>
              <a:t>Returned</a:t>
            </a:r>
            <a:endParaRPr lang="en-US" sz="1800" dirty="0"/>
          </a:p>
        </p:txBody>
      </p:sp>
      <p:sp>
        <p:nvSpPr>
          <p:cNvPr id="24" name="Text 22"/>
          <p:cNvSpPr txBox="1"/>
          <p:nvPr/>
        </p:nvSpPr>
        <p:spPr>
          <a:xfrm>
            <a:off x="8138160" y="4480560"/>
            <a:ext cx="3474720" cy="914400"/>
          </a:xfrm>
          <a:prstGeom prst="rect">
            <a:avLst/>
          </a:prstGeom>
          <a:noFill/>
          <a:ln/>
        </p:spPr>
        <p:txBody>
          <a:bodyPr wrap="square" lIns="0" tIns="0" rIns="0" bIns="0" rtlCol="0" anchor="ctr"/>
          <a:lstStyle/>
          <a:p>
            <a:pPr indent="0" marL="0">
              <a:buNone/>
            </a:pPr>
            <a:r>
              <a:rPr lang="en-US" sz="6000" b="1" dirty="0">
                <a:solidFill>
                  <a:schemeClr val="accent3"/>
                </a:solidFill>
              </a:rPr>
              <a:t>2</a:t>
            </a:r>
            <a:endParaRPr lang="en-US" sz="6000" dirty="0"/>
          </a:p>
        </p:txBody>
      </p:sp>
      <p:sp>
        <p:nvSpPr>
          <p:cNvPr id="25" name="Text 23"/>
          <p:cNvSpPr txBox="1"/>
          <p:nvPr/>
        </p:nvSpPr>
        <p:spPr>
          <a:xfrm>
            <a:off x="8138160" y="5394960"/>
            <a:ext cx="3474720" cy="365760"/>
          </a:xfrm>
          <a:prstGeom prst="rect">
            <a:avLst/>
          </a:prstGeom>
          <a:noFill/>
          <a:ln/>
        </p:spPr>
        <p:txBody>
          <a:bodyPr wrap="square" lIns="0" tIns="0" rIns="0" bIns="0" rtlCol="0" anchor="t"/>
          <a:lstStyle/>
          <a:p>
            <a:pPr indent="0" marL="0">
              <a:buNone/>
            </a:pPr>
            <a:r>
              <a:rPr lang="en-US" sz="1800" dirty="0">
                <a:solidFill>
                  <a:schemeClr val="accent5"/>
                </a:solidFill>
              </a:rPr>
              <a:t>Remaining</a:t>
            </a:r>
            <a:endParaRPr lang="en-US" sz="1800" dirty="0"/>
          </a:p>
        </p:txBody>
      </p:sp>
      <p:sp>
        <p:nvSpPr>
          <p:cNvPr id="25" name="Slide Number Placeholder 0"/>
          <p:cNvSpPr>
            <a:spLocks noGrp="1"/>
          </p:cNvSpPr>
          <p:nvPr>
            <p:ph type="sldNum" sz="quarter" idx="4294967295"/>
          </p:nvPr>
        </p:nvSpPr>
        <p:spPr>
          <a:xfrm>
            <a:off x="11045952"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Every handoff shows exactly where it stands</a:t>
            </a:r>
            <a:endParaRPr lang="en-US" sz="3200" dirty="0"/>
          </a:p>
        </p:txBody>
      </p:sp>
      <p:pic>
        <p:nvPicPr>
          <p:cNvPr id="3" name="Screenshot of a handoff showing its lifecycle, totals and items" descr="Screenshot of a handoff showing its lifecycle, totals and items">    </p:cNvPr>
          <p:cNvPicPr>
            <a:picLocks noChangeAspect="1"/>
          </p:cNvPicPr>
          <p:nvPr/>
        </p:nvPicPr>
        <p:blipFill>
          <a:blip r:embed="rId1"/>
          <a:stretch>
            <a:fillRect/>
          </a:stretch>
        </p:blipFill>
        <p:spPr>
          <a:xfrm>
            <a:off x="548640" y="1463040"/>
            <a:ext cx="7315200" cy="4572000"/>
          </a:xfrm>
          <a:prstGeom prst="rect">
            <a:avLst/>
          </a:prstGeom>
          <a:effectLst>
            <a:outerShdw sx="100000" sy="100000" kx="0" ky="0" algn="bl" rotWithShape="0" blurRad="127000" dist="38100" dir="5400000">
              <a:srgbClr val="000000">
                <a:alpha val="22000"/>
              </a:srgbClr>
            </a:outerShdw>
          </a:effectLst>
        </p:spPr>
      </p:pic>
      <p:sp>
        <p:nvSpPr>
          <p:cNvPr id="4" name="icon-circle-FaStream"/>
          <p:cNvSpPr/>
          <p:nvPr/>
        </p:nvSpPr>
        <p:spPr>
          <a:xfrm>
            <a:off x="8229600" y="1463040"/>
            <a:ext cx="640080" cy="640080"/>
          </a:xfrm>
          <a:prstGeom prst="ellipse">
            <a:avLst/>
          </a:prstGeom>
          <a:solidFill>
            <a:srgbClr val="2563EB"/>
          </a:solidFill>
          <a:ln w="12700">
            <a:solidFill>
              <a:srgbClr val="2563EB"/>
            </a:solidFill>
            <a:prstDash val="solid"/>
          </a:ln>
        </p:spPr>
      </p:sp>
      <p:pic>
        <p:nvPicPr>
          <p:cNvPr id="5" name="Image 1" descr="Stream icon">    </p:cNvPr>
          <p:cNvPicPr>
            <a:picLocks noChangeAspect="1"/>
          </p:cNvPicPr>
          <p:nvPr/>
        </p:nvPicPr>
        <p:blipFill>
          <a:blip r:embed="rId2"/>
          <a:stretch>
            <a:fillRect/>
          </a:stretch>
        </p:blipFill>
        <p:spPr>
          <a:xfrm>
            <a:off x="8396021" y="1629461"/>
            <a:ext cx="307238" cy="307238"/>
          </a:xfrm>
          <a:prstGeom prst="rect">
            <a:avLst/>
          </a:prstGeom>
        </p:spPr>
      </p:pic>
      <p:sp>
        <p:nvSpPr>
          <p:cNvPr id="6" name="Text 2"/>
          <p:cNvSpPr txBox="1"/>
          <p:nvPr/>
        </p:nvSpPr>
        <p:spPr>
          <a:xfrm>
            <a:off x="9052560" y="1463040"/>
            <a:ext cx="2606040" cy="365760"/>
          </a:xfrm>
          <a:prstGeom prst="rect">
            <a:avLst/>
          </a:prstGeom>
          <a:noFill/>
          <a:ln/>
        </p:spPr>
        <p:txBody>
          <a:bodyPr wrap="square" lIns="0" tIns="0" rIns="0" bIns="0" rtlCol="0" anchor="ctr"/>
          <a:lstStyle/>
          <a:p>
            <a:pPr indent="0" marL="0">
              <a:buNone/>
            </a:pPr>
            <a:r>
              <a:rPr lang="en-US" sz="1800" b="1" dirty="0">
                <a:solidFill>
                  <a:schemeClr val="tx1"/>
                </a:solidFill>
              </a:rPr>
              <a:t>Lifecycle strip</a:t>
            </a:r>
            <a:endParaRPr lang="en-US" sz="1800" dirty="0"/>
          </a:p>
        </p:txBody>
      </p:sp>
      <p:sp>
        <p:nvSpPr>
          <p:cNvPr id="7" name="Text 3"/>
          <p:cNvSpPr txBox="1"/>
          <p:nvPr/>
        </p:nvSpPr>
        <p:spPr>
          <a:xfrm>
            <a:off x="9052560" y="1920240"/>
            <a:ext cx="2606040" cy="914400"/>
          </a:xfrm>
          <a:prstGeom prst="rect">
            <a:avLst/>
          </a:prstGeom>
          <a:noFill/>
          <a:ln/>
        </p:spPr>
        <p:txBody>
          <a:bodyPr wrap="square" lIns="0" tIns="0" rIns="0" bIns="0" rtlCol="0" anchor="t"/>
          <a:lstStyle/>
          <a:p>
            <a:pPr indent="0" marL="0">
              <a:buNone/>
            </a:pPr>
            <a:r>
              <a:rPr lang="en-US" sz="1400" dirty="0">
                <a:solidFill>
                  <a:schemeClr val="accent5"/>
                </a:solidFill>
              </a:rPr>
              <a:t>The current stage is highlighted, with the path ahead.</a:t>
            </a:r>
            <a:endParaRPr lang="en-US" sz="1400" dirty="0"/>
          </a:p>
        </p:txBody>
      </p:sp>
      <p:sp>
        <p:nvSpPr>
          <p:cNvPr id="8" name="icon-circle-FaListOl"/>
          <p:cNvSpPr/>
          <p:nvPr/>
        </p:nvSpPr>
        <p:spPr>
          <a:xfrm>
            <a:off x="8229600" y="3017520"/>
            <a:ext cx="640080" cy="640080"/>
          </a:xfrm>
          <a:prstGeom prst="ellipse">
            <a:avLst/>
          </a:prstGeom>
          <a:solidFill>
            <a:srgbClr val="2563EB"/>
          </a:solidFill>
          <a:ln w="12700">
            <a:solidFill>
              <a:srgbClr val="2563EB"/>
            </a:solidFill>
            <a:prstDash val="solid"/>
          </a:ln>
        </p:spPr>
      </p:sp>
      <p:pic>
        <p:nvPicPr>
          <p:cNvPr id="9" name="Image 2" descr="ListOl icon">    </p:cNvPr>
          <p:cNvPicPr>
            <a:picLocks noChangeAspect="1"/>
          </p:cNvPicPr>
          <p:nvPr/>
        </p:nvPicPr>
        <p:blipFill>
          <a:blip r:embed="rId3"/>
          <a:stretch>
            <a:fillRect/>
          </a:stretch>
        </p:blipFill>
        <p:spPr>
          <a:xfrm>
            <a:off x="8396021" y="3183941"/>
            <a:ext cx="307238" cy="307238"/>
          </a:xfrm>
          <a:prstGeom prst="rect">
            <a:avLst/>
          </a:prstGeom>
        </p:spPr>
      </p:pic>
      <p:sp>
        <p:nvSpPr>
          <p:cNvPr id="10" name="Text 5"/>
          <p:cNvSpPr txBox="1"/>
          <p:nvPr/>
        </p:nvSpPr>
        <p:spPr>
          <a:xfrm>
            <a:off x="9052560" y="3017520"/>
            <a:ext cx="2606040" cy="365760"/>
          </a:xfrm>
          <a:prstGeom prst="rect">
            <a:avLst/>
          </a:prstGeom>
          <a:noFill/>
          <a:ln/>
        </p:spPr>
        <p:txBody>
          <a:bodyPr wrap="square" lIns="0" tIns="0" rIns="0" bIns="0" rtlCol="0" anchor="ctr"/>
          <a:lstStyle/>
          <a:p>
            <a:pPr indent="0" marL="0">
              <a:buNone/>
            </a:pPr>
            <a:r>
              <a:rPr lang="en-US" sz="1800" b="1" dirty="0">
                <a:solidFill>
                  <a:schemeClr val="tx1"/>
                </a:solidFill>
              </a:rPr>
              <a:t>Totals that add up</a:t>
            </a:r>
            <a:endParaRPr lang="en-US" sz="1800" dirty="0"/>
          </a:p>
        </p:txBody>
      </p:sp>
      <p:sp>
        <p:nvSpPr>
          <p:cNvPr id="11" name="Text 6"/>
          <p:cNvSpPr txBox="1"/>
          <p:nvPr/>
        </p:nvSpPr>
        <p:spPr>
          <a:xfrm>
            <a:off x="9052560" y="3474720"/>
            <a:ext cx="2606040" cy="914400"/>
          </a:xfrm>
          <a:prstGeom prst="rect">
            <a:avLst/>
          </a:prstGeom>
          <a:noFill/>
          <a:ln/>
        </p:spPr>
        <p:txBody>
          <a:bodyPr wrap="square" lIns="0" tIns="0" rIns="0" bIns="0" rtlCol="0" anchor="t"/>
          <a:lstStyle/>
          <a:p>
            <a:pPr indent="0" marL="0">
              <a:buNone/>
            </a:pPr>
            <a:r>
              <a:rPr lang="en-US" sz="1400" dirty="0">
                <a:solidFill>
                  <a:schemeClr val="accent5"/>
                </a:solidFill>
              </a:rPr>
              <a:t>Given, returned, missing and remaining at the top.</a:t>
            </a:r>
            <a:endParaRPr lang="en-US" sz="1400" dirty="0"/>
          </a:p>
        </p:txBody>
      </p:sp>
      <p:sp>
        <p:nvSpPr>
          <p:cNvPr id="12" name="icon-circle-FaMousePointer"/>
          <p:cNvSpPr/>
          <p:nvPr/>
        </p:nvSpPr>
        <p:spPr>
          <a:xfrm>
            <a:off x="8229600" y="4572000"/>
            <a:ext cx="640080" cy="640080"/>
          </a:xfrm>
          <a:prstGeom prst="ellipse">
            <a:avLst/>
          </a:prstGeom>
          <a:solidFill>
            <a:srgbClr val="2563EB"/>
          </a:solidFill>
          <a:ln w="12700">
            <a:solidFill>
              <a:srgbClr val="2563EB"/>
            </a:solidFill>
            <a:prstDash val="solid"/>
          </a:ln>
        </p:spPr>
      </p:sp>
      <p:pic>
        <p:nvPicPr>
          <p:cNvPr id="13" name="Image 3" descr="MousePointer icon">    </p:cNvPr>
          <p:cNvPicPr>
            <a:picLocks noChangeAspect="1"/>
          </p:cNvPicPr>
          <p:nvPr/>
        </p:nvPicPr>
        <p:blipFill>
          <a:blip r:embed="rId4"/>
          <a:stretch>
            <a:fillRect/>
          </a:stretch>
        </p:blipFill>
        <p:spPr>
          <a:xfrm>
            <a:off x="8396021" y="4738421"/>
            <a:ext cx="307238" cy="307238"/>
          </a:xfrm>
          <a:prstGeom prst="rect">
            <a:avLst/>
          </a:prstGeom>
        </p:spPr>
      </p:pic>
      <p:sp>
        <p:nvSpPr>
          <p:cNvPr id="14" name="Text 8"/>
          <p:cNvSpPr txBox="1"/>
          <p:nvPr/>
        </p:nvSpPr>
        <p:spPr>
          <a:xfrm>
            <a:off x="9052560" y="4572000"/>
            <a:ext cx="2606040" cy="365760"/>
          </a:xfrm>
          <a:prstGeom prst="rect">
            <a:avLst/>
          </a:prstGeom>
          <a:noFill/>
          <a:ln/>
        </p:spPr>
        <p:txBody>
          <a:bodyPr wrap="square" lIns="0" tIns="0" rIns="0" bIns="0" rtlCol="0" anchor="ctr"/>
          <a:lstStyle/>
          <a:p>
            <a:pPr indent="0" marL="0">
              <a:buNone/>
            </a:pPr>
            <a:r>
              <a:rPr lang="en-US" sz="1800" b="1" dirty="0">
                <a:solidFill>
                  <a:schemeClr val="tx1"/>
                </a:solidFill>
              </a:rPr>
              <a:t>Next steps offered</a:t>
            </a:r>
            <a:endParaRPr lang="en-US" sz="1800" dirty="0"/>
          </a:p>
        </p:txBody>
      </p:sp>
      <p:sp>
        <p:nvSpPr>
          <p:cNvPr id="15" name="Text 9"/>
          <p:cNvSpPr txBox="1"/>
          <p:nvPr/>
        </p:nvSpPr>
        <p:spPr>
          <a:xfrm>
            <a:off x="9052560" y="5029200"/>
            <a:ext cx="2606040" cy="914400"/>
          </a:xfrm>
          <a:prstGeom prst="rect">
            <a:avLst/>
          </a:prstGeom>
          <a:noFill/>
          <a:ln/>
        </p:spPr>
        <p:txBody>
          <a:bodyPr wrap="square" lIns="0" tIns="0" rIns="0" bIns="0" rtlCol="0" anchor="t"/>
          <a:lstStyle/>
          <a:p>
            <a:pPr indent="0" marL="0">
              <a:buNone/>
            </a:pPr>
            <a:r>
              <a:rPr lang="en-US" sz="1400" dirty="0">
                <a:solidFill>
                  <a:schemeClr val="accent5"/>
                </a:solidFill>
              </a:rPr>
              <a:t>Record return, duplicate, and more, only when they apply.</a:t>
            </a:r>
            <a:endParaRPr lang="en-US" sz="1400" dirty="0"/>
          </a:p>
        </p:txBody>
      </p:sp>
      <p:sp>
        <p:nvSpPr>
          <p:cNvPr id="25" name="Slide Number Placeholder 0"/>
          <p:cNvSpPr>
            <a:spLocks noGrp="1"/>
          </p:cNvSpPr>
          <p:nvPr>
            <p:ph type="sldNum" sz="quarter" idx="4294967295"/>
          </p:nvPr>
        </p:nvSpPr>
        <p:spPr>
          <a:xfrm>
            <a:off x="11045952"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The recipient needs nothing but a link</a:t>
            </a:r>
            <a:endParaRPr lang="en-US" sz="3200" dirty="0"/>
          </a:p>
        </p:txBody>
      </p:sp>
      <p:pic>
        <p:nvPicPr>
          <p:cNvPr id="3" name="recipient-screenshot" descr="Screenshot of the recipient page with items and an acknowledgement form">    </p:cNvPr>
          <p:cNvPicPr>
            <a:picLocks noChangeAspect="1"/>
          </p:cNvPicPr>
          <p:nvPr/>
        </p:nvPicPr>
        <p:blipFill>
          <a:blip r:embed="rId1"/>
          <a:stretch>
            <a:fillRect/>
          </a:stretch>
        </p:blipFill>
        <p:spPr>
          <a:xfrm>
            <a:off x="548640" y="1463040"/>
            <a:ext cx="3840480" cy="4629150"/>
          </a:xfrm>
          <a:prstGeom prst="rect">
            <a:avLst/>
          </a:prstGeom>
          <a:effectLst>
            <a:outerShdw sx="100000" sy="100000" kx="0" ky="0" algn="bl" rotWithShape="0" blurRad="127000" dist="38100" dir="5400000">
              <a:srgbClr val="000000">
                <a:alpha val="22000"/>
              </a:srgbClr>
            </a:outerShdw>
          </a:effectLst>
        </p:spPr>
      </p:pic>
      <p:sp>
        <p:nvSpPr>
          <p:cNvPr id="4" name="icon-circle-FaEnvelope"/>
          <p:cNvSpPr/>
          <p:nvPr/>
        </p:nvSpPr>
        <p:spPr>
          <a:xfrm>
            <a:off x="5029200" y="1463040"/>
            <a:ext cx="685800" cy="685800"/>
          </a:xfrm>
          <a:prstGeom prst="ellipse">
            <a:avLst/>
          </a:prstGeom>
          <a:solidFill>
            <a:srgbClr val="2563EB"/>
          </a:solidFill>
          <a:ln w="12700">
            <a:solidFill>
              <a:srgbClr val="2563EB"/>
            </a:solidFill>
            <a:prstDash val="solid"/>
          </a:ln>
        </p:spPr>
      </p:sp>
      <p:pic>
        <p:nvPicPr>
          <p:cNvPr id="5" name="Image 1" descr="Envelope icon">    </p:cNvPr>
          <p:cNvPicPr>
            <a:picLocks noChangeAspect="1"/>
          </p:cNvPicPr>
          <p:nvPr/>
        </p:nvPicPr>
        <p:blipFill>
          <a:blip r:embed="rId2"/>
          <a:stretch>
            <a:fillRect/>
          </a:stretch>
        </p:blipFill>
        <p:spPr>
          <a:xfrm>
            <a:off x="5207508" y="1641348"/>
            <a:ext cx="329184" cy="329184"/>
          </a:xfrm>
          <a:prstGeom prst="rect">
            <a:avLst/>
          </a:prstGeom>
        </p:spPr>
      </p:pic>
      <p:sp>
        <p:nvSpPr>
          <p:cNvPr id="6" name="Text 2"/>
          <p:cNvSpPr txBox="1"/>
          <p:nvPr/>
        </p:nvSpPr>
        <p:spPr>
          <a:xfrm>
            <a:off x="5943600" y="1463040"/>
            <a:ext cx="5669280" cy="365760"/>
          </a:xfrm>
          <a:prstGeom prst="rect">
            <a:avLst/>
          </a:prstGeom>
          <a:noFill/>
          <a:ln/>
        </p:spPr>
        <p:txBody>
          <a:bodyPr wrap="square" lIns="0" tIns="0" rIns="0" bIns="0" rtlCol="0" anchor="ctr"/>
          <a:lstStyle/>
          <a:p>
            <a:pPr indent="0" marL="0">
              <a:buNone/>
            </a:pPr>
            <a:r>
              <a:rPr lang="en-US" sz="2000" b="1" dirty="0">
                <a:solidFill>
                  <a:schemeClr val="tx1"/>
                </a:solidFill>
              </a:rPr>
              <a:t>You send a secure link</a:t>
            </a:r>
            <a:endParaRPr lang="en-US" sz="2000" dirty="0"/>
          </a:p>
        </p:txBody>
      </p:sp>
      <p:sp>
        <p:nvSpPr>
          <p:cNvPr id="7" name="Text 3"/>
          <p:cNvSpPr txBox="1"/>
          <p:nvPr/>
        </p:nvSpPr>
        <p:spPr>
          <a:xfrm>
            <a:off x="5943600" y="1874520"/>
            <a:ext cx="5669280" cy="640080"/>
          </a:xfrm>
          <a:prstGeom prst="rect">
            <a:avLst/>
          </a:prstGeom>
          <a:noFill/>
          <a:ln/>
        </p:spPr>
        <p:txBody>
          <a:bodyPr wrap="square" lIns="0" tIns="0" rIns="0" bIns="0" rtlCol="0" anchor="t"/>
          <a:lstStyle/>
          <a:p>
            <a:pPr indent="0" marL="0">
              <a:buNone/>
            </a:pPr>
            <a:r>
              <a:rPr lang="en-US" sz="1600" dirty="0">
                <a:solidFill>
                  <a:schemeClr val="accent5"/>
                </a:solidFill>
              </a:rPr>
              <a:t>It opens exactly one handoff, needs no account and expires.</a:t>
            </a:r>
            <a:endParaRPr lang="en-US" sz="1600" dirty="0"/>
          </a:p>
        </p:txBody>
      </p:sp>
      <p:sp>
        <p:nvSpPr>
          <p:cNvPr id="8" name="icon-circle-FaEye"/>
          <p:cNvSpPr/>
          <p:nvPr/>
        </p:nvSpPr>
        <p:spPr>
          <a:xfrm>
            <a:off x="5029200" y="2788920"/>
            <a:ext cx="685800" cy="685800"/>
          </a:xfrm>
          <a:prstGeom prst="ellipse">
            <a:avLst/>
          </a:prstGeom>
          <a:solidFill>
            <a:srgbClr val="2563EB"/>
          </a:solidFill>
          <a:ln w="12700">
            <a:solidFill>
              <a:srgbClr val="2563EB"/>
            </a:solidFill>
            <a:prstDash val="solid"/>
          </a:ln>
        </p:spPr>
      </p:sp>
      <p:pic>
        <p:nvPicPr>
          <p:cNvPr id="9" name="Image 2" descr="Eye icon">    </p:cNvPr>
          <p:cNvPicPr>
            <a:picLocks noChangeAspect="1"/>
          </p:cNvPicPr>
          <p:nvPr/>
        </p:nvPicPr>
        <p:blipFill>
          <a:blip r:embed="rId3"/>
          <a:stretch>
            <a:fillRect/>
          </a:stretch>
        </p:blipFill>
        <p:spPr>
          <a:xfrm>
            <a:off x="5207508" y="2967228"/>
            <a:ext cx="329184" cy="329184"/>
          </a:xfrm>
          <a:prstGeom prst="rect">
            <a:avLst/>
          </a:prstGeom>
        </p:spPr>
      </p:pic>
      <p:sp>
        <p:nvSpPr>
          <p:cNvPr id="10" name="Text 5"/>
          <p:cNvSpPr txBox="1"/>
          <p:nvPr/>
        </p:nvSpPr>
        <p:spPr>
          <a:xfrm>
            <a:off x="5943600" y="2788920"/>
            <a:ext cx="5669280" cy="365760"/>
          </a:xfrm>
          <a:prstGeom prst="rect">
            <a:avLst/>
          </a:prstGeom>
          <a:noFill/>
          <a:ln/>
        </p:spPr>
        <p:txBody>
          <a:bodyPr wrap="square" lIns="0" tIns="0" rIns="0" bIns="0" rtlCol="0" anchor="ctr"/>
          <a:lstStyle/>
          <a:p>
            <a:pPr indent="0" marL="0">
              <a:buNone/>
            </a:pPr>
            <a:r>
              <a:rPr lang="en-US" sz="2000" b="1" dirty="0">
                <a:solidFill>
                  <a:schemeClr val="tx1"/>
                </a:solidFill>
              </a:rPr>
              <a:t>They review the items</a:t>
            </a:r>
            <a:endParaRPr lang="en-US" sz="2000" dirty="0"/>
          </a:p>
        </p:txBody>
      </p:sp>
      <p:sp>
        <p:nvSpPr>
          <p:cNvPr id="11" name="Text 6"/>
          <p:cNvSpPr txBox="1"/>
          <p:nvPr/>
        </p:nvSpPr>
        <p:spPr>
          <a:xfrm>
            <a:off x="5943600" y="3200400"/>
            <a:ext cx="5669280" cy="640080"/>
          </a:xfrm>
          <a:prstGeom prst="rect">
            <a:avLst/>
          </a:prstGeom>
          <a:noFill/>
          <a:ln/>
        </p:spPr>
        <p:txBody>
          <a:bodyPr wrap="square" lIns="0" tIns="0" rIns="0" bIns="0" rtlCol="0" anchor="t"/>
          <a:lstStyle/>
          <a:p>
            <a:pPr indent="0" marL="0">
              <a:buNone/>
            </a:pPr>
            <a:r>
              <a:rPr lang="en-US" sz="1600" dirty="0">
                <a:solidFill>
                  <a:schemeClr val="accent5"/>
                </a:solidFill>
              </a:rPr>
              <a:t>The list, quantities and dates are shown before they respond.</a:t>
            </a:r>
            <a:endParaRPr lang="en-US" sz="1600" dirty="0"/>
          </a:p>
        </p:txBody>
      </p:sp>
      <p:sp>
        <p:nvSpPr>
          <p:cNvPr id="12" name="icon-circle-FaPenFancy"/>
          <p:cNvSpPr/>
          <p:nvPr/>
        </p:nvSpPr>
        <p:spPr>
          <a:xfrm>
            <a:off x="5029200" y="4114800"/>
            <a:ext cx="685800" cy="685800"/>
          </a:xfrm>
          <a:prstGeom prst="ellipse">
            <a:avLst/>
          </a:prstGeom>
          <a:solidFill>
            <a:srgbClr val="2563EB"/>
          </a:solidFill>
          <a:ln w="12700">
            <a:solidFill>
              <a:srgbClr val="2563EB"/>
            </a:solidFill>
            <a:prstDash val="solid"/>
          </a:ln>
        </p:spPr>
      </p:sp>
      <p:pic>
        <p:nvPicPr>
          <p:cNvPr id="13" name="Image 3" descr="PenFancy icon">    </p:cNvPr>
          <p:cNvPicPr>
            <a:picLocks noChangeAspect="1"/>
          </p:cNvPicPr>
          <p:nvPr/>
        </p:nvPicPr>
        <p:blipFill>
          <a:blip r:embed="rId4"/>
          <a:stretch>
            <a:fillRect/>
          </a:stretch>
        </p:blipFill>
        <p:spPr>
          <a:xfrm>
            <a:off x="5207508" y="4293108"/>
            <a:ext cx="329184" cy="329184"/>
          </a:xfrm>
          <a:prstGeom prst="rect">
            <a:avLst/>
          </a:prstGeom>
        </p:spPr>
      </p:pic>
      <p:sp>
        <p:nvSpPr>
          <p:cNvPr id="14" name="Text 8"/>
          <p:cNvSpPr txBox="1"/>
          <p:nvPr/>
        </p:nvSpPr>
        <p:spPr>
          <a:xfrm>
            <a:off x="5943600" y="4114800"/>
            <a:ext cx="5669280" cy="365760"/>
          </a:xfrm>
          <a:prstGeom prst="rect">
            <a:avLst/>
          </a:prstGeom>
          <a:noFill/>
          <a:ln/>
        </p:spPr>
        <p:txBody>
          <a:bodyPr wrap="square" lIns="0" tIns="0" rIns="0" bIns="0" rtlCol="0" anchor="ctr"/>
          <a:lstStyle/>
          <a:p>
            <a:pPr indent="0" marL="0">
              <a:buNone/>
            </a:pPr>
            <a:r>
              <a:rPr lang="en-US" sz="2000" b="1" dirty="0">
                <a:solidFill>
                  <a:schemeClr val="tx1"/>
                </a:solidFill>
              </a:rPr>
              <a:t>They accept or decline</a:t>
            </a:r>
            <a:endParaRPr lang="en-US" sz="2000" dirty="0"/>
          </a:p>
        </p:txBody>
      </p:sp>
      <p:sp>
        <p:nvSpPr>
          <p:cNvPr id="15" name="Text 9"/>
          <p:cNvSpPr txBox="1"/>
          <p:nvPr/>
        </p:nvSpPr>
        <p:spPr>
          <a:xfrm>
            <a:off x="5943600" y="4526280"/>
            <a:ext cx="5669280" cy="640080"/>
          </a:xfrm>
          <a:prstGeom prst="rect">
            <a:avLst/>
          </a:prstGeom>
          <a:noFill/>
          <a:ln/>
        </p:spPr>
        <p:txBody>
          <a:bodyPr wrap="square" lIns="0" tIns="0" rIns="0" bIns="0" rtlCol="0" anchor="t"/>
          <a:lstStyle/>
          <a:p>
            <a:pPr indent="0" marL="0">
              <a:buNone/>
            </a:pPr>
            <a:r>
              <a:rPr lang="en-US" sz="1600" dirty="0">
                <a:solidFill>
                  <a:schemeClr val="accent5"/>
                </a:solidFill>
              </a:rPr>
              <a:t>Accepting records their typed name and the time.</a:t>
            </a:r>
            <a:endParaRPr lang="en-US" sz="1600" dirty="0"/>
          </a:p>
        </p:txBody>
      </p:sp>
      <p:sp>
        <p:nvSpPr>
          <p:cNvPr id="16" name="legal-note"/>
          <p:cNvSpPr/>
          <p:nvPr/>
        </p:nvSpPr>
        <p:spPr>
          <a:xfrm>
            <a:off x="5029200" y="5486400"/>
            <a:ext cx="6611112" cy="685800"/>
          </a:xfrm>
          <a:prstGeom prst="roundRect">
            <a:avLst>
              <a:gd name="adj" fmla="val 16000"/>
            </a:avLst>
          </a:prstGeom>
          <a:solidFill>
            <a:schemeClr val="bg2"/>
          </a:solidFill>
          <a:ln w="12700">
            <a:solidFill>
              <a:schemeClr val="bg2"/>
            </a:solidFill>
            <a:prstDash val="solid"/>
          </a:ln>
        </p:spPr>
      </p:sp>
      <p:sp>
        <p:nvSpPr>
          <p:cNvPr id="17" name="Text 11"/>
          <p:cNvSpPr txBox="1"/>
          <p:nvPr/>
        </p:nvSpPr>
        <p:spPr>
          <a:xfrm>
            <a:off x="5257800" y="5486400"/>
            <a:ext cx="6217920" cy="685800"/>
          </a:xfrm>
          <a:prstGeom prst="rect">
            <a:avLst/>
          </a:prstGeom>
          <a:noFill/>
          <a:ln/>
        </p:spPr>
        <p:txBody>
          <a:bodyPr wrap="square" lIns="0" tIns="0" rIns="0" bIns="0" rtlCol="0" anchor="ctr"/>
          <a:lstStyle/>
          <a:p>
            <a:pPr indent="0" marL="0">
              <a:buNone/>
            </a:pPr>
            <a:r>
              <a:rPr lang="en-US" sz="1400" dirty="0">
                <a:solidFill>
                  <a:schemeClr val="tx1"/>
                </a:solidFill>
              </a:rPr>
              <a:t>A typed acknowledgement records their confirmation. It is not a legally binding e-signature.</a:t>
            </a:r>
            <a:endParaRPr lang="en-US" sz="1400" dirty="0"/>
          </a:p>
        </p:txBody>
      </p:sp>
      <p:sp>
        <p:nvSpPr>
          <p:cNvPr id="25" name="Slide Number Placeholder 0"/>
          <p:cNvSpPr>
            <a:spLocks noGrp="1"/>
          </p:cNvSpPr>
          <p:nvPr>
            <p:ph type="sldNum" sz="quarter" idx="4294967295"/>
          </p:nvPr>
        </p:nvSpPr>
        <p:spPr>
          <a:xfrm>
            <a:off x="11045952"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Built for anything given out and expected back</a:t>
            </a:r>
            <a:endParaRPr lang="en-US" sz="3200" dirty="0"/>
          </a:p>
        </p:txBody>
      </p:sp>
      <p:sp>
        <p:nvSpPr>
          <p:cNvPr id="3" name="industry-card-1"/>
          <p:cNvSpPr/>
          <p:nvPr/>
        </p:nvSpPr>
        <p:spPr>
          <a:xfrm>
            <a:off x="548640" y="1508760"/>
            <a:ext cx="3593592" cy="2057400"/>
          </a:xfrm>
          <a:prstGeom prst="roundRect">
            <a:avLst>
              <a:gd name="adj" fmla="val 5333"/>
            </a:avLst>
          </a:prstGeom>
          <a:solidFill>
            <a:schemeClr val="bg2"/>
          </a:solidFill>
          <a:ln w="12700">
            <a:solidFill>
              <a:schemeClr val="bg2"/>
            </a:solidFill>
            <a:prstDash val="solid"/>
          </a:ln>
        </p:spPr>
      </p:sp>
      <p:sp>
        <p:nvSpPr>
          <p:cNvPr id="4" name="icon-circle-FaChair"/>
          <p:cNvSpPr/>
          <p:nvPr/>
        </p:nvSpPr>
        <p:spPr>
          <a:xfrm>
            <a:off x="868680" y="1828800"/>
            <a:ext cx="685800" cy="685800"/>
          </a:xfrm>
          <a:prstGeom prst="ellipse">
            <a:avLst/>
          </a:prstGeom>
          <a:solidFill>
            <a:srgbClr val="2563EB"/>
          </a:solidFill>
          <a:ln w="12700">
            <a:solidFill>
              <a:srgbClr val="2563EB"/>
            </a:solidFill>
            <a:prstDash val="solid"/>
          </a:ln>
        </p:spPr>
      </p:sp>
      <p:pic>
        <p:nvPicPr>
          <p:cNvPr id="5" name="Image 0" descr="Chair icon">    </p:cNvPr>
          <p:cNvPicPr>
            <a:picLocks noChangeAspect="1"/>
          </p:cNvPicPr>
          <p:nvPr/>
        </p:nvPicPr>
        <p:blipFill>
          <a:blip r:embed="rId1"/>
          <a:stretch>
            <a:fillRect/>
          </a:stretch>
        </p:blipFill>
        <p:spPr>
          <a:xfrm>
            <a:off x="1046988" y="2007108"/>
            <a:ext cx="329184" cy="329184"/>
          </a:xfrm>
          <a:prstGeom prst="rect">
            <a:avLst/>
          </a:prstGeom>
        </p:spPr>
      </p:pic>
      <p:sp>
        <p:nvSpPr>
          <p:cNvPr id="6" name="Text 3"/>
          <p:cNvSpPr txBox="1"/>
          <p:nvPr/>
        </p:nvSpPr>
        <p:spPr>
          <a:xfrm>
            <a:off x="868680" y="2651760"/>
            <a:ext cx="3017520" cy="365760"/>
          </a:xfrm>
          <a:prstGeom prst="rect">
            <a:avLst/>
          </a:prstGeom>
          <a:noFill/>
          <a:ln/>
        </p:spPr>
        <p:txBody>
          <a:bodyPr wrap="square" lIns="0" tIns="0" rIns="0" bIns="0" rtlCol="0" anchor="ctr"/>
          <a:lstStyle/>
          <a:p>
            <a:pPr indent="0" marL="0">
              <a:buNone/>
            </a:pPr>
            <a:r>
              <a:rPr lang="en-US" sz="1800" b="1" dirty="0">
                <a:solidFill>
                  <a:schemeClr val="tx1"/>
                </a:solidFill>
              </a:rPr>
              <a:t>Event and tent-house rental</a:t>
            </a:r>
            <a:endParaRPr lang="en-US" sz="1800" dirty="0"/>
          </a:p>
        </p:txBody>
      </p:sp>
      <p:sp>
        <p:nvSpPr>
          <p:cNvPr id="7" name="Text 4"/>
          <p:cNvSpPr txBox="1"/>
          <p:nvPr/>
        </p:nvSpPr>
        <p:spPr>
          <a:xfrm>
            <a:off x="868680" y="3044952"/>
            <a:ext cx="3017520" cy="365760"/>
          </a:xfrm>
          <a:prstGeom prst="rect">
            <a:avLst/>
          </a:prstGeom>
          <a:noFill/>
          <a:ln/>
        </p:spPr>
        <p:txBody>
          <a:bodyPr wrap="square" lIns="0" tIns="0" rIns="0" bIns="0" rtlCol="0" anchor="t"/>
          <a:lstStyle/>
          <a:p>
            <a:pPr indent="0" marL="0">
              <a:buNone/>
            </a:pPr>
            <a:r>
              <a:rPr lang="en-US" sz="1400" dirty="0">
                <a:solidFill>
                  <a:schemeClr val="accent5"/>
                </a:solidFill>
              </a:rPr>
              <a:t>Chairs, tables, linen, decor</a:t>
            </a:r>
            <a:endParaRPr lang="en-US" sz="1400" dirty="0"/>
          </a:p>
        </p:txBody>
      </p:sp>
      <p:sp>
        <p:nvSpPr>
          <p:cNvPr id="8" name="industry-card-2"/>
          <p:cNvSpPr/>
          <p:nvPr/>
        </p:nvSpPr>
        <p:spPr>
          <a:xfrm>
            <a:off x="4297680" y="1508760"/>
            <a:ext cx="3593592" cy="2057400"/>
          </a:xfrm>
          <a:prstGeom prst="roundRect">
            <a:avLst>
              <a:gd name="adj" fmla="val 5333"/>
            </a:avLst>
          </a:prstGeom>
          <a:solidFill>
            <a:schemeClr val="bg2"/>
          </a:solidFill>
          <a:ln w="12700">
            <a:solidFill>
              <a:schemeClr val="bg2"/>
            </a:solidFill>
            <a:prstDash val="solid"/>
          </a:ln>
        </p:spPr>
      </p:sp>
      <p:sp>
        <p:nvSpPr>
          <p:cNvPr id="9" name="icon-circle-FaHardHat"/>
          <p:cNvSpPr/>
          <p:nvPr/>
        </p:nvSpPr>
        <p:spPr>
          <a:xfrm>
            <a:off x="4617720" y="1828800"/>
            <a:ext cx="685800" cy="685800"/>
          </a:xfrm>
          <a:prstGeom prst="ellipse">
            <a:avLst/>
          </a:prstGeom>
          <a:solidFill>
            <a:srgbClr val="2563EB"/>
          </a:solidFill>
          <a:ln w="12700">
            <a:solidFill>
              <a:srgbClr val="2563EB"/>
            </a:solidFill>
            <a:prstDash val="solid"/>
          </a:ln>
        </p:spPr>
      </p:sp>
      <p:pic>
        <p:nvPicPr>
          <p:cNvPr id="10" name="Image 1" descr="HardHat icon">    </p:cNvPr>
          <p:cNvPicPr>
            <a:picLocks noChangeAspect="1"/>
          </p:cNvPicPr>
          <p:nvPr/>
        </p:nvPicPr>
        <p:blipFill>
          <a:blip r:embed="rId2"/>
          <a:stretch>
            <a:fillRect/>
          </a:stretch>
        </p:blipFill>
        <p:spPr>
          <a:xfrm>
            <a:off x="4796028" y="2007108"/>
            <a:ext cx="329184" cy="329184"/>
          </a:xfrm>
          <a:prstGeom prst="rect">
            <a:avLst/>
          </a:prstGeom>
        </p:spPr>
      </p:pic>
      <p:sp>
        <p:nvSpPr>
          <p:cNvPr id="11" name="Text 7"/>
          <p:cNvSpPr txBox="1"/>
          <p:nvPr/>
        </p:nvSpPr>
        <p:spPr>
          <a:xfrm>
            <a:off x="4617720" y="2651760"/>
            <a:ext cx="3017520" cy="365760"/>
          </a:xfrm>
          <a:prstGeom prst="rect">
            <a:avLst/>
          </a:prstGeom>
          <a:noFill/>
          <a:ln/>
        </p:spPr>
        <p:txBody>
          <a:bodyPr wrap="square" lIns="0" tIns="0" rIns="0" bIns="0" rtlCol="0" anchor="ctr"/>
          <a:lstStyle/>
          <a:p>
            <a:pPr indent="0" marL="0">
              <a:buNone/>
            </a:pPr>
            <a:r>
              <a:rPr lang="en-US" sz="1800" b="1" dirty="0">
                <a:solidFill>
                  <a:schemeClr val="tx1"/>
                </a:solidFill>
              </a:rPr>
              <a:t>Construction and tools</a:t>
            </a:r>
            <a:endParaRPr lang="en-US" sz="1800" dirty="0"/>
          </a:p>
        </p:txBody>
      </p:sp>
      <p:sp>
        <p:nvSpPr>
          <p:cNvPr id="12" name="Text 8"/>
          <p:cNvSpPr txBox="1"/>
          <p:nvPr/>
        </p:nvSpPr>
        <p:spPr>
          <a:xfrm>
            <a:off x="4617720" y="3044952"/>
            <a:ext cx="3017520" cy="365760"/>
          </a:xfrm>
          <a:prstGeom prst="rect">
            <a:avLst/>
          </a:prstGeom>
          <a:noFill/>
          <a:ln/>
        </p:spPr>
        <p:txBody>
          <a:bodyPr wrap="square" lIns="0" tIns="0" rIns="0" bIns="0" rtlCol="0" anchor="t"/>
          <a:lstStyle/>
          <a:p>
            <a:pPr indent="0" marL="0">
              <a:buNone/>
            </a:pPr>
            <a:r>
              <a:rPr lang="en-US" sz="1400" dirty="0">
                <a:solidFill>
                  <a:schemeClr val="accent5"/>
                </a:solidFill>
              </a:rPr>
              <a:t>Drills, ladders, safety gear</a:t>
            </a:r>
            <a:endParaRPr lang="en-US" sz="1400" dirty="0"/>
          </a:p>
        </p:txBody>
      </p:sp>
      <p:sp>
        <p:nvSpPr>
          <p:cNvPr id="13" name="industry-card-3"/>
          <p:cNvSpPr/>
          <p:nvPr/>
        </p:nvSpPr>
        <p:spPr>
          <a:xfrm>
            <a:off x="8046720" y="1508760"/>
            <a:ext cx="3593592" cy="2057400"/>
          </a:xfrm>
          <a:prstGeom prst="roundRect">
            <a:avLst>
              <a:gd name="adj" fmla="val 5333"/>
            </a:avLst>
          </a:prstGeom>
          <a:solidFill>
            <a:schemeClr val="bg2"/>
          </a:solidFill>
          <a:ln w="12700">
            <a:solidFill>
              <a:schemeClr val="bg2"/>
            </a:solidFill>
            <a:prstDash val="solid"/>
          </a:ln>
        </p:spPr>
      </p:sp>
      <p:sp>
        <p:nvSpPr>
          <p:cNvPr id="14" name="icon-circle-FaLaptop"/>
          <p:cNvSpPr/>
          <p:nvPr/>
        </p:nvSpPr>
        <p:spPr>
          <a:xfrm>
            <a:off x="8366760" y="1828800"/>
            <a:ext cx="685800" cy="685800"/>
          </a:xfrm>
          <a:prstGeom prst="ellipse">
            <a:avLst/>
          </a:prstGeom>
          <a:solidFill>
            <a:srgbClr val="2563EB"/>
          </a:solidFill>
          <a:ln w="12700">
            <a:solidFill>
              <a:srgbClr val="2563EB"/>
            </a:solidFill>
            <a:prstDash val="solid"/>
          </a:ln>
        </p:spPr>
      </p:sp>
      <p:pic>
        <p:nvPicPr>
          <p:cNvPr id="15" name="Image 2" descr="Laptop icon">    </p:cNvPr>
          <p:cNvPicPr>
            <a:picLocks noChangeAspect="1"/>
          </p:cNvPicPr>
          <p:nvPr/>
        </p:nvPicPr>
        <p:blipFill>
          <a:blip r:embed="rId3"/>
          <a:stretch>
            <a:fillRect/>
          </a:stretch>
        </p:blipFill>
        <p:spPr>
          <a:xfrm>
            <a:off x="8545068" y="2007108"/>
            <a:ext cx="329184" cy="329184"/>
          </a:xfrm>
          <a:prstGeom prst="rect">
            <a:avLst/>
          </a:prstGeom>
        </p:spPr>
      </p:pic>
      <p:sp>
        <p:nvSpPr>
          <p:cNvPr id="16" name="Text 11"/>
          <p:cNvSpPr txBox="1"/>
          <p:nvPr/>
        </p:nvSpPr>
        <p:spPr>
          <a:xfrm>
            <a:off x="8366760" y="2651760"/>
            <a:ext cx="3017520" cy="365760"/>
          </a:xfrm>
          <a:prstGeom prst="rect">
            <a:avLst/>
          </a:prstGeom>
          <a:noFill/>
          <a:ln/>
        </p:spPr>
        <p:txBody>
          <a:bodyPr wrap="square" lIns="0" tIns="0" rIns="0" bIns="0" rtlCol="0" anchor="ctr"/>
          <a:lstStyle/>
          <a:p>
            <a:pPr indent="0" marL="0">
              <a:buNone/>
            </a:pPr>
            <a:r>
              <a:rPr lang="en-US" sz="1800" b="1" dirty="0">
                <a:solidFill>
                  <a:schemeClr val="tx1"/>
                </a:solidFill>
              </a:rPr>
              <a:t>IT and office assets</a:t>
            </a:r>
            <a:endParaRPr lang="en-US" sz="1800" dirty="0"/>
          </a:p>
        </p:txBody>
      </p:sp>
      <p:sp>
        <p:nvSpPr>
          <p:cNvPr id="17" name="Text 12"/>
          <p:cNvSpPr txBox="1"/>
          <p:nvPr/>
        </p:nvSpPr>
        <p:spPr>
          <a:xfrm>
            <a:off x="8366760" y="3044952"/>
            <a:ext cx="3017520" cy="365760"/>
          </a:xfrm>
          <a:prstGeom prst="rect">
            <a:avLst/>
          </a:prstGeom>
          <a:noFill/>
          <a:ln/>
        </p:spPr>
        <p:txBody>
          <a:bodyPr wrap="square" lIns="0" tIns="0" rIns="0" bIns="0" rtlCol="0" anchor="t"/>
          <a:lstStyle/>
          <a:p>
            <a:pPr indent="0" marL="0">
              <a:buNone/>
            </a:pPr>
            <a:r>
              <a:rPr lang="en-US" sz="1400" dirty="0">
                <a:solidFill>
                  <a:schemeClr val="accent5"/>
                </a:solidFill>
              </a:rPr>
              <a:t>Laptops, phones, accessories</a:t>
            </a:r>
            <a:endParaRPr lang="en-US" sz="1400" dirty="0"/>
          </a:p>
        </p:txBody>
      </p:sp>
      <p:sp>
        <p:nvSpPr>
          <p:cNvPr id="18" name="industry-card-4"/>
          <p:cNvSpPr/>
          <p:nvPr/>
        </p:nvSpPr>
        <p:spPr>
          <a:xfrm>
            <a:off x="548640" y="3749040"/>
            <a:ext cx="3593592" cy="2057400"/>
          </a:xfrm>
          <a:prstGeom prst="roundRect">
            <a:avLst>
              <a:gd name="adj" fmla="val 5333"/>
            </a:avLst>
          </a:prstGeom>
          <a:solidFill>
            <a:schemeClr val="bg2"/>
          </a:solidFill>
          <a:ln w="12700">
            <a:solidFill>
              <a:schemeClr val="bg2"/>
            </a:solidFill>
            <a:prstDash val="solid"/>
          </a:ln>
        </p:spPr>
      </p:sp>
      <p:sp>
        <p:nvSpPr>
          <p:cNvPr id="19" name="icon-circle-FaSchool"/>
          <p:cNvSpPr/>
          <p:nvPr/>
        </p:nvSpPr>
        <p:spPr>
          <a:xfrm>
            <a:off x="868680" y="4069080"/>
            <a:ext cx="685800" cy="685800"/>
          </a:xfrm>
          <a:prstGeom prst="ellipse">
            <a:avLst/>
          </a:prstGeom>
          <a:solidFill>
            <a:srgbClr val="2563EB"/>
          </a:solidFill>
          <a:ln w="12700">
            <a:solidFill>
              <a:srgbClr val="2563EB"/>
            </a:solidFill>
            <a:prstDash val="solid"/>
          </a:ln>
        </p:spPr>
      </p:sp>
      <p:pic>
        <p:nvPicPr>
          <p:cNvPr id="20" name="Image 3" descr="School icon">    </p:cNvPr>
          <p:cNvPicPr>
            <a:picLocks noChangeAspect="1"/>
          </p:cNvPicPr>
          <p:nvPr/>
        </p:nvPicPr>
        <p:blipFill>
          <a:blip r:embed="rId4"/>
          <a:stretch>
            <a:fillRect/>
          </a:stretch>
        </p:blipFill>
        <p:spPr>
          <a:xfrm>
            <a:off x="1046988" y="4247388"/>
            <a:ext cx="329184" cy="329184"/>
          </a:xfrm>
          <a:prstGeom prst="rect">
            <a:avLst/>
          </a:prstGeom>
        </p:spPr>
      </p:pic>
      <p:sp>
        <p:nvSpPr>
          <p:cNvPr id="21" name="Text 15"/>
          <p:cNvSpPr txBox="1"/>
          <p:nvPr/>
        </p:nvSpPr>
        <p:spPr>
          <a:xfrm>
            <a:off x="868680" y="4892040"/>
            <a:ext cx="3017520" cy="365760"/>
          </a:xfrm>
          <a:prstGeom prst="rect">
            <a:avLst/>
          </a:prstGeom>
          <a:noFill/>
          <a:ln/>
        </p:spPr>
        <p:txBody>
          <a:bodyPr wrap="square" lIns="0" tIns="0" rIns="0" bIns="0" rtlCol="0" anchor="ctr"/>
          <a:lstStyle/>
          <a:p>
            <a:pPr indent="0" marL="0">
              <a:buNone/>
            </a:pPr>
            <a:r>
              <a:rPr lang="en-US" sz="1800" b="1" dirty="0">
                <a:solidFill>
                  <a:schemeClr val="tx1"/>
                </a:solidFill>
              </a:rPr>
              <a:t>Schools and institutions</a:t>
            </a:r>
            <a:endParaRPr lang="en-US" sz="1800" dirty="0"/>
          </a:p>
        </p:txBody>
      </p:sp>
      <p:sp>
        <p:nvSpPr>
          <p:cNvPr id="22" name="Text 16"/>
          <p:cNvSpPr txBox="1"/>
          <p:nvPr/>
        </p:nvSpPr>
        <p:spPr>
          <a:xfrm>
            <a:off x="868680" y="5285232"/>
            <a:ext cx="3017520" cy="365760"/>
          </a:xfrm>
          <a:prstGeom prst="rect">
            <a:avLst/>
          </a:prstGeom>
          <a:noFill/>
          <a:ln/>
        </p:spPr>
        <p:txBody>
          <a:bodyPr wrap="square" lIns="0" tIns="0" rIns="0" bIns="0" rtlCol="0" anchor="t"/>
          <a:lstStyle/>
          <a:p>
            <a:pPr indent="0" marL="0">
              <a:buNone/>
            </a:pPr>
            <a:r>
              <a:rPr lang="en-US" sz="1400" dirty="0">
                <a:solidFill>
                  <a:schemeClr val="accent5"/>
                </a:solidFill>
              </a:rPr>
              <a:t>Books, lab equipment, devices</a:t>
            </a:r>
            <a:endParaRPr lang="en-US" sz="1400" dirty="0"/>
          </a:p>
        </p:txBody>
      </p:sp>
      <p:sp>
        <p:nvSpPr>
          <p:cNvPr id="23" name="industry-card-5"/>
          <p:cNvSpPr/>
          <p:nvPr/>
        </p:nvSpPr>
        <p:spPr>
          <a:xfrm>
            <a:off x="4297680" y="3749040"/>
            <a:ext cx="3593592" cy="2057400"/>
          </a:xfrm>
          <a:prstGeom prst="roundRect">
            <a:avLst>
              <a:gd name="adj" fmla="val 5333"/>
            </a:avLst>
          </a:prstGeom>
          <a:solidFill>
            <a:schemeClr val="bg2"/>
          </a:solidFill>
          <a:ln w="12700">
            <a:solidFill>
              <a:schemeClr val="bg2"/>
            </a:solidFill>
            <a:prstDash val="solid"/>
          </a:ln>
        </p:spPr>
      </p:sp>
      <p:sp>
        <p:nvSpPr>
          <p:cNvPr id="24" name="icon-circle-FaKey"/>
          <p:cNvSpPr/>
          <p:nvPr/>
        </p:nvSpPr>
        <p:spPr>
          <a:xfrm>
            <a:off x="4617720" y="4069080"/>
            <a:ext cx="685800" cy="685800"/>
          </a:xfrm>
          <a:prstGeom prst="ellipse">
            <a:avLst/>
          </a:prstGeom>
          <a:solidFill>
            <a:srgbClr val="2563EB"/>
          </a:solidFill>
          <a:ln w="12700">
            <a:solidFill>
              <a:srgbClr val="2563EB"/>
            </a:solidFill>
            <a:prstDash val="solid"/>
          </a:ln>
        </p:spPr>
      </p:sp>
      <p:pic>
        <p:nvPicPr>
          <p:cNvPr id="25" name="Image 4" descr="Key icon">    </p:cNvPr>
          <p:cNvPicPr>
            <a:picLocks noChangeAspect="1"/>
          </p:cNvPicPr>
          <p:nvPr/>
        </p:nvPicPr>
        <p:blipFill>
          <a:blip r:embed="rId5"/>
          <a:stretch>
            <a:fillRect/>
          </a:stretch>
        </p:blipFill>
        <p:spPr>
          <a:xfrm>
            <a:off x="4796028" y="4247388"/>
            <a:ext cx="329184" cy="329184"/>
          </a:xfrm>
          <a:prstGeom prst="rect">
            <a:avLst/>
          </a:prstGeom>
        </p:spPr>
      </p:pic>
      <p:sp>
        <p:nvSpPr>
          <p:cNvPr id="26" name="Text 19"/>
          <p:cNvSpPr txBox="1"/>
          <p:nvPr/>
        </p:nvSpPr>
        <p:spPr>
          <a:xfrm>
            <a:off x="4617720" y="4892040"/>
            <a:ext cx="3017520" cy="365760"/>
          </a:xfrm>
          <a:prstGeom prst="rect">
            <a:avLst/>
          </a:prstGeom>
          <a:noFill/>
          <a:ln/>
        </p:spPr>
        <p:txBody>
          <a:bodyPr wrap="square" lIns="0" tIns="0" rIns="0" bIns="0" rtlCol="0" anchor="ctr"/>
          <a:lstStyle/>
          <a:p>
            <a:pPr indent="0" marL="0">
              <a:buNone/>
            </a:pPr>
            <a:r>
              <a:rPr lang="en-US" sz="1800" b="1" dirty="0">
                <a:solidFill>
                  <a:schemeClr val="tx1"/>
                </a:solidFill>
              </a:rPr>
              <a:t>Keys and access items</a:t>
            </a:r>
            <a:endParaRPr lang="en-US" sz="1800" dirty="0"/>
          </a:p>
        </p:txBody>
      </p:sp>
      <p:sp>
        <p:nvSpPr>
          <p:cNvPr id="27" name="Text 20"/>
          <p:cNvSpPr txBox="1"/>
          <p:nvPr/>
        </p:nvSpPr>
        <p:spPr>
          <a:xfrm>
            <a:off x="4617720" y="5285232"/>
            <a:ext cx="3017520" cy="365760"/>
          </a:xfrm>
          <a:prstGeom prst="rect">
            <a:avLst/>
          </a:prstGeom>
          <a:noFill/>
          <a:ln/>
        </p:spPr>
        <p:txBody>
          <a:bodyPr wrap="square" lIns="0" tIns="0" rIns="0" bIns="0" rtlCol="0" anchor="t"/>
          <a:lstStyle/>
          <a:p>
            <a:pPr indent="0" marL="0">
              <a:buNone/>
            </a:pPr>
            <a:r>
              <a:rPr lang="en-US" sz="1400" dirty="0">
                <a:solidFill>
                  <a:schemeClr val="accent5"/>
                </a:solidFill>
              </a:rPr>
              <a:t>Keys, cards, remotes</a:t>
            </a:r>
            <a:endParaRPr lang="en-US" sz="1400" dirty="0"/>
          </a:p>
        </p:txBody>
      </p:sp>
      <p:sp>
        <p:nvSpPr>
          <p:cNvPr id="28" name="industry-card-6"/>
          <p:cNvSpPr/>
          <p:nvPr/>
        </p:nvSpPr>
        <p:spPr>
          <a:xfrm>
            <a:off x="8046720" y="3749040"/>
            <a:ext cx="3593592" cy="2057400"/>
          </a:xfrm>
          <a:prstGeom prst="roundRect">
            <a:avLst>
              <a:gd name="adj" fmla="val 5333"/>
            </a:avLst>
          </a:prstGeom>
          <a:solidFill>
            <a:schemeClr val="bg2"/>
          </a:solidFill>
          <a:ln w="12700">
            <a:solidFill>
              <a:schemeClr val="bg2"/>
            </a:solidFill>
            <a:prstDash val="solid"/>
          </a:ln>
        </p:spPr>
      </p:sp>
      <p:sp>
        <p:nvSpPr>
          <p:cNvPr id="29" name="icon-circle-FaWrench"/>
          <p:cNvSpPr/>
          <p:nvPr/>
        </p:nvSpPr>
        <p:spPr>
          <a:xfrm>
            <a:off x="8366760" y="4069080"/>
            <a:ext cx="685800" cy="685800"/>
          </a:xfrm>
          <a:prstGeom prst="ellipse">
            <a:avLst/>
          </a:prstGeom>
          <a:solidFill>
            <a:srgbClr val="2563EB"/>
          </a:solidFill>
          <a:ln w="12700">
            <a:solidFill>
              <a:srgbClr val="2563EB"/>
            </a:solidFill>
            <a:prstDash val="solid"/>
          </a:ln>
        </p:spPr>
      </p:sp>
      <p:pic>
        <p:nvPicPr>
          <p:cNvPr id="30" name="Image 5" descr="Wrench icon">    </p:cNvPr>
          <p:cNvPicPr>
            <a:picLocks noChangeAspect="1"/>
          </p:cNvPicPr>
          <p:nvPr/>
        </p:nvPicPr>
        <p:blipFill>
          <a:blip r:embed="rId6"/>
          <a:stretch>
            <a:fillRect/>
          </a:stretch>
        </p:blipFill>
        <p:spPr>
          <a:xfrm>
            <a:off x="8545068" y="4247388"/>
            <a:ext cx="329184" cy="329184"/>
          </a:xfrm>
          <a:prstGeom prst="rect">
            <a:avLst/>
          </a:prstGeom>
        </p:spPr>
      </p:pic>
      <p:sp>
        <p:nvSpPr>
          <p:cNvPr id="31" name="Text 23"/>
          <p:cNvSpPr txBox="1"/>
          <p:nvPr/>
        </p:nvSpPr>
        <p:spPr>
          <a:xfrm>
            <a:off x="8366760" y="4892040"/>
            <a:ext cx="3017520" cy="365760"/>
          </a:xfrm>
          <a:prstGeom prst="rect">
            <a:avLst/>
          </a:prstGeom>
          <a:noFill/>
          <a:ln/>
        </p:spPr>
        <p:txBody>
          <a:bodyPr wrap="square" lIns="0" tIns="0" rIns="0" bIns="0" rtlCol="0" anchor="ctr"/>
          <a:lstStyle/>
          <a:p>
            <a:pPr indent="0" marL="0">
              <a:buNone/>
            </a:pPr>
            <a:r>
              <a:rPr lang="en-US" sz="1800" b="1" dirty="0">
                <a:solidFill>
                  <a:schemeClr val="tx1"/>
                </a:solidFill>
              </a:rPr>
              <a:t>Repair and service shops</a:t>
            </a:r>
            <a:endParaRPr lang="en-US" sz="1800" dirty="0"/>
          </a:p>
        </p:txBody>
      </p:sp>
      <p:sp>
        <p:nvSpPr>
          <p:cNvPr id="32" name="Text 24"/>
          <p:cNvSpPr txBox="1"/>
          <p:nvPr/>
        </p:nvSpPr>
        <p:spPr>
          <a:xfrm>
            <a:off x="8366760" y="5285232"/>
            <a:ext cx="3017520" cy="365760"/>
          </a:xfrm>
          <a:prstGeom prst="rect">
            <a:avLst/>
          </a:prstGeom>
          <a:noFill/>
          <a:ln/>
        </p:spPr>
        <p:txBody>
          <a:bodyPr wrap="square" lIns="0" tIns="0" rIns="0" bIns="0" rtlCol="0" anchor="t"/>
          <a:lstStyle/>
          <a:p>
            <a:pPr indent="0" marL="0">
              <a:buNone/>
            </a:pPr>
            <a:r>
              <a:rPr lang="en-US" sz="1400" dirty="0">
                <a:solidFill>
                  <a:schemeClr val="accent5"/>
                </a:solidFill>
              </a:rPr>
              <a:t>Customer items, spare parts</a:t>
            </a:r>
            <a:endParaRPr lang="en-US" sz="1400" dirty="0"/>
          </a:p>
        </p:txBody>
      </p:sp>
      <p:sp>
        <p:nvSpPr>
          <p:cNvPr id="25" name="Slide Number Placeholder 0"/>
          <p:cNvSpPr>
            <a:spLocks noGrp="1"/>
          </p:cNvSpPr>
          <p:nvPr>
            <p:ph type="sldNum" sz="quarter" idx="4294967295"/>
          </p:nvPr>
        </p:nvSpPr>
        <p:spPr>
          <a:xfrm>
            <a:off x="11045952"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Everything a handoff needs</a:t>
            </a:r>
            <a:endParaRPr lang="en-US" sz="3200" dirty="0"/>
          </a:p>
        </p:txBody>
      </p:sp>
      <p:sp>
        <p:nvSpPr>
          <p:cNvPr id="3" name="capability-card-1"/>
          <p:cNvSpPr/>
          <p:nvPr/>
        </p:nvSpPr>
        <p:spPr>
          <a:xfrm>
            <a:off x="548640" y="1417320"/>
            <a:ext cx="3593592" cy="1965960"/>
          </a:xfrm>
          <a:prstGeom prst="roundRect">
            <a:avLst>
              <a:gd name="adj" fmla="val 5581"/>
            </a:avLst>
          </a:prstGeom>
          <a:solidFill>
            <a:schemeClr val="bg2"/>
          </a:solidFill>
          <a:ln w="12700">
            <a:solidFill>
              <a:schemeClr val="bg2"/>
            </a:solidFill>
            <a:prstDash val="solid"/>
          </a:ln>
        </p:spPr>
      </p:sp>
      <p:sp>
        <p:nvSpPr>
          <p:cNvPr id="4" name="icon-circle-FaHandshake"/>
          <p:cNvSpPr/>
          <p:nvPr/>
        </p:nvSpPr>
        <p:spPr>
          <a:xfrm>
            <a:off x="822960" y="1691640"/>
            <a:ext cx="594360" cy="594360"/>
          </a:xfrm>
          <a:prstGeom prst="ellipse">
            <a:avLst/>
          </a:prstGeom>
          <a:solidFill>
            <a:srgbClr val="0E9F8E"/>
          </a:solidFill>
          <a:ln w="12700">
            <a:solidFill>
              <a:srgbClr val="0E9F8E"/>
            </a:solidFill>
            <a:prstDash val="solid"/>
          </a:ln>
        </p:spPr>
      </p:sp>
      <p:pic>
        <p:nvPicPr>
          <p:cNvPr id="5" name="Image 0" descr="Handshake icon">    </p:cNvPr>
          <p:cNvPicPr>
            <a:picLocks noChangeAspect="1"/>
          </p:cNvPicPr>
          <p:nvPr/>
        </p:nvPicPr>
        <p:blipFill>
          <a:blip r:embed="rId1"/>
          <a:stretch>
            <a:fillRect/>
          </a:stretch>
        </p:blipFill>
        <p:spPr>
          <a:xfrm>
            <a:off x="977494" y="1846174"/>
            <a:ext cx="285293" cy="285293"/>
          </a:xfrm>
          <a:prstGeom prst="rect">
            <a:avLst/>
          </a:prstGeom>
        </p:spPr>
      </p:pic>
      <p:sp>
        <p:nvSpPr>
          <p:cNvPr id="6" name="Text 3"/>
          <p:cNvSpPr txBox="1"/>
          <p:nvPr/>
        </p:nvSpPr>
        <p:spPr>
          <a:xfrm>
            <a:off x="1600200" y="1691640"/>
            <a:ext cx="2377440" cy="594360"/>
          </a:xfrm>
          <a:prstGeom prst="rect">
            <a:avLst/>
          </a:prstGeom>
          <a:noFill/>
          <a:ln/>
        </p:spPr>
        <p:txBody>
          <a:bodyPr wrap="square" lIns="0" tIns="0" rIns="0" bIns="0" rtlCol="0" anchor="ctr"/>
          <a:lstStyle/>
          <a:p>
            <a:pPr indent="0" marL="0">
              <a:buNone/>
            </a:pPr>
            <a:r>
              <a:rPr lang="en-US" sz="1700" b="1" dirty="0">
                <a:solidFill>
                  <a:schemeClr val="tx1"/>
                </a:solidFill>
              </a:rPr>
              <a:t>Proof of handoff</a:t>
            </a:r>
            <a:endParaRPr lang="en-US" sz="1700" dirty="0"/>
          </a:p>
        </p:txBody>
      </p:sp>
      <p:sp>
        <p:nvSpPr>
          <p:cNvPr id="7" name="Text 4"/>
          <p:cNvSpPr txBox="1"/>
          <p:nvPr/>
        </p:nvSpPr>
        <p:spPr>
          <a:xfrm>
            <a:off x="822960" y="2468880"/>
            <a:ext cx="3063240" cy="822960"/>
          </a:xfrm>
          <a:prstGeom prst="rect">
            <a:avLst/>
          </a:prstGeom>
          <a:noFill/>
          <a:ln/>
        </p:spPr>
        <p:txBody>
          <a:bodyPr wrap="square" lIns="0" tIns="0" rIns="0" bIns="0" rtlCol="0" anchor="t"/>
          <a:lstStyle/>
          <a:p>
            <a:pPr indent="0" marL="0">
              <a:buNone/>
            </a:pPr>
            <a:r>
              <a:rPr lang="en-US" sz="1400" dirty="0">
                <a:solidFill>
                  <a:schemeClr val="accent5"/>
                </a:solidFill>
              </a:rPr>
              <a:t>Items, quantities, recipient, time and acknowledgement in one record.</a:t>
            </a:r>
            <a:endParaRPr lang="en-US" sz="1400" dirty="0"/>
          </a:p>
        </p:txBody>
      </p:sp>
      <p:sp>
        <p:nvSpPr>
          <p:cNvPr id="8" name="capability-card-2"/>
          <p:cNvSpPr/>
          <p:nvPr/>
        </p:nvSpPr>
        <p:spPr>
          <a:xfrm>
            <a:off x="4297680" y="1417320"/>
            <a:ext cx="3593592" cy="1965960"/>
          </a:xfrm>
          <a:prstGeom prst="roundRect">
            <a:avLst>
              <a:gd name="adj" fmla="val 5581"/>
            </a:avLst>
          </a:prstGeom>
          <a:solidFill>
            <a:schemeClr val="bg2"/>
          </a:solidFill>
          <a:ln w="12700">
            <a:solidFill>
              <a:schemeClr val="bg2"/>
            </a:solidFill>
            <a:prstDash val="solid"/>
          </a:ln>
        </p:spPr>
      </p:sp>
      <p:sp>
        <p:nvSpPr>
          <p:cNvPr id="9" name="icon-circle-FaLink"/>
          <p:cNvSpPr/>
          <p:nvPr/>
        </p:nvSpPr>
        <p:spPr>
          <a:xfrm>
            <a:off x="4572000" y="1691640"/>
            <a:ext cx="594360" cy="594360"/>
          </a:xfrm>
          <a:prstGeom prst="ellipse">
            <a:avLst/>
          </a:prstGeom>
          <a:solidFill>
            <a:srgbClr val="0E9F8E"/>
          </a:solidFill>
          <a:ln w="12700">
            <a:solidFill>
              <a:srgbClr val="0E9F8E"/>
            </a:solidFill>
            <a:prstDash val="solid"/>
          </a:ln>
        </p:spPr>
      </p:sp>
      <p:pic>
        <p:nvPicPr>
          <p:cNvPr id="10" name="Image 1" descr="Link icon">    </p:cNvPr>
          <p:cNvPicPr>
            <a:picLocks noChangeAspect="1"/>
          </p:cNvPicPr>
          <p:nvPr/>
        </p:nvPicPr>
        <p:blipFill>
          <a:blip r:embed="rId2"/>
          <a:stretch>
            <a:fillRect/>
          </a:stretch>
        </p:blipFill>
        <p:spPr>
          <a:xfrm>
            <a:off x="4726534" y="1846174"/>
            <a:ext cx="285293" cy="285293"/>
          </a:xfrm>
          <a:prstGeom prst="rect">
            <a:avLst/>
          </a:prstGeom>
        </p:spPr>
      </p:pic>
      <p:sp>
        <p:nvSpPr>
          <p:cNvPr id="11" name="Text 7"/>
          <p:cNvSpPr txBox="1"/>
          <p:nvPr/>
        </p:nvSpPr>
        <p:spPr>
          <a:xfrm>
            <a:off x="5349240" y="1691640"/>
            <a:ext cx="2377440" cy="594360"/>
          </a:xfrm>
          <a:prstGeom prst="rect">
            <a:avLst/>
          </a:prstGeom>
          <a:noFill/>
          <a:ln/>
        </p:spPr>
        <p:txBody>
          <a:bodyPr wrap="square" lIns="0" tIns="0" rIns="0" bIns="0" rtlCol="0" anchor="ctr"/>
          <a:lstStyle/>
          <a:p>
            <a:pPr indent="0" marL="0">
              <a:buNone/>
            </a:pPr>
            <a:r>
              <a:rPr lang="en-US" sz="1700" b="1" dirty="0">
                <a:solidFill>
                  <a:schemeClr val="tx1"/>
                </a:solidFill>
              </a:rPr>
              <a:t>Secure recipient link</a:t>
            </a:r>
            <a:endParaRPr lang="en-US" sz="1700" dirty="0"/>
          </a:p>
        </p:txBody>
      </p:sp>
      <p:sp>
        <p:nvSpPr>
          <p:cNvPr id="12" name="Text 8"/>
          <p:cNvSpPr txBox="1"/>
          <p:nvPr/>
        </p:nvSpPr>
        <p:spPr>
          <a:xfrm>
            <a:off x="4572000" y="2468880"/>
            <a:ext cx="3063240" cy="822960"/>
          </a:xfrm>
          <a:prstGeom prst="rect">
            <a:avLst/>
          </a:prstGeom>
          <a:noFill/>
          <a:ln/>
        </p:spPr>
        <p:txBody>
          <a:bodyPr wrap="square" lIns="0" tIns="0" rIns="0" bIns="0" rtlCol="0" anchor="t"/>
          <a:lstStyle/>
          <a:p>
            <a:pPr indent="0" marL="0">
              <a:buNone/>
            </a:pPr>
            <a:r>
              <a:rPr lang="en-US" sz="1400" dirty="0">
                <a:solidFill>
                  <a:schemeClr val="accent5"/>
                </a:solidFill>
              </a:rPr>
              <a:t>One handoff per link, no account needed, and it expires.</a:t>
            </a:r>
            <a:endParaRPr lang="en-US" sz="1400" dirty="0"/>
          </a:p>
        </p:txBody>
      </p:sp>
      <p:sp>
        <p:nvSpPr>
          <p:cNvPr id="13" name="capability-card-3"/>
          <p:cNvSpPr/>
          <p:nvPr/>
        </p:nvSpPr>
        <p:spPr>
          <a:xfrm>
            <a:off x="8046720" y="1417320"/>
            <a:ext cx="3593592" cy="1965960"/>
          </a:xfrm>
          <a:prstGeom prst="roundRect">
            <a:avLst>
              <a:gd name="adj" fmla="val 5581"/>
            </a:avLst>
          </a:prstGeom>
          <a:solidFill>
            <a:schemeClr val="bg2"/>
          </a:solidFill>
          <a:ln w="12700">
            <a:solidFill>
              <a:schemeClr val="bg2"/>
            </a:solidFill>
            <a:prstDash val="solid"/>
          </a:ln>
        </p:spPr>
      </p:sp>
      <p:sp>
        <p:nvSpPr>
          <p:cNvPr id="14" name="icon-circle-FaUndoAlt"/>
          <p:cNvSpPr/>
          <p:nvPr/>
        </p:nvSpPr>
        <p:spPr>
          <a:xfrm>
            <a:off x="8321040" y="1691640"/>
            <a:ext cx="594360" cy="594360"/>
          </a:xfrm>
          <a:prstGeom prst="ellipse">
            <a:avLst/>
          </a:prstGeom>
          <a:solidFill>
            <a:srgbClr val="0E9F8E"/>
          </a:solidFill>
          <a:ln w="12700">
            <a:solidFill>
              <a:srgbClr val="0E9F8E"/>
            </a:solidFill>
            <a:prstDash val="solid"/>
          </a:ln>
        </p:spPr>
      </p:sp>
      <p:pic>
        <p:nvPicPr>
          <p:cNvPr id="15" name="Image 2" descr="UndoAlt icon">    </p:cNvPr>
          <p:cNvPicPr>
            <a:picLocks noChangeAspect="1"/>
          </p:cNvPicPr>
          <p:nvPr/>
        </p:nvPicPr>
        <p:blipFill>
          <a:blip r:embed="rId3"/>
          <a:stretch>
            <a:fillRect/>
          </a:stretch>
        </p:blipFill>
        <p:spPr>
          <a:xfrm>
            <a:off x="8475574" y="1846174"/>
            <a:ext cx="285293" cy="285293"/>
          </a:xfrm>
          <a:prstGeom prst="rect">
            <a:avLst/>
          </a:prstGeom>
        </p:spPr>
      </p:pic>
      <p:sp>
        <p:nvSpPr>
          <p:cNvPr id="16" name="Text 11"/>
          <p:cNvSpPr txBox="1"/>
          <p:nvPr/>
        </p:nvSpPr>
        <p:spPr>
          <a:xfrm>
            <a:off x="9098280" y="1691640"/>
            <a:ext cx="2377440" cy="594360"/>
          </a:xfrm>
          <a:prstGeom prst="rect">
            <a:avLst/>
          </a:prstGeom>
          <a:noFill/>
          <a:ln/>
        </p:spPr>
        <p:txBody>
          <a:bodyPr wrap="square" lIns="0" tIns="0" rIns="0" bIns="0" rtlCol="0" anchor="ctr"/>
          <a:lstStyle/>
          <a:p>
            <a:pPr indent="0" marL="0">
              <a:buNone/>
            </a:pPr>
            <a:r>
              <a:rPr lang="en-US" sz="1700" b="1" dirty="0">
                <a:solidFill>
                  <a:schemeClr val="tx1"/>
                </a:solidFill>
              </a:rPr>
              <a:t>Partial and multiple returns</a:t>
            </a:r>
            <a:endParaRPr lang="en-US" sz="1700" dirty="0"/>
          </a:p>
        </p:txBody>
      </p:sp>
      <p:sp>
        <p:nvSpPr>
          <p:cNvPr id="17" name="Text 12"/>
          <p:cNvSpPr txBox="1"/>
          <p:nvPr/>
        </p:nvSpPr>
        <p:spPr>
          <a:xfrm>
            <a:off x="8321040" y="2468880"/>
            <a:ext cx="3063240" cy="822960"/>
          </a:xfrm>
          <a:prstGeom prst="rect">
            <a:avLst/>
          </a:prstGeom>
          <a:noFill/>
          <a:ln/>
        </p:spPr>
        <p:txBody>
          <a:bodyPr wrap="square" lIns="0" tIns="0" rIns="0" bIns="0" rtlCol="0" anchor="t"/>
          <a:lstStyle/>
          <a:p>
            <a:pPr indent="0" marL="0">
              <a:buNone/>
            </a:pPr>
            <a:r>
              <a:rPr lang="en-US" sz="1400" dirty="0">
                <a:solidFill>
                  <a:schemeClr val="accent5"/>
                </a:solidFill>
              </a:rPr>
              <a:t>Any number of returns on the same handoff.</a:t>
            </a:r>
            <a:endParaRPr lang="en-US" sz="1400" dirty="0"/>
          </a:p>
        </p:txBody>
      </p:sp>
      <p:sp>
        <p:nvSpPr>
          <p:cNvPr id="18" name="capability-card-4"/>
          <p:cNvSpPr/>
          <p:nvPr/>
        </p:nvSpPr>
        <p:spPr>
          <a:xfrm>
            <a:off x="548640" y="3520440"/>
            <a:ext cx="3593592" cy="1965960"/>
          </a:xfrm>
          <a:prstGeom prst="roundRect">
            <a:avLst>
              <a:gd name="adj" fmla="val 5581"/>
            </a:avLst>
          </a:prstGeom>
          <a:solidFill>
            <a:schemeClr val="bg2"/>
          </a:solidFill>
          <a:ln w="12700">
            <a:solidFill>
              <a:schemeClr val="bg2"/>
            </a:solidFill>
            <a:prstDash val="solid"/>
          </a:ln>
        </p:spPr>
      </p:sp>
      <p:sp>
        <p:nvSpPr>
          <p:cNvPr id="19" name="icon-circle-FaSearch"/>
          <p:cNvSpPr/>
          <p:nvPr/>
        </p:nvSpPr>
        <p:spPr>
          <a:xfrm>
            <a:off x="822960" y="3794760"/>
            <a:ext cx="594360" cy="594360"/>
          </a:xfrm>
          <a:prstGeom prst="ellipse">
            <a:avLst/>
          </a:prstGeom>
          <a:solidFill>
            <a:srgbClr val="0E9F8E"/>
          </a:solidFill>
          <a:ln w="12700">
            <a:solidFill>
              <a:srgbClr val="0E9F8E"/>
            </a:solidFill>
            <a:prstDash val="solid"/>
          </a:ln>
        </p:spPr>
      </p:sp>
      <p:pic>
        <p:nvPicPr>
          <p:cNvPr id="20" name="Image 3" descr="Search icon">    </p:cNvPr>
          <p:cNvPicPr>
            <a:picLocks noChangeAspect="1"/>
          </p:cNvPicPr>
          <p:nvPr/>
        </p:nvPicPr>
        <p:blipFill>
          <a:blip r:embed="rId4"/>
          <a:stretch>
            <a:fillRect/>
          </a:stretch>
        </p:blipFill>
        <p:spPr>
          <a:xfrm>
            <a:off x="977494" y="3949294"/>
            <a:ext cx="285293" cy="285293"/>
          </a:xfrm>
          <a:prstGeom prst="rect">
            <a:avLst/>
          </a:prstGeom>
        </p:spPr>
      </p:pic>
      <p:sp>
        <p:nvSpPr>
          <p:cNvPr id="21" name="Text 15"/>
          <p:cNvSpPr txBox="1"/>
          <p:nvPr/>
        </p:nvSpPr>
        <p:spPr>
          <a:xfrm>
            <a:off x="1600200" y="3794760"/>
            <a:ext cx="2377440" cy="594360"/>
          </a:xfrm>
          <a:prstGeom prst="rect">
            <a:avLst/>
          </a:prstGeom>
          <a:noFill/>
          <a:ln/>
        </p:spPr>
        <p:txBody>
          <a:bodyPr wrap="square" lIns="0" tIns="0" rIns="0" bIns="0" rtlCol="0" anchor="ctr"/>
          <a:lstStyle/>
          <a:p>
            <a:pPr indent="0" marL="0">
              <a:buNone/>
            </a:pPr>
            <a:r>
              <a:rPr lang="en-US" sz="1700" b="1" dirty="0">
                <a:solidFill>
                  <a:schemeClr val="tx1"/>
                </a:solidFill>
              </a:rPr>
              <a:t>Missing-item confirmation</a:t>
            </a:r>
            <a:endParaRPr lang="en-US" sz="1700" dirty="0"/>
          </a:p>
        </p:txBody>
      </p:sp>
      <p:sp>
        <p:nvSpPr>
          <p:cNvPr id="22" name="Text 16"/>
          <p:cNvSpPr txBox="1"/>
          <p:nvPr/>
        </p:nvSpPr>
        <p:spPr>
          <a:xfrm>
            <a:off x="822960" y="4572000"/>
            <a:ext cx="3063240" cy="822960"/>
          </a:xfrm>
          <a:prstGeom prst="rect">
            <a:avLst/>
          </a:prstGeom>
          <a:noFill/>
          <a:ln/>
        </p:spPr>
        <p:txBody>
          <a:bodyPr wrap="square" lIns="0" tIns="0" rIns="0" bIns="0" rtlCol="0" anchor="t"/>
          <a:lstStyle/>
          <a:p>
            <a:pPr indent="0" marL="0">
              <a:buNone/>
            </a:pPr>
            <a:r>
              <a:rPr lang="en-US" sz="1400" dirty="0">
                <a:solidFill>
                  <a:schemeClr val="accent5"/>
                </a:solidFill>
              </a:rPr>
              <a:t>A missing item is confirmed before the handoff can close.</a:t>
            </a:r>
            <a:endParaRPr lang="en-US" sz="1400" dirty="0"/>
          </a:p>
        </p:txBody>
      </p:sp>
      <p:sp>
        <p:nvSpPr>
          <p:cNvPr id="23" name="capability-card-5"/>
          <p:cNvSpPr/>
          <p:nvPr/>
        </p:nvSpPr>
        <p:spPr>
          <a:xfrm>
            <a:off x="4297680" y="3520440"/>
            <a:ext cx="3593592" cy="1965960"/>
          </a:xfrm>
          <a:prstGeom prst="roundRect">
            <a:avLst>
              <a:gd name="adj" fmla="val 5581"/>
            </a:avLst>
          </a:prstGeom>
          <a:solidFill>
            <a:schemeClr val="bg2"/>
          </a:solidFill>
          <a:ln w="12700">
            <a:solidFill>
              <a:schemeClr val="bg2"/>
            </a:solidFill>
            <a:prstDash val="solid"/>
          </a:ln>
        </p:spPr>
      </p:sp>
      <p:sp>
        <p:nvSpPr>
          <p:cNvPr id="24" name="icon-circle-FaCamera"/>
          <p:cNvSpPr/>
          <p:nvPr/>
        </p:nvSpPr>
        <p:spPr>
          <a:xfrm>
            <a:off x="4572000" y="3794760"/>
            <a:ext cx="594360" cy="594360"/>
          </a:xfrm>
          <a:prstGeom prst="ellipse">
            <a:avLst/>
          </a:prstGeom>
          <a:solidFill>
            <a:srgbClr val="0E9F8E"/>
          </a:solidFill>
          <a:ln w="12700">
            <a:solidFill>
              <a:srgbClr val="0E9F8E"/>
            </a:solidFill>
            <a:prstDash val="solid"/>
          </a:ln>
        </p:spPr>
      </p:sp>
      <p:pic>
        <p:nvPicPr>
          <p:cNvPr id="25" name="Image 4" descr="Camera icon">    </p:cNvPr>
          <p:cNvPicPr>
            <a:picLocks noChangeAspect="1"/>
          </p:cNvPicPr>
          <p:nvPr/>
        </p:nvPicPr>
        <p:blipFill>
          <a:blip r:embed="rId5"/>
          <a:stretch>
            <a:fillRect/>
          </a:stretch>
        </p:blipFill>
        <p:spPr>
          <a:xfrm>
            <a:off x="4726534" y="3949294"/>
            <a:ext cx="285293" cy="285293"/>
          </a:xfrm>
          <a:prstGeom prst="rect">
            <a:avLst/>
          </a:prstGeom>
        </p:spPr>
      </p:pic>
      <p:sp>
        <p:nvSpPr>
          <p:cNvPr id="26" name="Text 19"/>
          <p:cNvSpPr txBox="1"/>
          <p:nvPr/>
        </p:nvSpPr>
        <p:spPr>
          <a:xfrm>
            <a:off x="5349240" y="3794760"/>
            <a:ext cx="2377440" cy="594360"/>
          </a:xfrm>
          <a:prstGeom prst="rect">
            <a:avLst/>
          </a:prstGeom>
          <a:noFill/>
          <a:ln/>
        </p:spPr>
        <p:txBody>
          <a:bodyPr wrap="square" lIns="0" tIns="0" rIns="0" bIns="0" rtlCol="0" anchor="ctr"/>
          <a:lstStyle/>
          <a:p>
            <a:pPr indent="0" marL="0">
              <a:buNone/>
            </a:pPr>
            <a:r>
              <a:rPr lang="en-US" sz="1700" b="1" dirty="0">
                <a:solidFill>
                  <a:schemeClr val="tx1"/>
                </a:solidFill>
              </a:rPr>
              <a:t>Attachments and evidence</a:t>
            </a:r>
            <a:endParaRPr lang="en-US" sz="1700" dirty="0"/>
          </a:p>
        </p:txBody>
      </p:sp>
      <p:sp>
        <p:nvSpPr>
          <p:cNvPr id="27" name="Text 20"/>
          <p:cNvSpPr txBox="1"/>
          <p:nvPr/>
        </p:nvSpPr>
        <p:spPr>
          <a:xfrm>
            <a:off x="4572000" y="4572000"/>
            <a:ext cx="3063240" cy="822960"/>
          </a:xfrm>
          <a:prstGeom prst="rect">
            <a:avLst/>
          </a:prstGeom>
          <a:noFill/>
          <a:ln/>
        </p:spPr>
        <p:txBody>
          <a:bodyPr wrap="square" lIns="0" tIns="0" rIns="0" bIns="0" rtlCol="0" anchor="t"/>
          <a:lstStyle/>
          <a:p>
            <a:pPr indent="0" marL="0">
              <a:buNone/>
            </a:pPr>
            <a:r>
              <a:rPr lang="en-US" sz="1400" dirty="0">
                <a:solidFill>
                  <a:schemeClr val="accent5"/>
                </a:solidFill>
              </a:rPr>
              <a:t>Photos and files stored with the handoff and checked on upload.</a:t>
            </a:r>
            <a:endParaRPr lang="en-US" sz="1400" dirty="0"/>
          </a:p>
        </p:txBody>
      </p:sp>
      <p:sp>
        <p:nvSpPr>
          <p:cNvPr id="28" name="capability-card-6"/>
          <p:cNvSpPr/>
          <p:nvPr/>
        </p:nvSpPr>
        <p:spPr>
          <a:xfrm>
            <a:off x="8046720" y="3520440"/>
            <a:ext cx="3593592" cy="1965960"/>
          </a:xfrm>
          <a:prstGeom prst="roundRect">
            <a:avLst>
              <a:gd name="adj" fmla="val 5581"/>
            </a:avLst>
          </a:prstGeom>
          <a:solidFill>
            <a:schemeClr val="bg2"/>
          </a:solidFill>
          <a:ln w="12700">
            <a:solidFill>
              <a:schemeClr val="bg2"/>
            </a:solidFill>
            <a:prstDash val="solid"/>
          </a:ln>
        </p:spPr>
      </p:sp>
      <p:sp>
        <p:nvSpPr>
          <p:cNvPr id="29" name="icon-circle-FaHistory"/>
          <p:cNvSpPr/>
          <p:nvPr/>
        </p:nvSpPr>
        <p:spPr>
          <a:xfrm>
            <a:off x="8321040" y="3794760"/>
            <a:ext cx="594360" cy="594360"/>
          </a:xfrm>
          <a:prstGeom prst="ellipse">
            <a:avLst/>
          </a:prstGeom>
          <a:solidFill>
            <a:srgbClr val="0E9F8E"/>
          </a:solidFill>
          <a:ln w="12700">
            <a:solidFill>
              <a:srgbClr val="0E9F8E"/>
            </a:solidFill>
            <a:prstDash val="solid"/>
          </a:ln>
        </p:spPr>
      </p:sp>
      <p:pic>
        <p:nvPicPr>
          <p:cNvPr id="30" name="Image 5" descr="History icon">    </p:cNvPr>
          <p:cNvPicPr>
            <a:picLocks noChangeAspect="1"/>
          </p:cNvPicPr>
          <p:nvPr/>
        </p:nvPicPr>
        <p:blipFill>
          <a:blip r:embed="rId6"/>
          <a:stretch>
            <a:fillRect/>
          </a:stretch>
        </p:blipFill>
        <p:spPr>
          <a:xfrm>
            <a:off x="8475574" y="3949294"/>
            <a:ext cx="285293" cy="285293"/>
          </a:xfrm>
          <a:prstGeom prst="rect">
            <a:avLst/>
          </a:prstGeom>
        </p:spPr>
      </p:pic>
      <p:sp>
        <p:nvSpPr>
          <p:cNvPr id="31" name="Text 23"/>
          <p:cNvSpPr txBox="1"/>
          <p:nvPr/>
        </p:nvSpPr>
        <p:spPr>
          <a:xfrm>
            <a:off x="9098280" y="3794760"/>
            <a:ext cx="2377440" cy="594360"/>
          </a:xfrm>
          <a:prstGeom prst="rect">
            <a:avLst/>
          </a:prstGeom>
          <a:noFill/>
          <a:ln/>
        </p:spPr>
        <p:txBody>
          <a:bodyPr wrap="square" lIns="0" tIns="0" rIns="0" bIns="0" rtlCol="0" anchor="ctr"/>
          <a:lstStyle/>
          <a:p>
            <a:pPr indent="0" marL="0">
              <a:buNone/>
            </a:pPr>
            <a:r>
              <a:rPr lang="en-US" sz="1700" b="1" dirty="0">
                <a:solidFill>
                  <a:schemeClr val="tx1"/>
                </a:solidFill>
              </a:rPr>
              <a:t>Audit trail</a:t>
            </a:r>
            <a:endParaRPr lang="en-US" sz="1700" dirty="0"/>
          </a:p>
        </p:txBody>
      </p:sp>
      <p:sp>
        <p:nvSpPr>
          <p:cNvPr id="32" name="Text 24"/>
          <p:cNvSpPr txBox="1"/>
          <p:nvPr/>
        </p:nvSpPr>
        <p:spPr>
          <a:xfrm>
            <a:off x="8321040" y="4572000"/>
            <a:ext cx="3063240" cy="822960"/>
          </a:xfrm>
          <a:prstGeom prst="rect">
            <a:avLst/>
          </a:prstGeom>
          <a:noFill/>
          <a:ln/>
        </p:spPr>
        <p:txBody>
          <a:bodyPr wrap="square" lIns="0" tIns="0" rIns="0" bIns="0" rtlCol="0" anchor="t"/>
          <a:lstStyle/>
          <a:p>
            <a:pPr indent="0" marL="0">
              <a:buNone/>
            </a:pPr>
            <a:r>
              <a:rPr lang="en-US" sz="1400" dirty="0">
                <a:solidFill>
                  <a:schemeClr val="accent5"/>
                </a:solidFill>
              </a:rPr>
              <a:t>Every event is recorded and never edited.</a:t>
            </a:r>
            <a:endParaRPr lang="en-US" sz="1400" dirty="0"/>
          </a:p>
        </p:txBody>
      </p:sp>
      <p:sp>
        <p:nvSpPr>
          <p:cNvPr id="33" name="Text 25"/>
          <p:cNvSpPr txBox="1"/>
          <p:nvPr/>
        </p:nvSpPr>
        <p:spPr>
          <a:xfrm>
            <a:off x="548640" y="5669280"/>
            <a:ext cx="11091672" cy="502920"/>
          </a:xfrm>
          <a:prstGeom prst="rect">
            <a:avLst/>
          </a:prstGeom>
          <a:noFill/>
          <a:ln/>
        </p:spPr>
        <p:txBody>
          <a:bodyPr wrap="square" lIns="0" tIns="0" rIns="0" bIns="0" rtlCol="0" anchor="ctr"/>
          <a:lstStyle/>
          <a:p>
            <a:pPr indent="0" marL="0">
              <a:buNone/>
            </a:pPr>
            <a:r>
              <a:rPr lang="en-US" sz="1400" dirty="0">
                <a:solidFill>
                  <a:schemeClr val="tx1"/>
                </a:solidFill>
              </a:rPr>
              <a:t>Also included: PDF and email, duplicate a handoff, import items from CSV or Excel, your own reference numbers, due dates and overdue tracking.</a:t>
            </a:r>
            <a:endParaRPr lang="en-US" sz="1400" dirty="0"/>
          </a:p>
        </p:txBody>
      </p:sp>
      <p:sp>
        <p:nvSpPr>
          <p:cNvPr id="25" name="Slide Number Placeholder 0"/>
          <p:cNvSpPr>
            <a:spLocks noGrp="1"/>
          </p:cNvSpPr>
          <p:nvPr>
            <p:ph type="sldNum" sz="quarter" idx="4294967295"/>
          </p:nvPr>
        </p:nvSpPr>
        <p:spPr>
          <a:xfrm>
            <a:off x="11045952"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Describe it, review it, save the draft</a:t>
            </a:r>
            <a:endParaRPr lang="en-US" sz="3200" dirty="0"/>
          </a:p>
        </p:txBody>
      </p:sp>
      <p:pic>
        <p:nvPicPr>
          <p:cNvPr id="3" name="Screenshot of the AI Handoff Creator page" descr="Screenshot of the AI Handoff Creator page">    </p:cNvPr>
          <p:cNvPicPr>
            <a:picLocks noChangeAspect="1"/>
          </p:cNvPicPr>
          <p:nvPr/>
        </p:nvPicPr>
        <p:blipFill>
          <a:blip r:embed="rId1"/>
          <a:stretch>
            <a:fillRect/>
          </a:stretch>
        </p:blipFill>
        <p:spPr>
          <a:xfrm>
            <a:off x="548640" y="1463040"/>
            <a:ext cx="6035040" cy="3771900"/>
          </a:xfrm>
          <a:prstGeom prst="rect">
            <a:avLst/>
          </a:prstGeom>
          <a:effectLst>
            <a:outerShdw sx="100000" sy="100000" kx="0" ky="0" algn="bl" rotWithShape="0" blurRad="127000" dist="38100" dir="5400000">
              <a:srgbClr val="000000">
                <a:alpha val="22000"/>
              </a:srgbClr>
            </a:outerShdw>
          </a:effectLst>
        </p:spPr>
      </p:pic>
      <p:sp>
        <p:nvSpPr>
          <p:cNvPr id="4" name="ai-example"/>
          <p:cNvSpPr/>
          <p:nvPr/>
        </p:nvSpPr>
        <p:spPr>
          <a:xfrm>
            <a:off x="548640" y="5440680"/>
            <a:ext cx="6035040" cy="777240"/>
          </a:xfrm>
          <a:prstGeom prst="roundRect">
            <a:avLst>
              <a:gd name="adj" fmla="val 14118"/>
            </a:avLst>
          </a:prstGeom>
          <a:solidFill>
            <a:schemeClr val="bg2"/>
          </a:solidFill>
          <a:ln w="12700">
            <a:solidFill>
              <a:schemeClr val="bg2"/>
            </a:solidFill>
            <a:prstDash val="solid"/>
          </a:ln>
        </p:spPr>
      </p:sp>
      <p:sp>
        <p:nvSpPr>
          <p:cNvPr id="5" name="Text 2"/>
          <p:cNvSpPr txBox="1"/>
          <p:nvPr/>
        </p:nvSpPr>
        <p:spPr>
          <a:xfrm>
            <a:off x="822960" y="5440680"/>
            <a:ext cx="5577840" cy="777240"/>
          </a:xfrm>
          <a:prstGeom prst="rect">
            <a:avLst/>
          </a:prstGeom>
          <a:noFill/>
          <a:ln/>
        </p:spPr>
        <p:txBody>
          <a:bodyPr wrap="square" lIns="0" tIns="0" rIns="0" bIns="0" rtlCol="0" anchor="ctr"/>
          <a:lstStyle/>
          <a:p>
            <a:pPr indent="0" marL="0">
              <a:buNone/>
            </a:pPr>
            <a:r>
              <a:rPr lang="en-US" sz="1700" i="1" dirty="0">
                <a:solidFill>
                  <a:schemeClr val="tx1"/>
                </a:solidFill>
              </a:rPr>
              <a:t>“Create a handoff for Rahul with 2 pens and 3 markers.”</a:t>
            </a:r>
            <a:endParaRPr lang="en-US" sz="1700" dirty="0"/>
          </a:p>
        </p:txBody>
      </p:sp>
      <p:sp>
        <p:nvSpPr>
          <p:cNvPr id="6" name="icon-circle-FaMicrophone"/>
          <p:cNvSpPr/>
          <p:nvPr/>
        </p:nvSpPr>
        <p:spPr>
          <a:xfrm>
            <a:off x="7040880" y="1463040"/>
            <a:ext cx="640080" cy="640080"/>
          </a:xfrm>
          <a:prstGeom prst="ellipse">
            <a:avLst/>
          </a:prstGeom>
          <a:solidFill>
            <a:srgbClr val="2563EB"/>
          </a:solidFill>
          <a:ln w="12700">
            <a:solidFill>
              <a:srgbClr val="2563EB"/>
            </a:solidFill>
            <a:prstDash val="solid"/>
          </a:ln>
        </p:spPr>
      </p:sp>
      <p:pic>
        <p:nvPicPr>
          <p:cNvPr id="7" name="Image 1" descr="Microphone icon">    </p:cNvPr>
          <p:cNvPicPr>
            <a:picLocks noChangeAspect="1"/>
          </p:cNvPicPr>
          <p:nvPr/>
        </p:nvPicPr>
        <p:blipFill>
          <a:blip r:embed="rId2"/>
          <a:stretch>
            <a:fillRect/>
          </a:stretch>
        </p:blipFill>
        <p:spPr>
          <a:xfrm>
            <a:off x="7207301" y="1629461"/>
            <a:ext cx="307238" cy="307238"/>
          </a:xfrm>
          <a:prstGeom prst="rect">
            <a:avLst/>
          </a:prstGeom>
        </p:spPr>
      </p:pic>
      <p:sp>
        <p:nvSpPr>
          <p:cNvPr id="8" name="Text 4"/>
          <p:cNvSpPr txBox="1"/>
          <p:nvPr/>
        </p:nvSpPr>
        <p:spPr>
          <a:xfrm>
            <a:off x="7863840" y="1463040"/>
            <a:ext cx="3749040" cy="365760"/>
          </a:xfrm>
          <a:prstGeom prst="rect">
            <a:avLst/>
          </a:prstGeom>
          <a:noFill/>
          <a:ln/>
        </p:spPr>
        <p:txBody>
          <a:bodyPr wrap="square" lIns="0" tIns="0" rIns="0" bIns="0" rtlCol="0" anchor="ctr"/>
          <a:lstStyle/>
          <a:p>
            <a:pPr indent="0" marL="0">
              <a:buNone/>
            </a:pPr>
            <a:r>
              <a:rPr lang="en-US" sz="1800" b="1" dirty="0">
                <a:solidFill>
                  <a:schemeClr val="tx1"/>
                </a:solidFill>
              </a:rPr>
              <a:t>Say it or type it</a:t>
            </a:r>
            <a:endParaRPr lang="en-US" sz="1800" dirty="0"/>
          </a:p>
        </p:txBody>
      </p:sp>
      <p:sp>
        <p:nvSpPr>
          <p:cNvPr id="9" name="Text 5"/>
          <p:cNvSpPr txBox="1"/>
          <p:nvPr/>
        </p:nvSpPr>
        <p:spPr>
          <a:xfrm>
            <a:off x="7863840" y="1874520"/>
            <a:ext cx="3749040" cy="548640"/>
          </a:xfrm>
          <a:prstGeom prst="rect">
            <a:avLst/>
          </a:prstGeom>
          <a:noFill/>
          <a:ln/>
        </p:spPr>
        <p:txBody>
          <a:bodyPr wrap="square" lIns="0" tIns="0" rIns="0" bIns="0" rtlCol="0" anchor="t"/>
          <a:lstStyle/>
          <a:p>
            <a:pPr indent="0" marL="0">
              <a:buNone/>
            </a:pPr>
            <a:r>
              <a:rPr lang="en-US" sz="1400" dirty="0">
                <a:solidFill>
                  <a:schemeClr val="accent5"/>
                </a:solidFill>
              </a:rPr>
              <a:t>Speak or type the request in your own words.</a:t>
            </a:r>
            <a:endParaRPr lang="en-US" sz="1400" dirty="0"/>
          </a:p>
        </p:txBody>
      </p:sp>
      <p:sp>
        <p:nvSpPr>
          <p:cNvPr id="10" name="icon-circle-FaEye"/>
          <p:cNvSpPr/>
          <p:nvPr/>
        </p:nvSpPr>
        <p:spPr>
          <a:xfrm>
            <a:off x="7040880" y="2560320"/>
            <a:ext cx="640080" cy="640080"/>
          </a:xfrm>
          <a:prstGeom prst="ellipse">
            <a:avLst/>
          </a:prstGeom>
          <a:solidFill>
            <a:srgbClr val="2563EB"/>
          </a:solidFill>
          <a:ln w="12700">
            <a:solidFill>
              <a:srgbClr val="2563EB"/>
            </a:solidFill>
            <a:prstDash val="solid"/>
          </a:ln>
        </p:spPr>
      </p:sp>
      <p:pic>
        <p:nvPicPr>
          <p:cNvPr id="11" name="Image 2" descr="Eye icon">    </p:cNvPr>
          <p:cNvPicPr>
            <a:picLocks noChangeAspect="1"/>
          </p:cNvPicPr>
          <p:nvPr/>
        </p:nvPicPr>
        <p:blipFill>
          <a:blip r:embed="rId3"/>
          <a:stretch>
            <a:fillRect/>
          </a:stretch>
        </p:blipFill>
        <p:spPr>
          <a:xfrm>
            <a:off x="7207301" y="2726741"/>
            <a:ext cx="307238" cy="307238"/>
          </a:xfrm>
          <a:prstGeom prst="rect">
            <a:avLst/>
          </a:prstGeom>
        </p:spPr>
      </p:pic>
      <p:sp>
        <p:nvSpPr>
          <p:cNvPr id="12" name="Text 7"/>
          <p:cNvSpPr txBox="1"/>
          <p:nvPr/>
        </p:nvSpPr>
        <p:spPr>
          <a:xfrm>
            <a:off x="7863840" y="2560320"/>
            <a:ext cx="3749040" cy="365760"/>
          </a:xfrm>
          <a:prstGeom prst="rect">
            <a:avLst/>
          </a:prstGeom>
          <a:noFill/>
          <a:ln/>
        </p:spPr>
        <p:txBody>
          <a:bodyPr wrap="square" lIns="0" tIns="0" rIns="0" bIns="0" rtlCol="0" anchor="ctr"/>
          <a:lstStyle/>
          <a:p>
            <a:pPr indent="0" marL="0">
              <a:buNone/>
            </a:pPr>
            <a:r>
              <a:rPr lang="en-US" sz="1800" b="1" dirty="0">
                <a:solidFill>
                  <a:schemeClr val="tx1"/>
                </a:solidFill>
              </a:rPr>
              <a:t>Review what was understood</a:t>
            </a:r>
            <a:endParaRPr lang="en-US" sz="1800" dirty="0"/>
          </a:p>
        </p:txBody>
      </p:sp>
      <p:sp>
        <p:nvSpPr>
          <p:cNvPr id="13" name="Text 8"/>
          <p:cNvSpPr txBox="1"/>
          <p:nvPr/>
        </p:nvSpPr>
        <p:spPr>
          <a:xfrm>
            <a:off x="7863840" y="2971800"/>
            <a:ext cx="3749040" cy="548640"/>
          </a:xfrm>
          <a:prstGeom prst="rect">
            <a:avLst/>
          </a:prstGeom>
          <a:noFill/>
          <a:ln/>
        </p:spPr>
        <p:txBody>
          <a:bodyPr wrap="square" lIns="0" tIns="0" rIns="0" bIns="0" rtlCol="0" anchor="t"/>
          <a:lstStyle/>
          <a:p>
            <a:pPr indent="0" marL="0">
              <a:buNone/>
            </a:pPr>
            <a:r>
              <a:rPr lang="en-US" sz="1400" dirty="0">
                <a:solidFill>
                  <a:schemeClr val="accent5"/>
                </a:solidFill>
              </a:rPr>
              <a:t>See the draft before anything is saved.</a:t>
            </a:r>
            <a:endParaRPr lang="en-US" sz="1400" dirty="0"/>
          </a:p>
        </p:txBody>
      </p:sp>
      <p:sp>
        <p:nvSpPr>
          <p:cNvPr id="14" name="icon-circle-FaEdit"/>
          <p:cNvSpPr/>
          <p:nvPr/>
        </p:nvSpPr>
        <p:spPr>
          <a:xfrm>
            <a:off x="7040880" y="3657600"/>
            <a:ext cx="640080" cy="640080"/>
          </a:xfrm>
          <a:prstGeom prst="ellipse">
            <a:avLst/>
          </a:prstGeom>
          <a:solidFill>
            <a:srgbClr val="2563EB"/>
          </a:solidFill>
          <a:ln w="12700">
            <a:solidFill>
              <a:srgbClr val="2563EB"/>
            </a:solidFill>
            <a:prstDash val="solid"/>
          </a:ln>
        </p:spPr>
      </p:sp>
      <p:pic>
        <p:nvPicPr>
          <p:cNvPr id="15" name="Image 3" descr="Edit icon">    </p:cNvPr>
          <p:cNvPicPr>
            <a:picLocks noChangeAspect="1"/>
          </p:cNvPicPr>
          <p:nvPr/>
        </p:nvPicPr>
        <p:blipFill>
          <a:blip r:embed="rId4"/>
          <a:stretch>
            <a:fillRect/>
          </a:stretch>
        </p:blipFill>
        <p:spPr>
          <a:xfrm>
            <a:off x="7207301" y="3824021"/>
            <a:ext cx="307238" cy="307238"/>
          </a:xfrm>
          <a:prstGeom prst="rect">
            <a:avLst/>
          </a:prstGeom>
        </p:spPr>
      </p:pic>
      <p:sp>
        <p:nvSpPr>
          <p:cNvPr id="16" name="Text 10"/>
          <p:cNvSpPr txBox="1"/>
          <p:nvPr/>
        </p:nvSpPr>
        <p:spPr>
          <a:xfrm>
            <a:off x="7863840" y="3657600"/>
            <a:ext cx="3749040" cy="365760"/>
          </a:xfrm>
          <a:prstGeom prst="rect">
            <a:avLst/>
          </a:prstGeom>
          <a:noFill/>
          <a:ln/>
        </p:spPr>
        <p:txBody>
          <a:bodyPr wrap="square" lIns="0" tIns="0" rIns="0" bIns="0" rtlCol="0" anchor="ctr"/>
          <a:lstStyle/>
          <a:p>
            <a:pPr indent="0" marL="0">
              <a:buNone/>
            </a:pPr>
            <a:r>
              <a:rPr lang="en-US" sz="1800" b="1" dirty="0">
                <a:solidFill>
                  <a:schemeClr val="tx1"/>
                </a:solidFill>
              </a:rPr>
              <a:t>Change anything</a:t>
            </a:r>
            <a:endParaRPr lang="en-US" sz="1800" dirty="0"/>
          </a:p>
        </p:txBody>
      </p:sp>
      <p:sp>
        <p:nvSpPr>
          <p:cNvPr id="17" name="Text 11"/>
          <p:cNvSpPr txBox="1"/>
          <p:nvPr/>
        </p:nvSpPr>
        <p:spPr>
          <a:xfrm>
            <a:off x="7863840" y="4069080"/>
            <a:ext cx="3749040" cy="548640"/>
          </a:xfrm>
          <a:prstGeom prst="rect">
            <a:avLst/>
          </a:prstGeom>
          <a:noFill/>
          <a:ln/>
        </p:spPr>
        <p:txBody>
          <a:bodyPr wrap="square" lIns="0" tIns="0" rIns="0" bIns="0" rtlCol="0" anchor="t"/>
          <a:lstStyle/>
          <a:p>
            <a:pPr indent="0" marL="0">
              <a:buNone/>
            </a:pPr>
            <a:r>
              <a:rPr lang="en-US" sz="1400" dirty="0">
                <a:solidFill>
                  <a:schemeClr val="accent5"/>
                </a:solidFill>
              </a:rPr>
              <a:t>Edit items, quantities and the recipient.</a:t>
            </a:r>
            <a:endParaRPr lang="en-US" sz="1400" dirty="0"/>
          </a:p>
        </p:txBody>
      </p:sp>
      <p:sp>
        <p:nvSpPr>
          <p:cNvPr id="18" name="icon-circle-FaSave"/>
          <p:cNvSpPr/>
          <p:nvPr/>
        </p:nvSpPr>
        <p:spPr>
          <a:xfrm>
            <a:off x="7040880" y="4754880"/>
            <a:ext cx="640080" cy="640080"/>
          </a:xfrm>
          <a:prstGeom prst="ellipse">
            <a:avLst/>
          </a:prstGeom>
          <a:solidFill>
            <a:srgbClr val="2563EB"/>
          </a:solidFill>
          <a:ln w="12700">
            <a:solidFill>
              <a:srgbClr val="2563EB"/>
            </a:solidFill>
            <a:prstDash val="solid"/>
          </a:ln>
        </p:spPr>
      </p:sp>
      <p:pic>
        <p:nvPicPr>
          <p:cNvPr id="19" name="Image 4" descr="Save icon">    </p:cNvPr>
          <p:cNvPicPr>
            <a:picLocks noChangeAspect="1"/>
          </p:cNvPicPr>
          <p:nvPr/>
        </p:nvPicPr>
        <p:blipFill>
          <a:blip r:embed="rId5"/>
          <a:stretch>
            <a:fillRect/>
          </a:stretch>
        </p:blipFill>
        <p:spPr>
          <a:xfrm>
            <a:off x="7207301" y="4921301"/>
            <a:ext cx="307238" cy="307238"/>
          </a:xfrm>
          <a:prstGeom prst="rect">
            <a:avLst/>
          </a:prstGeom>
        </p:spPr>
      </p:pic>
      <p:sp>
        <p:nvSpPr>
          <p:cNvPr id="20" name="Text 13"/>
          <p:cNvSpPr txBox="1"/>
          <p:nvPr/>
        </p:nvSpPr>
        <p:spPr>
          <a:xfrm>
            <a:off x="7863840" y="4754880"/>
            <a:ext cx="3749040" cy="365760"/>
          </a:xfrm>
          <a:prstGeom prst="rect">
            <a:avLst/>
          </a:prstGeom>
          <a:noFill/>
          <a:ln/>
        </p:spPr>
        <p:txBody>
          <a:bodyPr wrap="square" lIns="0" tIns="0" rIns="0" bIns="0" rtlCol="0" anchor="ctr"/>
          <a:lstStyle/>
          <a:p>
            <a:pPr indent="0" marL="0">
              <a:buNone/>
            </a:pPr>
            <a:r>
              <a:rPr lang="en-US" sz="1800" b="1" dirty="0">
                <a:solidFill>
                  <a:schemeClr val="tx1"/>
                </a:solidFill>
              </a:rPr>
              <a:t>Save the draft</a:t>
            </a:r>
            <a:endParaRPr lang="en-US" sz="1800" dirty="0"/>
          </a:p>
        </p:txBody>
      </p:sp>
      <p:sp>
        <p:nvSpPr>
          <p:cNvPr id="21" name="Text 14"/>
          <p:cNvSpPr txBox="1"/>
          <p:nvPr/>
        </p:nvSpPr>
        <p:spPr>
          <a:xfrm>
            <a:off x="7863840" y="5166360"/>
            <a:ext cx="3749040" cy="548640"/>
          </a:xfrm>
          <a:prstGeom prst="rect">
            <a:avLst/>
          </a:prstGeom>
          <a:noFill/>
          <a:ln/>
        </p:spPr>
        <p:txBody>
          <a:bodyPr wrap="square" lIns="0" tIns="0" rIns="0" bIns="0" rtlCol="0" anchor="t"/>
          <a:lstStyle/>
          <a:p>
            <a:pPr indent="0" marL="0">
              <a:buNone/>
            </a:pPr>
            <a:r>
              <a:rPr lang="en-US" sz="1400" dirty="0">
                <a:solidFill>
                  <a:schemeClr val="accent5"/>
                </a:solidFill>
              </a:rPr>
              <a:t>You submit it yourself. It is never sent for you.</a:t>
            </a:r>
            <a:endParaRPr lang="en-US" sz="1400" dirty="0"/>
          </a:p>
        </p:txBody>
      </p:sp>
      <p:sp>
        <p:nvSpPr>
          <p:cNvPr id="22" name="Text 15"/>
          <p:cNvSpPr txBox="1"/>
          <p:nvPr/>
        </p:nvSpPr>
        <p:spPr>
          <a:xfrm>
            <a:off x="7040880" y="5577840"/>
            <a:ext cx="4599432" cy="502920"/>
          </a:xfrm>
          <a:prstGeom prst="rect">
            <a:avLst/>
          </a:prstGeom>
          <a:noFill/>
          <a:ln/>
        </p:spPr>
        <p:txBody>
          <a:bodyPr wrap="square" lIns="0" tIns="0" rIns="0" bIns="0" rtlCol="0" anchor="ctr"/>
          <a:lstStyle/>
          <a:p>
            <a:pPr indent="0" marL="0">
              <a:buNone/>
            </a:pPr>
            <a:r>
              <a:rPr lang="en-US" sz="1400" b="1" dirty="0">
                <a:solidFill>
                  <a:schemeClr val="tx1"/>
                </a:solidFill>
              </a:rPr>
              <a:t>On every plan. The core workflow never needs AI.</a:t>
            </a:r>
            <a:endParaRPr lang="en-US" sz="1400" dirty="0"/>
          </a:p>
        </p:txBody>
      </p:sp>
      <p:sp>
        <p:nvSpPr>
          <p:cNvPr id="25" name="Slide Number Placeholder 0"/>
          <p:cNvSpPr>
            <a:spLocks noGrp="1"/>
          </p:cNvSpPr>
          <p:nvPr>
            <p:ph type="sldNum" sz="quarter" idx="4294967295"/>
          </p:nvPr>
        </p:nvSpPr>
        <p:spPr>
          <a:xfrm>
            <a:off x="11045952"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HandoffCheck finds the differences for you</a:t>
            </a:r>
            <a:endParaRPr lang="en-US" sz="3200" dirty="0"/>
          </a:p>
        </p:txBody>
      </p:sp>
      <p:sp>
        <p:nvSpPr>
          <p:cNvPr id="3" name="file-box-File A"/>
          <p:cNvSpPr/>
          <p:nvPr/>
        </p:nvSpPr>
        <p:spPr>
          <a:xfrm>
            <a:off x="548640" y="1463040"/>
            <a:ext cx="2560320" cy="1097280"/>
          </a:xfrm>
          <a:prstGeom prst="roundRect">
            <a:avLst>
              <a:gd name="adj" fmla="val 10000"/>
            </a:avLst>
          </a:prstGeom>
          <a:solidFill>
            <a:schemeClr val="bg2"/>
          </a:solidFill>
          <a:ln w="12700">
            <a:solidFill>
              <a:schemeClr val="bg2"/>
            </a:solidFill>
            <a:prstDash val="solid"/>
          </a:ln>
        </p:spPr>
      </p:sp>
      <p:sp>
        <p:nvSpPr>
          <p:cNvPr id="4" name="icon-circle-FaFileAlt"/>
          <p:cNvSpPr/>
          <p:nvPr/>
        </p:nvSpPr>
        <p:spPr>
          <a:xfrm>
            <a:off x="777240" y="1691640"/>
            <a:ext cx="640080" cy="640080"/>
          </a:xfrm>
          <a:prstGeom prst="ellipse">
            <a:avLst/>
          </a:prstGeom>
          <a:solidFill>
            <a:srgbClr val="2563EB"/>
          </a:solidFill>
          <a:ln w="12700">
            <a:solidFill>
              <a:srgbClr val="2563EB"/>
            </a:solidFill>
            <a:prstDash val="solid"/>
          </a:ln>
        </p:spPr>
      </p:sp>
      <p:pic>
        <p:nvPicPr>
          <p:cNvPr id="5" name="Image 0" descr="FileAlt icon">    </p:cNvPr>
          <p:cNvPicPr>
            <a:picLocks noChangeAspect="1"/>
          </p:cNvPicPr>
          <p:nvPr/>
        </p:nvPicPr>
        <p:blipFill>
          <a:blip r:embed="rId1"/>
          <a:stretch>
            <a:fillRect/>
          </a:stretch>
        </p:blipFill>
        <p:spPr>
          <a:xfrm>
            <a:off x="943661" y="1858061"/>
            <a:ext cx="307238" cy="307238"/>
          </a:xfrm>
          <a:prstGeom prst="rect">
            <a:avLst/>
          </a:prstGeom>
        </p:spPr>
      </p:pic>
      <p:sp>
        <p:nvSpPr>
          <p:cNvPr id="6" name="Text 3"/>
          <p:cNvSpPr txBox="1"/>
          <p:nvPr/>
        </p:nvSpPr>
        <p:spPr>
          <a:xfrm>
            <a:off x="1554480" y="1645920"/>
            <a:ext cx="1463040" cy="365760"/>
          </a:xfrm>
          <a:prstGeom prst="rect">
            <a:avLst/>
          </a:prstGeom>
          <a:noFill/>
          <a:ln/>
        </p:spPr>
        <p:txBody>
          <a:bodyPr wrap="square" lIns="0" tIns="0" rIns="0" bIns="0" rtlCol="0" anchor="ctr"/>
          <a:lstStyle/>
          <a:p>
            <a:pPr indent="0" marL="0">
              <a:buNone/>
            </a:pPr>
            <a:r>
              <a:rPr lang="en-US" sz="1600" b="1" dirty="0">
                <a:solidFill>
                  <a:schemeClr val="tx1"/>
                </a:solidFill>
              </a:rPr>
              <a:t>File A</a:t>
            </a:r>
            <a:endParaRPr lang="en-US" sz="1600" dirty="0"/>
          </a:p>
        </p:txBody>
      </p:sp>
      <p:sp>
        <p:nvSpPr>
          <p:cNvPr id="7" name="Text 4"/>
          <p:cNvSpPr txBox="1"/>
          <p:nvPr/>
        </p:nvSpPr>
        <p:spPr>
          <a:xfrm>
            <a:off x="1554480" y="2011680"/>
            <a:ext cx="1463040" cy="365760"/>
          </a:xfrm>
          <a:prstGeom prst="rect">
            <a:avLst/>
          </a:prstGeom>
          <a:noFill/>
          <a:ln/>
        </p:spPr>
        <p:txBody>
          <a:bodyPr wrap="square" lIns="0" tIns="0" rIns="0" bIns="0" rtlCol="0" anchor="t"/>
          <a:lstStyle/>
          <a:p>
            <a:pPr indent="0" marL="0">
              <a:buNone/>
            </a:pPr>
            <a:r>
              <a:rPr lang="en-US" sz="1400" dirty="0">
                <a:solidFill>
                  <a:schemeClr val="accent5"/>
                </a:solidFill>
              </a:rPr>
              <a:t>Quotation</a:t>
            </a:r>
            <a:endParaRPr lang="en-US" sz="1400" dirty="0"/>
          </a:p>
        </p:txBody>
      </p:sp>
      <p:sp>
        <p:nvSpPr>
          <p:cNvPr id="8" name="file-box-File B"/>
          <p:cNvSpPr/>
          <p:nvPr/>
        </p:nvSpPr>
        <p:spPr>
          <a:xfrm>
            <a:off x="3291840" y="1463040"/>
            <a:ext cx="2560320" cy="1097280"/>
          </a:xfrm>
          <a:prstGeom prst="roundRect">
            <a:avLst>
              <a:gd name="adj" fmla="val 10000"/>
            </a:avLst>
          </a:prstGeom>
          <a:solidFill>
            <a:schemeClr val="bg2"/>
          </a:solidFill>
          <a:ln w="12700">
            <a:solidFill>
              <a:schemeClr val="bg2"/>
            </a:solidFill>
            <a:prstDash val="solid"/>
          </a:ln>
        </p:spPr>
      </p:sp>
      <p:sp>
        <p:nvSpPr>
          <p:cNvPr id="9" name="icon-circle-FaFileInvoice"/>
          <p:cNvSpPr/>
          <p:nvPr/>
        </p:nvSpPr>
        <p:spPr>
          <a:xfrm>
            <a:off x="3520440" y="1691640"/>
            <a:ext cx="640080" cy="640080"/>
          </a:xfrm>
          <a:prstGeom prst="ellipse">
            <a:avLst/>
          </a:prstGeom>
          <a:solidFill>
            <a:srgbClr val="2563EB"/>
          </a:solidFill>
          <a:ln w="12700">
            <a:solidFill>
              <a:srgbClr val="2563EB"/>
            </a:solidFill>
            <a:prstDash val="solid"/>
          </a:ln>
        </p:spPr>
      </p:sp>
      <p:pic>
        <p:nvPicPr>
          <p:cNvPr id="10" name="Image 1" descr="FileInvoice icon">    </p:cNvPr>
          <p:cNvPicPr>
            <a:picLocks noChangeAspect="1"/>
          </p:cNvPicPr>
          <p:nvPr/>
        </p:nvPicPr>
        <p:blipFill>
          <a:blip r:embed="rId2"/>
          <a:stretch>
            <a:fillRect/>
          </a:stretch>
        </p:blipFill>
        <p:spPr>
          <a:xfrm>
            <a:off x="3686861" y="1858061"/>
            <a:ext cx="307238" cy="307238"/>
          </a:xfrm>
          <a:prstGeom prst="rect">
            <a:avLst/>
          </a:prstGeom>
        </p:spPr>
      </p:pic>
      <p:sp>
        <p:nvSpPr>
          <p:cNvPr id="11" name="Text 7"/>
          <p:cNvSpPr txBox="1"/>
          <p:nvPr/>
        </p:nvSpPr>
        <p:spPr>
          <a:xfrm>
            <a:off x="4297680" y="1645920"/>
            <a:ext cx="1463040" cy="365760"/>
          </a:xfrm>
          <a:prstGeom prst="rect">
            <a:avLst/>
          </a:prstGeom>
          <a:noFill/>
          <a:ln/>
        </p:spPr>
        <p:txBody>
          <a:bodyPr wrap="square" lIns="0" tIns="0" rIns="0" bIns="0" rtlCol="0" anchor="ctr"/>
          <a:lstStyle/>
          <a:p>
            <a:pPr indent="0" marL="0">
              <a:buNone/>
            </a:pPr>
            <a:r>
              <a:rPr lang="en-US" sz="1600" b="1" dirty="0">
                <a:solidFill>
                  <a:schemeClr val="tx1"/>
                </a:solidFill>
              </a:rPr>
              <a:t>File B</a:t>
            </a:r>
            <a:endParaRPr lang="en-US" sz="1600" dirty="0"/>
          </a:p>
        </p:txBody>
      </p:sp>
      <p:sp>
        <p:nvSpPr>
          <p:cNvPr id="12" name="Text 8"/>
          <p:cNvSpPr txBox="1"/>
          <p:nvPr/>
        </p:nvSpPr>
        <p:spPr>
          <a:xfrm>
            <a:off x="4297680" y="2011680"/>
            <a:ext cx="1463040" cy="365760"/>
          </a:xfrm>
          <a:prstGeom prst="rect">
            <a:avLst/>
          </a:prstGeom>
          <a:noFill/>
          <a:ln/>
        </p:spPr>
        <p:txBody>
          <a:bodyPr wrap="square" lIns="0" tIns="0" rIns="0" bIns="0" rtlCol="0" anchor="t"/>
          <a:lstStyle/>
          <a:p>
            <a:pPr indent="0" marL="0">
              <a:buNone/>
            </a:pPr>
            <a:r>
              <a:rPr lang="en-US" sz="1400" dirty="0">
                <a:solidFill>
                  <a:schemeClr val="accent5"/>
                </a:solidFill>
              </a:rPr>
              <a:t>Purchase order</a:t>
            </a:r>
            <a:endParaRPr lang="en-US" sz="1400" dirty="0"/>
          </a:p>
        </p:txBody>
      </p:sp>
      <p:sp>
        <p:nvSpPr>
          <p:cNvPr id="13" name="arrow-down"/>
          <p:cNvSpPr/>
          <p:nvPr/>
        </p:nvSpPr>
        <p:spPr>
          <a:xfrm>
            <a:off x="2743200" y="2697480"/>
            <a:ext cx="457200" cy="457200"/>
          </a:xfrm>
          <a:prstGeom prst="downArrow">
            <a:avLst/>
          </a:prstGeom>
          <a:solidFill>
            <a:schemeClr val="accent5"/>
          </a:solidFill>
          <a:ln w="12700">
            <a:solidFill>
              <a:schemeClr val="accent5"/>
            </a:solidFill>
            <a:prstDash val="solid"/>
          </a:ln>
        </p:spPr>
      </p:sp>
      <p:sp>
        <p:nvSpPr>
          <p:cNvPr id="14" name="handoffcheck-bar"/>
          <p:cNvSpPr/>
          <p:nvPr/>
        </p:nvSpPr>
        <p:spPr>
          <a:xfrm>
            <a:off x="548640" y="3246120"/>
            <a:ext cx="5303520" cy="640080"/>
          </a:xfrm>
          <a:prstGeom prst="roundRect">
            <a:avLst>
              <a:gd name="adj" fmla="val 17143"/>
            </a:avLst>
          </a:prstGeom>
          <a:solidFill>
            <a:schemeClr val="accent1"/>
          </a:solidFill>
          <a:ln w="12700">
            <a:solidFill>
              <a:schemeClr val="accent1"/>
            </a:solidFill>
            <a:prstDash val="solid"/>
          </a:ln>
        </p:spPr>
      </p:sp>
      <p:sp>
        <p:nvSpPr>
          <p:cNvPr id="15" name="Text 11"/>
          <p:cNvSpPr txBox="1"/>
          <p:nvPr/>
        </p:nvSpPr>
        <p:spPr>
          <a:xfrm>
            <a:off x="548640" y="3246120"/>
            <a:ext cx="5303520" cy="640080"/>
          </a:xfrm>
          <a:prstGeom prst="rect">
            <a:avLst/>
          </a:prstGeom>
          <a:noFill/>
          <a:ln/>
        </p:spPr>
        <p:txBody>
          <a:bodyPr wrap="square" lIns="0" tIns="0" rIns="0" bIns="0" rtlCol="0" anchor="ctr"/>
          <a:lstStyle/>
          <a:p>
            <a:pPr algn="ctr" indent="0" marL="0">
              <a:buNone/>
            </a:pPr>
            <a:r>
              <a:rPr lang="en-US" sz="1800" b="1" dirty="0">
                <a:solidFill>
                  <a:schemeClr val="bg1"/>
                </a:solidFill>
              </a:rPr>
              <a:t>HandoffCheck compares them line by line</a:t>
            </a:r>
            <a:endParaRPr lang="en-US" sz="1800" dirty="0"/>
          </a:p>
        </p:txBody>
      </p:sp>
      <p:graphicFrame>
        <p:nvGraphicFramePr>
          <p:cNvPr id="13" name="handoffcheck-example"/>
          <p:cNvGraphicFramePr>
            <a:graphicFrameLocks noGrp="1"/>
          </p:cNvGraphicFramePr>
          <p:nvPr>
            <p:extLst>
              <p:ext uri="{D42A27DB-BD31-4B8C-83A1-F6EECF244321}">
                <p14:modId xmlns:p14="http://schemas.microsoft.com/office/powerpoint/2010/main" val="1579011935"/>
              </p:ext>
            </p:extLst>
          </p:nvPr>
        </p:nvGraphicFramePr>
        <p:xfrm>
          <a:off x="548640" y="4114800"/>
          <a:ext cx="5303520" cy="914400"/>
        </p:xfrm>
        <a:graphic>
          <a:graphicData uri="http://schemas.openxmlformats.org/drawingml/2006/table">
            <a:tbl>
              <a:tblPr/>
              <a:tblGrid>
                <a:gridCol w="1371600"/>
                <a:gridCol w="1097280"/>
                <a:gridCol w="1097280"/>
                <a:gridCol w="1737360"/>
              </a:tblGrid>
              <a:tr h="384048">
                <a:tc>
                  <a:txBody>
                    <a:bodyPr/>
                    <a:lstStyle/>
                    <a:p>
                      <a:pPr indent="0" marL="0">
                        <a:buNone/>
                      </a:pPr>
                      <a:r>
                        <a:rPr lang="en-US" sz="1400" b="1" dirty="0">
                          <a:solidFill>
                            <a:srgbClr val="FFFFFF"/>
                          </a:solidFill>
                        </a:rPr>
                        <a:t>Item</a:t>
                      </a:r>
                      <a:endParaRPr lang="en-US" sz="1400" dirty="0"/>
                    </a:p>
                  </a:txBody>
                  <a:tcPr marL="91440" marR="91440"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File A</a:t>
                      </a:r>
                      <a:endParaRPr lang="en-US" sz="1400" dirty="0"/>
                    </a:p>
                  </a:txBody>
                  <a:tcPr marL="91440" marR="91440"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File B</a:t>
                      </a:r>
                      <a:endParaRPr lang="en-US" sz="1400" dirty="0"/>
                    </a:p>
                  </a:txBody>
                  <a:tcPr marL="91440" marR="91440"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Result</a:t>
                      </a:r>
                      <a:endParaRPr lang="en-US" sz="1400" dirty="0"/>
                    </a:p>
                  </a:txBody>
                  <a:tcPr marL="91440" marR="91440"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B2545"/>
                    </a:solidFill>
                  </a:tcPr>
                </a:tc>
              </a:tr>
              <a:tr h="384048">
                <a:tc>
                  <a:txBody>
                    <a:bodyPr/>
                    <a:lstStyle/>
                    <a:p>
                      <a:pPr indent="0" marL="0">
                        <a:buNone/>
                      </a:pPr>
                      <a:r>
                        <a:rPr lang="en-US" sz="1400" dirty="0">
                          <a:solidFill>
                            <a:srgbClr val="0F172A"/>
                          </a:solidFill>
                        </a:rPr>
                        <a:t>Chairs</a:t>
                      </a:r>
                      <a:endParaRPr lang="en-US" sz="1400" dirty="0"/>
                    </a:p>
                  </a:txBody>
                  <a:tcPr marL="91440" marR="91440"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0F172A"/>
                          </a:solidFill>
                        </a:rPr>
                        <a:t>500</a:t>
                      </a:r>
                      <a:endParaRPr lang="en-US" sz="1400" dirty="0"/>
                    </a:p>
                  </a:txBody>
                  <a:tcPr marL="91440" marR="91440"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0F172A"/>
                          </a:solidFill>
                        </a:rPr>
                        <a:t>500</a:t>
                      </a:r>
                      <a:endParaRPr lang="en-US" sz="1400" dirty="0"/>
                    </a:p>
                  </a:txBody>
                  <a:tcPr marL="91440" marR="91440"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400" b="1" dirty="0">
                          <a:solidFill>
                            <a:srgbClr val="0E9F8E"/>
                          </a:solidFill>
                        </a:rPr>
                        <a:t>Match</a:t>
                      </a:r>
                      <a:endParaRPr lang="en-US" sz="1400" dirty="0"/>
                    </a:p>
                  </a:txBody>
                  <a:tcPr marL="91440" marR="91440"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384048">
                <a:tc>
                  <a:txBody>
                    <a:bodyPr/>
                    <a:lstStyle/>
                    <a:p>
                      <a:pPr indent="0" marL="0">
                        <a:buNone/>
                      </a:pPr>
                      <a:r>
                        <a:rPr lang="en-US" sz="1400" dirty="0">
                          <a:solidFill>
                            <a:srgbClr val="0F172A"/>
                          </a:solidFill>
                        </a:rPr>
                        <a:t>Tables</a:t>
                      </a:r>
                      <a:endParaRPr lang="en-US" sz="1400" dirty="0"/>
                    </a:p>
                  </a:txBody>
                  <a:tcPr marL="91440" marR="91440"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0F172A"/>
                          </a:solidFill>
                        </a:rPr>
                        <a:t>80</a:t>
                      </a:r>
                      <a:endParaRPr lang="en-US" sz="1400" dirty="0"/>
                    </a:p>
                  </a:txBody>
                  <a:tcPr marL="91440" marR="91440"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0F172A"/>
                          </a:solidFill>
                        </a:rPr>
                        <a:t>78</a:t>
                      </a:r>
                      <a:endParaRPr lang="en-US" sz="1400" dirty="0"/>
                    </a:p>
                  </a:txBody>
                  <a:tcPr marL="91440" marR="91440"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400" b="1" dirty="0">
                          <a:solidFill>
                            <a:srgbClr val="B45309"/>
                          </a:solidFill>
                        </a:rPr>
                        <a:t>Difference</a:t>
                      </a:r>
                      <a:endParaRPr lang="en-US" sz="1400" dirty="0"/>
                    </a:p>
                  </a:txBody>
                  <a:tcPr marL="91440" marR="91440"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EF3C7"/>
                    </a:solidFill>
                  </a:tcPr>
                </a:tc>
              </a:tr>
              <a:tr h="384048">
                <a:tc>
                  <a:txBody>
                    <a:bodyPr/>
                    <a:lstStyle/>
                    <a:p>
                      <a:pPr indent="0" marL="0">
                        <a:buNone/>
                      </a:pPr>
                      <a:r>
                        <a:rPr lang="en-US" sz="1400" dirty="0">
                          <a:solidFill>
                            <a:srgbClr val="0F172A"/>
                          </a:solidFill>
                        </a:rPr>
                        <a:t>Lamps</a:t>
                      </a:r>
                      <a:endParaRPr lang="en-US" sz="1400" dirty="0"/>
                    </a:p>
                  </a:txBody>
                  <a:tcPr marL="91440" marR="91440"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0F172A"/>
                          </a:solidFill>
                        </a:rPr>
                        <a:t>40</a:t>
                      </a:r>
                      <a:endParaRPr lang="en-US" sz="1400" dirty="0"/>
                    </a:p>
                  </a:txBody>
                  <a:tcPr marL="91440" marR="91440"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0F172A"/>
                          </a:solidFill>
                        </a:rPr>
                        <a:t>—</a:t>
                      </a:r>
                      <a:endParaRPr lang="en-US" sz="1400" dirty="0"/>
                    </a:p>
                  </a:txBody>
                  <a:tcPr marL="91440" marR="91440"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400" b="1" dirty="0">
                          <a:solidFill>
                            <a:srgbClr val="DC2626"/>
                          </a:solidFill>
                        </a:rPr>
                        <a:t>Only in A</a:t>
                      </a:r>
                      <a:endParaRPr lang="en-US" sz="1400" dirty="0"/>
                    </a:p>
                  </a:txBody>
                  <a:tcPr marL="91440" marR="91440"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
        <p:nvSpPr>
          <p:cNvPr id="17" name="Text 12"/>
          <p:cNvSpPr txBox="1"/>
          <p:nvPr/>
        </p:nvSpPr>
        <p:spPr>
          <a:xfrm>
            <a:off x="548640" y="5760720"/>
            <a:ext cx="2743200" cy="274320"/>
          </a:xfrm>
          <a:prstGeom prst="rect">
            <a:avLst/>
          </a:prstGeom>
          <a:noFill/>
          <a:ln/>
        </p:spPr>
        <p:txBody>
          <a:bodyPr wrap="square" lIns="0" tIns="0" rIns="0" bIns="0" rtlCol="0" anchor="ctr"/>
          <a:lstStyle/>
          <a:p>
            <a:pPr indent="0" marL="0">
              <a:buNone/>
            </a:pPr>
            <a:r>
              <a:rPr lang="en-US" sz="1200" dirty="0">
                <a:solidFill>
                  <a:schemeClr val="accent5"/>
                </a:solidFill>
              </a:rPr>
              <a:t>Example</a:t>
            </a:r>
            <a:endParaRPr lang="en-US" sz="1200" dirty="0"/>
          </a:p>
        </p:txBody>
      </p:sp>
      <p:sp>
        <p:nvSpPr>
          <p:cNvPr id="18" name="icon-circle-FaFileExcel"/>
          <p:cNvSpPr/>
          <p:nvPr/>
        </p:nvSpPr>
        <p:spPr>
          <a:xfrm>
            <a:off x="6583680" y="1554480"/>
            <a:ext cx="640080" cy="640080"/>
          </a:xfrm>
          <a:prstGeom prst="ellipse">
            <a:avLst/>
          </a:prstGeom>
          <a:solidFill>
            <a:srgbClr val="0E9F8E"/>
          </a:solidFill>
          <a:ln w="12700">
            <a:solidFill>
              <a:srgbClr val="0E9F8E"/>
            </a:solidFill>
            <a:prstDash val="solid"/>
          </a:ln>
        </p:spPr>
      </p:sp>
      <p:pic>
        <p:nvPicPr>
          <p:cNvPr id="19" name="Image 2" descr="FileExcel icon">    </p:cNvPr>
          <p:cNvPicPr>
            <a:picLocks noChangeAspect="1"/>
          </p:cNvPicPr>
          <p:nvPr/>
        </p:nvPicPr>
        <p:blipFill>
          <a:blip r:embed="rId3"/>
          <a:stretch>
            <a:fillRect/>
          </a:stretch>
        </p:blipFill>
        <p:spPr>
          <a:xfrm>
            <a:off x="6750101" y="1720901"/>
            <a:ext cx="307238" cy="307238"/>
          </a:xfrm>
          <a:prstGeom prst="rect">
            <a:avLst/>
          </a:prstGeom>
        </p:spPr>
      </p:pic>
      <p:sp>
        <p:nvSpPr>
          <p:cNvPr id="20" name="Text 14"/>
          <p:cNvSpPr txBox="1"/>
          <p:nvPr/>
        </p:nvSpPr>
        <p:spPr>
          <a:xfrm>
            <a:off x="7406640" y="1554480"/>
            <a:ext cx="4206240" cy="365760"/>
          </a:xfrm>
          <a:prstGeom prst="rect">
            <a:avLst/>
          </a:prstGeom>
          <a:noFill/>
          <a:ln/>
        </p:spPr>
        <p:txBody>
          <a:bodyPr wrap="square" lIns="0" tIns="0" rIns="0" bIns="0" rtlCol="0" anchor="ctr"/>
          <a:lstStyle/>
          <a:p>
            <a:pPr indent="0" marL="0">
              <a:buNone/>
            </a:pPr>
            <a:r>
              <a:rPr lang="en-US" sz="1800" b="1" dirty="0">
                <a:solidFill>
                  <a:schemeClr val="tx1"/>
                </a:solidFill>
              </a:rPr>
              <a:t>Reads the files you already have</a:t>
            </a:r>
            <a:endParaRPr lang="en-US" sz="1800" dirty="0"/>
          </a:p>
        </p:txBody>
      </p:sp>
      <p:sp>
        <p:nvSpPr>
          <p:cNvPr id="21" name="Text 15"/>
          <p:cNvSpPr txBox="1"/>
          <p:nvPr/>
        </p:nvSpPr>
        <p:spPr>
          <a:xfrm>
            <a:off x="7406640" y="1965960"/>
            <a:ext cx="4206240" cy="731520"/>
          </a:xfrm>
          <a:prstGeom prst="rect">
            <a:avLst/>
          </a:prstGeom>
          <a:noFill/>
          <a:ln/>
        </p:spPr>
        <p:txBody>
          <a:bodyPr wrap="square" lIns="0" tIns="0" rIns="0" bIns="0" rtlCol="0" anchor="t"/>
          <a:lstStyle/>
          <a:p>
            <a:pPr indent="0" marL="0">
              <a:buNone/>
            </a:pPr>
            <a:r>
              <a:rPr lang="en-US" sz="1400" dirty="0">
                <a:solidFill>
                  <a:schemeClr val="accent5"/>
                </a:solidFill>
              </a:rPr>
              <a:t>CSV, Excel and PDF, including HandOffly’s own PDFs.</a:t>
            </a:r>
            <a:endParaRPr lang="en-US" sz="1400" dirty="0"/>
          </a:p>
        </p:txBody>
      </p:sp>
      <p:sp>
        <p:nvSpPr>
          <p:cNvPr id="22" name="icon-circle-FaHighlighter"/>
          <p:cNvSpPr/>
          <p:nvPr/>
        </p:nvSpPr>
        <p:spPr>
          <a:xfrm>
            <a:off x="6583680" y="2926080"/>
            <a:ext cx="640080" cy="640080"/>
          </a:xfrm>
          <a:prstGeom prst="ellipse">
            <a:avLst/>
          </a:prstGeom>
          <a:solidFill>
            <a:srgbClr val="0E9F8E"/>
          </a:solidFill>
          <a:ln w="12700">
            <a:solidFill>
              <a:srgbClr val="0E9F8E"/>
            </a:solidFill>
            <a:prstDash val="solid"/>
          </a:ln>
        </p:spPr>
      </p:sp>
      <p:pic>
        <p:nvPicPr>
          <p:cNvPr id="23" name="Image 3" descr="Highlighter icon">    </p:cNvPr>
          <p:cNvPicPr>
            <a:picLocks noChangeAspect="1"/>
          </p:cNvPicPr>
          <p:nvPr/>
        </p:nvPicPr>
        <p:blipFill>
          <a:blip r:embed="rId4"/>
          <a:stretch>
            <a:fillRect/>
          </a:stretch>
        </p:blipFill>
        <p:spPr>
          <a:xfrm>
            <a:off x="6750101" y="3092501"/>
            <a:ext cx="307238" cy="307238"/>
          </a:xfrm>
          <a:prstGeom prst="rect">
            <a:avLst/>
          </a:prstGeom>
        </p:spPr>
      </p:pic>
      <p:sp>
        <p:nvSpPr>
          <p:cNvPr id="24" name="Text 17"/>
          <p:cNvSpPr txBox="1"/>
          <p:nvPr/>
        </p:nvSpPr>
        <p:spPr>
          <a:xfrm>
            <a:off x="7406640" y="2926080"/>
            <a:ext cx="4206240" cy="365760"/>
          </a:xfrm>
          <a:prstGeom prst="rect">
            <a:avLst/>
          </a:prstGeom>
          <a:noFill/>
          <a:ln/>
        </p:spPr>
        <p:txBody>
          <a:bodyPr wrap="square" lIns="0" tIns="0" rIns="0" bIns="0" rtlCol="0" anchor="ctr"/>
          <a:lstStyle/>
          <a:p>
            <a:pPr indent="0" marL="0">
              <a:buNone/>
            </a:pPr>
            <a:r>
              <a:rPr lang="en-US" sz="1800" b="1" dirty="0">
                <a:solidFill>
                  <a:schemeClr val="tx1"/>
                </a:solidFill>
              </a:rPr>
              <a:t>Highlights every difference</a:t>
            </a:r>
            <a:endParaRPr lang="en-US" sz="1800" dirty="0"/>
          </a:p>
        </p:txBody>
      </p:sp>
      <p:sp>
        <p:nvSpPr>
          <p:cNvPr id="25" name="Text 18"/>
          <p:cNvSpPr txBox="1"/>
          <p:nvPr/>
        </p:nvSpPr>
        <p:spPr>
          <a:xfrm>
            <a:off x="7406640" y="3337560"/>
            <a:ext cx="4206240" cy="731520"/>
          </a:xfrm>
          <a:prstGeom prst="rect">
            <a:avLst/>
          </a:prstGeom>
          <a:noFill/>
          <a:ln/>
        </p:spPr>
        <p:txBody>
          <a:bodyPr wrap="square" lIns="0" tIns="0" rIns="0" bIns="0" rtlCol="0" anchor="t"/>
          <a:lstStyle/>
          <a:p>
            <a:pPr indent="0" marL="0">
              <a:buNone/>
            </a:pPr>
            <a:r>
              <a:rPr lang="en-US" sz="1400" dirty="0">
                <a:solidFill>
                  <a:schemeClr val="accent5"/>
                </a:solidFill>
              </a:rPr>
              <a:t>Mismatched quantities and items that appear in only one file.</a:t>
            </a:r>
            <a:endParaRPr lang="en-US" sz="1400" dirty="0"/>
          </a:p>
        </p:txBody>
      </p:sp>
      <p:sp>
        <p:nvSpPr>
          <p:cNvPr id="26" name="icon-circle-FaMagic"/>
          <p:cNvSpPr/>
          <p:nvPr/>
        </p:nvSpPr>
        <p:spPr>
          <a:xfrm>
            <a:off x="6583680" y="4297680"/>
            <a:ext cx="640080" cy="640080"/>
          </a:xfrm>
          <a:prstGeom prst="ellipse">
            <a:avLst/>
          </a:prstGeom>
          <a:solidFill>
            <a:srgbClr val="0E9F8E"/>
          </a:solidFill>
          <a:ln w="12700">
            <a:solidFill>
              <a:srgbClr val="0E9F8E"/>
            </a:solidFill>
            <a:prstDash val="solid"/>
          </a:ln>
        </p:spPr>
      </p:sp>
      <p:pic>
        <p:nvPicPr>
          <p:cNvPr id="27" name="Image 4" descr="Magic icon">    </p:cNvPr>
          <p:cNvPicPr>
            <a:picLocks noChangeAspect="1"/>
          </p:cNvPicPr>
          <p:nvPr/>
        </p:nvPicPr>
        <p:blipFill>
          <a:blip r:embed="rId5"/>
          <a:stretch>
            <a:fillRect/>
          </a:stretch>
        </p:blipFill>
        <p:spPr>
          <a:xfrm>
            <a:off x="6750101" y="4464101"/>
            <a:ext cx="307238" cy="307238"/>
          </a:xfrm>
          <a:prstGeom prst="rect">
            <a:avLst/>
          </a:prstGeom>
        </p:spPr>
      </p:pic>
      <p:sp>
        <p:nvSpPr>
          <p:cNvPr id="28" name="Text 20"/>
          <p:cNvSpPr txBox="1"/>
          <p:nvPr/>
        </p:nvSpPr>
        <p:spPr>
          <a:xfrm>
            <a:off x="7406640" y="4297680"/>
            <a:ext cx="4206240" cy="365760"/>
          </a:xfrm>
          <a:prstGeom prst="rect">
            <a:avLst/>
          </a:prstGeom>
          <a:noFill/>
          <a:ln/>
        </p:spPr>
        <p:txBody>
          <a:bodyPr wrap="square" lIns="0" tIns="0" rIns="0" bIns="0" rtlCol="0" anchor="ctr"/>
          <a:lstStyle/>
          <a:p>
            <a:pPr indent="0" marL="0">
              <a:buNone/>
            </a:pPr>
            <a:r>
              <a:rPr lang="en-US" sz="1800" b="1" dirty="0">
                <a:solidFill>
                  <a:schemeClr val="tx1"/>
                </a:solidFill>
              </a:rPr>
              <a:t>Optional AI help</a:t>
            </a:r>
            <a:endParaRPr lang="en-US" sz="1800" dirty="0"/>
          </a:p>
        </p:txBody>
      </p:sp>
      <p:sp>
        <p:nvSpPr>
          <p:cNvPr id="29" name="Text 21"/>
          <p:cNvSpPr txBox="1"/>
          <p:nvPr/>
        </p:nvSpPr>
        <p:spPr>
          <a:xfrm>
            <a:off x="7406640" y="4709160"/>
            <a:ext cx="4206240" cy="731520"/>
          </a:xfrm>
          <a:prstGeom prst="rect">
            <a:avLst/>
          </a:prstGeom>
          <a:noFill/>
          <a:ln/>
        </p:spPr>
        <p:txBody>
          <a:bodyPr wrap="square" lIns="0" tIns="0" rIns="0" bIns="0" rtlCol="0" anchor="t"/>
          <a:lstStyle/>
          <a:p>
            <a:pPr indent="0" marL="0">
              <a:buNone/>
            </a:pPr>
            <a:r>
              <a:rPr lang="en-US" sz="1400" dirty="0">
                <a:solidFill>
                  <a:schemeClr val="accent5"/>
                </a:solidFill>
              </a:rPr>
              <a:t>Suggests which columns hold the item and the quantity.</a:t>
            </a:r>
            <a:endParaRPr lang="en-US" sz="1400" dirty="0"/>
          </a:p>
        </p:txBody>
      </p:sp>
      <p:sp>
        <p:nvSpPr>
          <p:cNvPr id="30" name="plan-note"/>
          <p:cNvSpPr/>
          <p:nvPr/>
        </p:nvSpPr>
        <p:spPr>
          <a:xfrm>
            <a:off x="6583680" y="5532120"/>
            <a:ext cx="5056632" cy="594360"/>
          </a:xfrm>
          <a:prstGeom prst="roundRect">
            <a:avLst>
              <a:gd name="adj" fmla="val 18462"/>
            </a:avLst>
          </a:prstGeom>
          <a:solidFill>
            <a:schemeClr val="bg2"/>
          </a:solidFill>
          <a:ln w="12700">
            <a:solidFill>
              <a:schemeClr val="bg2"/>
            </a:solidFill>
            <a:prstDash val="solid"/>
          </a:ln>
        </p:spPr>
      </p:sp>
      <p:sp>
        <p:nvSpPr>
          <p:cNvPr id="31" name="Text 23"/>
          <p:cNvSpPr txBox="1"/>
          <p:nvPr/>
        </p:nvSpPr>
        <p:spPr>
          <a:xfrm>
            <a:off x="6812280" y="5532120"/>
            <a:ext cx="4663440" cy="594360"/>
          </a:xfrm>
          <a:prstGeom prst="rect">
            <a:avLst/>
          </a:prstGeom>
          <a:noFill/>
          <a:ln/>
        </p:spPr>
        <p:txBody>
          <a:bodyPr wrap="square" lIns="0" tIns="0" rIns="0" bIns="0" rtlCol="0" anchor="ctr"/>
          <a:lstStyle/>
          <a:p>
            <a:pPr indent="0" marL="0">
              <a:buNone/>
            </a:pPr>
            <a:r>
              <a:rPr lang="en-US" sz="1400" b="1" dirty="0">
                <a:solidFill>
                  <a:schemeClr val="tx1"/>
                </a:solidFill>
              </a:rPr>
              <a:t>Included in the Half-yearly and Yearly plans.</a:t>
            </a:r>
            <a:endParaRPr lang="en-US" sz="1400" dirty="0"/>
          </a:p>
        </p:txBody>
      </p:sp>
      <p:sp>
        <p:nvSpPr>
          <p:cNvPr id="25" name="Slide Number Placeholder 0"/>
          <p:cNvSpPr>
            <a:spLocks noGrp="1"/>
          </p:cNvSpPr>
          <p:nvPr>
            <p:ph type="sldNum" sz="quarter" idx="4294967295"/>
          </p:nvPr>
        </p:nvSpPr>
        <p:spPr>
          <a:xfrm>
            <a:off x="11045952"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Know what is outstanding without asking</a:t>
            </a:r>
            <a:endParaRPr lang="en-US" sz="3200" dirty="0"/>
          </a:p>
        </p:txBody>
      </p:sp>
      <p:pic>
        <p:nvPicPr>
          <p:cNvPr id="3" name="Screenshot of the Reports page listing handoffs for the month" descr="Screenshot of the Reports page listing handoffs for the month">    </p:cNvPr>
          <p:cNvPicPr>
            <a:picLocks noChangeAspect="1"/>
          </p:cNvPicPr>
          <p:nvPr/>
        </p:nvPicPr>
        <p:blipFill>
          <a:blip r:embed="rId1"/>
          <a:stretch>
            <a:fillRect/>
          </a:stretch>
        </p:blipFill>
        <p:spPr>
          <a:xfrm>
            <a:off x="548640" y="1463040"/>
            <a:ext cx="6035040" cy="3771900"/>
          </a:xfrm>
          <a:prstGeom prst="rect">
            <a:avLst/>
          </a:prstGeom>
          <a:effectLst>
            <a:outerShdw sx="100000" sy="100000" kx="0" ky="0" algn="bl" rotWithShape="0" blurRad="127000" dist="38100" dir="5400000">
              <a:srgbClr val="000000">
                <a:alpha val="22000"/>
              </a:srgbClr>
            </a:outerShdw>
          </a:effectLst>
        </p:spPr>
      </p:pic>
      <p:sp>
        <p:nvSpPr>
          <p:cNvPr id="4" name="Text 1"/>
          <p:cNvSpPr txBox="1"/>
          <p:nvPr/>
        </p:nvSpPr>
        <p:spPr>
          <a:xfrm>
            <a:off x="548640" y="5440680"/>
            <a:ext cx="6035040" cy="777240"/>
          </a:xfrm>
          <a:prstGeom prst="rect">
            <a:avLst/>
          </a:prstGeom>
          <a:noFill/>
          <a:ln/>
        </p:spPr>
        <p:txBody>
          <a:bodyPr wrap="square" lIns="0" tIns="0" rIns="0" bIns="0" rtlCol="0" anchor="t"/>
          <a:lstStyle/>
          <a:p>
            <a:pPr indent="0" marL="0">
              <a:buNone/>
            </a:pPr>
            <a:r>
              <a:rPr lang="en-US" sz="1400" dirty="0">
                <a:solidFill>
                  <a:schemeClr val="tx1"/>
                </a:solidFill>
              </a:rPr>
              <a:t>Reports: every handoff for a period, with filters, sorting and export. Ask questions in plain language on Half-yearly and Yearly.</a:t>
            </a:r>
            <a:endParaRPr lang="en-US" sz="1400" dirty="0"/>
          </a:p>
        </p:txBody>
      </p:sp>
      <p:sp>
        <p:nvSpPr>
          <p:cNvPr id="5" name="Text 2"/>
          <p:cNvSpPr txBox="1"/>
          <p:nvPr/>
        </p:nvSpPr>
        <p:spPr>
          <a:xfrm>
            <a:off x="7040880" y="1463040"/>
            <a:ext cx="4599432" cy="411480"/>
          </a:xfrm>
          <a:prstGeom prst="rect">
            <a:avLst/>
          </a:prstGeom>
          <a:noFill/>
          <a:ln/>
        </p:spPr>
        <p:txBody>
          <a:bodyPr wrap="square" lIns="0" tIns="0" rIns="0" bIns="0" rtlCol="0" anchor="ctr"/>
          <a:lstStyle/>
          <a:p>
            <a:pPr indent="0" marL="0">
              <a:buNone/>
            </a:pPr>
            <a:r>
              <a:rPr lang="en-US" sz="2000" b="1" dirty="0">
                <a:solidFill>
                  <a:schemeClr val="tx1"/>
                </a:solidFill>
              </a:rPr>
              <a:t>Five optional email reminders</a:t>
            </a:r>
            <a:endParaRPr lang="en-US" sz="2000" dirty="0"/>
          </a:p>
        </p:txBody>
      </p:sp>
      <p:sp>
        <p:nvSpPr>
          <p:cNvPr id="6" name="icon-circle-FaBell"/>
          <p:cNvSpPr/>
          <p:nvPr/>
        </p:nvSpPr>
        <p:spPr>
          <a:xfrm>
            <a:off x="7040880" y="2011680"/>
            <a:ext cx="502920" cy="502920"/>
          </a:xfrm>
          <a:prstGeom prst="ellipse">
            <a:avLst/>
          </a:prstGeom>
          <a:solidFill>
            <a:srgbClr val="F59E0B"/>
          </a:solidFill>
          <a:ln w="12700">
            <a:solidFill>
              <a:srgbClr val="F59E0B"/>
            </a:solidFill>
            <a:prstDash val="solid"/>
          </a:ln>
        </p:spPr>
      </p:sp>
      <p:pic>
        <p:nvPicPr>
          <p:cNvPr id="7" name="Image 1" descr="Bell icon">    </p:cNvPr>
          <p:cNvPicPr>
            <a:picLocks noChangeAspect="1"/>
          </p:cNvPicPr>
          <p:nvPr/>
        </p:nvPicPr>
        <p:blipFill>
          <a:blip r:embed="rId2"/>
          <a:stretch>
            <a:fillRect/>
          </a:stretch>
        </p:blipFill>
        <p:spPr>
          <a:xfrm>
            <a:off x="7171639" y="2142439"/>
            <a:ext cx="241402" cy="241402"/>
          </a:xfrm>
          <a:prstGeom prst="rect">
            <a:avLst/>
          </a:prstGeom>
        </p:spPr>
      </p:pic>
      <p:sp>
        <p:nvSpPr>
          <p:cNvPr id="8" name="Text 4"/>
          <p:cNvSpPr txBox="1"/>
          <p:nvPr/>
        </p:nvSpPr>
        <p:spPr>
          <a:xfrm>
            <a:off x="7726680" y="2011680"/>
            <a:ext cx="3913632" cy="274320"/>
          </a:xfrm>
          <a:prstGeom prst="rect">
            <a:avLst/>
          </a:prstGeom>
          <a:noFill/>
          <a:ln/>
        </p:spPr>
        <p:txBody>
          <a:bodyPr wrap="square" lIns="0" tIns="0" rIns="0" bIns="0" rtlCol="0" anchor="ctr"/>
          <a:lstStyle/>
          <a:p>
            <a:pPr indent="0" marL="0">
              <a:buNone/>
            </a:pPr>
            <a:r>
              <a:rPr lang="en-US" sz="1600" b="1" dirty="0">
                <a:solidFill>
                  <a:schemeClr val="tx1"/>
                </a:solidFill>
              </a:rPr>
              <a:t>Return Reminder</a:t>
            </a:r>
            <a:endParaRPr lang="en-US" sz="1600" dirty="0"/>
          </a:p>
        </p:txBody>
      </p:sp>
      <p:sp>
        <p:nvSpPr>
          <p:cNvPr id="9" name="Text 5"/>
          <p:cNvSpPr txBox="1"/>
          <p:nvPr/>
        </p:nvSpPr>
        <p:spPr>
          <a:xfrm>
            <a:off x="7726680" y="2286000"/>
            <a:ext cx="3913632" cy="274320"/>
          </a:xfrm>
          <a:prstGeom prst="rect">
            <a:avLst/>
          </a:prstGeom>
          <a:noFill/>
          <a:ln/>
        </p:spPr>
        <p:txBody>
          <a:bodyPr wrap="square" lIns="0" tIns="0" rIns="0" bIns="0" rtlCol="0" anchor="ctr"/>
          <a:lstStyle/>
          <a:p>
            <a:pPr indent="0" marL="0">
              <a:buNone/>
            </a:pPr>
            <a:r>
              <a:rPr lang="en-US" sz="1400" dirty="0">
                <a:solidFill>
                  <a:schemeClr val="accent5"/>
                </a:solidFill>
              </a:rPr>
              <a:t>Due back in the next 2 days</a:t>
            </a:r>
            <a:endParaRPr lang="en-US" sz="1400" dirty="0"/>
          </a:p>
        </p:txBody>
      </p:sp>
      <p:sp>
        <p:nvSpPr>
          <p:cNvPr id="10" name="icon-circle-FaBell"/>
          <p:cNvSpPr/>
          <p:nvPr/>
        </p:nvSpPr>
        <p:spPr>
          <a:xfrm>
            <a:off x="7040880" y="2788920"/>
            <a:ext cx="502920" cy="502920"/>
          </a:xfrm>
          <a:prstGeom prst="ellipse">
            <a:avLst/>
          </a:prstGeom>
          <a:solidFill>
            <a:srgbClr val="F59E0B"/>
          </a:solidFill>
          <a:ln w="12700">
            <a:solidFill>
              <a:srgbClr val="F59E0B"/>
            </a:solidFill>
            <a:prstDash val="solid"/>
          </a:ln>
        </p:spPr>
      </p:sp>
      <p:pic>
        <p:nvPicPr>
          <p:cNvPr id="11" name="Image 2" descr="Bell icon">    </p:cNvPr>
          <p:cNvPicPr>
            <a:picLocks noChangeAspect="1"/>
          </p:cNvPicPr>
          <p:nvPr/>
        </p:nvPicPr>
        <p:blipFill>
          <a:blip r:embed="rId3"/>
          <a:stretch>
            <a:fillRect/>
          </a:stretch>
        </p:blipFill>
        <p:spPr>
          <a:xfrm>
            <a:off x="7171639" y="2919679"/>
            <a:ext cx="241402" cy="241402"/>
          </a:xfrm>
          <a:prstGeom prst="rect">
            <a:avLst/>
          </a:prstGeom>
        </p:spPr>
      </p:pic>
      <p:sp>
        <p:nvSpPr>
          <p:cNvPr id="12" name="Text 7"/>
          <p:cNvSpPr txBox="1"/>
          <p:nvPr/>
        </p:nvSpPr>
        <p:spPr>
          <a:xfrm>
            <a:off x="7726680" y="2788920"/>
            <a:ext cx="3913632" cy="274320"/>
          </a:xfrm>
          <a:prstGeom prst="rect">
            <a:avLst/>
          </a:prstGeom>
          <a:noFill/>
          <a:ln/>
        </p:spPr>
        <p:txBody>
          <a:bodyPr wrap="square" lIns="0" tIns="0" rIns="0" bIns="0" rtlCol="0" anchor="ctr"/>
          <a:lstStyle/>
          <a:p>
            <a:pPr indent="0" marL="0">
              <a:buNone/>
            </a:pPr>
            <a:r>
              <a:rPr lang="en-US" sz="1600" b="1" dirty="0">
                <a:solidFill>
                  <a:schemeClr val="tx1"/>
                </a:solidFill>
              </a:rPr>
              <a:t>Overdue Reminder</a:t>
            </a:r>
            <a:endParaRPr lang="en-US" sz="1600" dirty="0"/>
          </a:p>
        </p:txBody>
      </p:sp>
      <p:sp>
        <p:nvSpPr>
          <p:cNvPr id="13" name="Text 8"/>
          <p:cNvSpPr txBox="1"/>
          <p:nvPr/>
        </p:nvSpPr>
        <p:spPr>
          <a:xfrm>
            <a:off x="7726680" y="3063240"/>
            <a:ext cx="3913632" cy="274320"/>
          </a:xfrm>
          <a:prstGeom prst="rect">
            <a:avLst/>
          </a:prstGeom>
          <a:noFill/>
          <a:ln/>
        </p:spPr>
        <p:txBody>
          <a:bodyPr wrap="square" lIns="0" tIns="0" rIns="0" bIns="0" rtlCol="0" anchor="ctr"/>
          <a:lstStyle/>
          <a:p>
            <a:pPr indent="0" marL="0">
              <a:buNone/>
            </a:pPr>
            <a:r>
              <a:rPr lang="en-US" sz="1400" dirty="0">
                <a:solidFill>
                  <a:schemeClr val="accent5"/>
                </a:solidFill>
              </a:rPr>
              <a:t>Past their return date</a:t>
            </a:r>
            <a:endParaRPr lang="en-US" sz="1400" dirty="0"/>
          </a:p>
        </p:txBody>
      </p:sp>
      <p:sp>
        <p:nvSpPr>
          <p:cNvPr id="14" name="icon-circle-FaBell"/>
          <p:cNvSpPr/>
          <p:nvPr/>
        </p:nvSpPr>
        <p:spPr>
          <a:xfrm>
            <a:off x="7040880" y="3566160"/>
            <a:ext cx="502920" cy="502920"/>
          </a:xfrm>
          <a:prstGeom prst="ellipse">
            <a:avLst/>
          </a:prstGeom>
          <a:solidFill>
            <a:srgbClr val="F59E0B"/>
          </a:solidFill>
          <a:ln w="12700">
            <a:solidFill>
              <a:srgbClr val="F59E0B"/>
            </a:solidFill>
            <a:prstDash val="solid"/>
          </a:ln>
        </p:spPr>
      </p:sp>
      <p:pic>
        <p:nvPicPr>
          <p:cNvPr id="15" name="Image 3" descr="Bell icon">    </p:cNvPr>
          <p:cNvPicPr>
            <a:picLocks noChangeAspect="1"/>
          </p:cNvPicPr>
          <p:nvPr/>
        </p:nvPicPr>
        <p:blipFill>
          <a:blip r:embed="rId4"/>
          <a:stretch>
            <a:fillRect/>
          </a:stretch>
        </p:blipFill>
        <p:spPr>
          <a:xfrm>
            <a:off x="7171639" y="3696919"/>
            <a:ext cx="241402" cy="241402"/>
          </a:xfrm>
          <a:prstGeom prst="rect">
            <a:avLst/>
          </a:prstGeom>
        </p:spPr>
      </p:pic>
      <p:sp>
        <p:nvSpPr>
          <p:cNvPr id="16" name="Text 10"/>
          <p:cNvSpPr txBox="1"/>
          <p:nvPr/>
        </p:nvSpPr>
        <p:spPr>
          <a:xfrm>
            <a:off x="7726680" y="3566160"/>
            <a:ext cx="3913632" cy="274320"/>
          </a:xfrm>
          <a:prstGeom prst="rect">
            <a:avLst/>
          </a:prstGeom>
          <a:noFill/>
          <a:ln/>
        </p:spPr>
        <p:txBody>
          <a:bodyPr wrap="square" lIns="0" tIns="0" rIns="0" bIns="0" rtlCol="0" anchor="ctr"/>
          <a:lstStyle/>
          <a:p>
            <a:pPr indent="0" marL="0">
              <a:buNone/>
            </a:pPr>
            <a:r>
              <a:rPr lang="en-US" sz="1600" b="1" dirty="0">
                <a:solidFill>
                  <a:schemeClr val="tx1"/>
                </a:solidFill>
              </a:rPr>
              <a:t>Missing Item Reminder</a:t>
            </a:r>
            <a:endParaRPr lang="en-US" sz="1600" dirty="0"/>
          </a:p>
        </p:txBody>
      </p:sp>
      <p:sp>
        <p:nvSpPr>
          <p:cNvPr id="17" name="Text 11"/>
          <p:cNvSpPr txBox="1"/>
          <p:nvPr/>
        </p:nvSpPr>
        <p:spPr>
          <a:xfrm>
            <a:off x="7726680" y="3840480"/>
            <a:ext cx="3913632" cy="274320"/>
          </a:xfrm>
          <a:prstGeom prst="rect">
            <a:avLst/>
          </a:prstGeom>
          <a:noFill/>
          <a:ln/>
        </p:spPr>
        <p:txBody>
          <a:bodyPr wrap="square" lIns="0" tIns="0" rIns="0" bIns="0" rtlCol="0" anchor="ctr"/>
          <a:lstStyle/>
          <a:p>
            <a:pPr indent="0" marL="0">
              <a:buNone/>
            </a:pPr>
            <a:r>
              <a:rPr lang="en-US" sz="1400" dirty="0">
                <a:solidFill>
                  <a:schemeClr val="accent5"/>
                </a:solidFill>
              </a:rPr>
              <a:t>Items still marked missing</a:t>
            </a:r>
            <a:endParaRPr lang="en-US" sz="1400" dirty="0"/>
          </a:p>
        </p:txBody>
      </p:sp>
      <p:sp>
        <p:nvSpPr>
          <p:cNvPr id="18" name="icon-circle-FaBell"/>
          <p:cNvSpPr/>
          <p:nvPr/>
        </p:nvSpPr>
        <p:spPr>
          <a:xfrm>
            <a:off x="7040880" y="4343400"/>
            <a:ext cx="502920" cy="502920"/>
          </a:xfrm>
          <a:prstGeom prst="ellipse">
            <a:avLst/>
          </a:prstGeom>
          <a:solidFill>
            <a:srgbClr val="F59E0B"/>
          </a:solidFill>
          <a:ln w="12700">
            <a:solidFill>
              <a:srgbClr val="F59E0B"/>
            </a:solidFill>
            <a:prstDash val="solid"/>
          </a:ln>
        </p:spPr>
      </p:sp>
      <p:pic>
        <p:nvPicPr>
          <p:cNvPr id="19" name="Image 4" descr="Bell icon">    </p:cNvPr>
          <p:cNvPicPr>
            <a:picLocks noChangeAspect="1"/>
          </p:cNvPicPr>
          <p:nvPr/>
        </p:nvPicPr>
        <p:blipFill>
          <a:blip r:embed="rId5"/>
          <a:stretch>
            <a:fillRect/>
          </a:stretch>
        </p:blipFill>
        <p:spPr>
          <a:xfrm>
            <a:off x="7171639" y="4474159"/>
            <a:ext cx="241402" cy="241402"/>
          </a:xfrm>
          <a:prstGeom prst="rect">
            <a:avLst/>
          </a:prstGeom>
        </p:spPr>
      </p:pic>
      <p:sp>
        <p:nvSpPr>
          <p:cNvPr id="20" name="Text 13"/>
          <p:cNvSpPr txBox="1"/>
          <p:nvPr/>
        </p:nvSpPr>
        <p:spPr>
          <a:xfrm>
            <a:off x="7726680" y="4343400"/>
            <a:ext cx="3913632" cy="274320"/>
          </a:xfrm>
          <a:prstGeom prst="rect">
            <a:avLst/>
          </a:prstGeom>
          <a:noFill/>
          <a:ln/>
        </p:spPr>
        <p:txBody>
          <a:bodyPr wrap="square" lIns="0" tIns="0" rIns="0" bIns="0" rtlCol="0" anchor="ctr"/>
          <a:lstStyle/>
          <a:p>
            <a:pPr indent="0" marL="0">
              <a:buNone/>
            </a:pPr>
            <a:r>
              <a:rPr lang="en-US" sz="1600" b="1" dirty="0">
                <a:solidFill>
                  <a:schemeClr val="tx1"/>
                </a:solidFill>
              </a:rPr>
              <a:t>Recipient Response Reminder</a:t>
            </a:r>
            <a:endParaRPr lang="en-US" sz="1600" dirty="0"/>
          </a:p>
        </p:txBody>
      </p:sp>
      <p:sp>
        <p:nvSpPr>
          <p:cNvPr id="21" name="Text 14"/>
          <p:cNvSpPr txBox="1"/>
          <p:nvPr/>
        </p:nvSpPr>
        <p:spPr>
          <a:xfrm>
            <a:off x="7726680" y="4617720"/>
            <a:ext cx="3913632" cy="274320"/>
          </a:xfrm>
          <a:prstGeom prst="rect">
            <a:avLst/>
          </a:prstGeom>
          <a:noFill/>
          <a:ln/>
        </p:spPr>
        <p:txBody>
          <a:bodyPr wrap="square" lIns="0" tIns="0" rIns="0" bIns="0" rtlCol="0" anchor="ctr"/>
          <a:lstStyle/>
          <a:p>
            <a:pPr indent="0" marL="0">
              <a:buNone/>
            </a:pPr>
            <a:r>
              <a:rPr lang="en-US" sz="1400" dirty="0">
                <a:solidFill>
                  <a:schemeClr val="accent5"/>
                </a:solidFill>
              </a:rPr>
              <a:t>Sent, but not answered after a day</a:t>
            </a:r>
            <a:endParaRPr lang="en-US" sz="1400" dirty="0"/>
          </a:p>
        </p:txBody>
      </p:sp>
      <p:sp>
        <p:nvSpPr>
          <p:cNvPr id="22" name="icon-circle-FaBell"/>
          <p:cNvSpPr/>
          <p:nvPr/>
        </p:nvSpPr>
        <p:spPr>
          <a:xfrm>
            <a:off x="7040880" y="5120640"/>
            <a:ext cx="502920" cy="502920"/>
          </a:xfrm>
          <a:prstGeom prst="ellipse">
            <a:avLst/>
          </a:prstGeom>
          <a:solidFill>
            <a:srgbClr val="F59E0B"/>
          </a:solidFill>
          <a:ln w="12700">
            <a:solidFill>
              <a:srgbClr val="F59E0B"/>
            </a:solidFill>
            <a:prstDash val="solid"/>
          </a:ln>
        </p:spPr>
      </p:sp>
      <p:pic>
        <p:nvPicPr>
          <p:cNvPr id="23" name="Image 5" descr="Bell icon">    </p:cNvPr>
          <p:cNvPicPr>
            <a:picLocks noChangeAspect="1"/>
          </p:cNvPicPr>
          <p:nvPr/>
        </p:nvPicPr>
        <p:blipFill>
          <a:blip r:embed="rId6"/>
          <a:stretch>
            <a:fillRect/>
          </a:stretch>
        </p:blipFill>
        <p:spPr>
          <a:xfrm>
            <a:off x="7171639" y="5251399"/>
            <a:ext cx="241402" cy="241402"/>
          </a:xfrm>
          <a:prstGeom prst="rect">
            <a:avLst/>
          </a:prstGeom>
        </p:spPr>
      </p:pic>
      <p:sp>
        <p:nvSpPr>
          <p:cNvPr id="24" name="Text 16"/>
          <p:cNvSpPr txBox="1"/>
          <p:nvPr/>
        </p:nvSpPr>
        <p:spPr>
          <a:xfrm>
            <a:off x="7726680" y="5120640"/>
            <a:ext cx="3913632" cy="274320"/>
          </a:xfrm>
          <a:prstGeom prst="rect">
            <a:avLst/>
          </a:prstGeom>
          <a:noFill/>
          <a:ln/>
        </p:spPr>
        <p:txBody>
          <a:bodyPr wrap="square" lIns="0" tIns="0" rIns="0" bIns="0" rtlCol="0" anchor="ctr"/>
          <a:lstStyle/>
          <a:p>
            <a:pPr indent="0" marL="0">
              <a:buNone/>
            </a:pPr>
            <a:r>
              <a:rPr lang="en-US" sz="1600" b="1" dirty="0">
                <a:solidFill>
                  <a:schemeClr val="tx1"/>
                </a:solidFill>
              </a:rPr>
              <a:t>Weekly Summary</a:t>
            </a:r>
            <a:endParaRPr lang="en-US" sz="1600" dirty="0"/>
          </a:p>
        </p:txBody>
      </p:sp>
      <p:sp>
        <p:nvSpPr>
          <p:cNvPr id="25" name="Text 17"/>
          <p:cNvSpPr txBox="1"/>
          <p:nvPr/>
        </p:nvSpPr>
        <p:spPr>
          <a:xfrm>
            <a:off x="7726680" y="5394960"/>
            <a:ext cx="3913632" cy="274320"/>
          </a:xfrm>
          <a:prstGeom prst="rect">
            <a:avLst/>
          </a:prstGeom>
          <a:noFill/>
          <a:ln/>
        </p:spPr>
        <p:txBody>
          <a:bodyPr wrap="square" lIns="0" tIns="0" rIns="0" bIns="0" rtlCol="0" anchor="ctr"/>
          <a:lstStyle/>
          <a:p>
            <a:pPr indent="0" marL="0">
              <a:buNone/>
            </a:pPr>
            <a:r>
              <a:rPr lang="en-US" sz="1400" dirty="0">
                <a:solidFill>
                  <a:schemeClr val="accent5"/>
                </a:solidFill>
              </a:rPr>
              <a:t>The last 7 days at a glance</a:t>
            </a:r>
            <a:endParaRPr lang="en-US" sz="1400" dirty="0"/>
          </a:p>
        </p:txBody>
      </p:sp>
      <p:sp>
        <p:nvSpPr>
          <p:cNvPr id="26" name="Text 18"/>
          <p:cNvSpPr txBox="1"/>
          <p:nvPr/>
        </p:nvSpPr>
        <p:spPr>
          <a:xfrm>
            <a:off x="7040880" y="5943600"/>
            <a:ext cx="4599432" cy="274320"/>
          </a:xfrm>
          <a:prstGeom prst="rect">
            <a:avLst/>
          </a:prstGeom>
          <a:noFill/>
          <a:ln/>
        </p:spPr>
        <p:txBody>
          <a:bodyPr wrap="square" lIns="0" tIns="0" rIns="0" bIns="0" rtlCol="0" anchor="ctr"/>
          <a:lstStyle/>
          <a:p>
            <a:pPr indent="0" marL="0">
              <a:buNone/>
            </a:pPr>
            <a:r>
              <a:rPr lang="en-US" sz="1200" dirty="0">
                <a:solidFill>
                  <a:schemeClr val="accent5"/>
                </a:solidFill>
              </a:rPr>
              <a:t>You choose the schedule and timezone. Each run is kept in a history.</a:t>
            </a:r>
            <a:endParaRPr lang="en-US" sz="1200" dirty="0"/>
          </a:p>
        </p:txBody>
      </p:sp>
      <p:sp>
        <p:nvSpPr>
          <p:cNvPr id="25" name="Slide Number Placeholder 0"/>
          <p:cNvSpPr>
            <a:spLocks noGrp="1"/>
          </p:cNvSpPr>
          <p:nvPr>
            <p:ph type="sldNum" sz="quarter" idx="4294967295"/>
          </p:nvPr>
        </p:nvSpPr>
        <p:spPr>
          <a:xfrm>
            <a:off x="11045952"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Evidence you can trust</a:t>
            </a:r>
            <a:endParaRPr lang="en-US" sz="3200" dirty="0"/>
          </a:p>
        </p:txBody>
      </p:sp>
      <p:sp>
        <p:nvSpPr>
          <p:cNvPr id="3" name="evidence-panel"/>
          <p:cNvSpPr/>
          <p:nvPr/>
        </p:nvSpPr>
        <p:spPr>
          <a:xfrm>
            <a:off x="548640" y="1463040"/>
            <a:ext cx="4023360" cy="4572000"/>
          </a:xfrm>
          <a:prstGeom prst="roundRect">
            <a:avLst>
              <a:gd name="adj" fmla="val 2727"/>
            </a:avLst>
          </a:prstGeom>
          <a:solidFill>
            <a:schemeClr val="tx2"/>
          </a:solidFill>
          <a:ln w="12700">
            <a:solidFill>
              <a:schemeClr val="tx2"/>
            </a:solidFill>
            <a:prstDash val="solid"/>
          </a:ln>
        </p:spPr>
      </p:sp>
      <p:sp>
        <p:nvSpPr>
          <p:cNvPr id="4" name="Text 2"/>
          <p:cNvSpPr txBox="1"/>
          <p:nvPr/>
        </p:nvSpPr>
        <p:spPr>
          <a:xfrm>
            <a:off x="868680" y="1783080"/>
            <a:ext cx="3383280" cy="1280160"/>
          </a:xfrm>
          <a:prstGeom prst="rect">
            <a:avLst/>
          </a:prstGeom>
          <a:noFill/>
          <a:ln/>
        </p:spPr>
        <p:txBody>
          <a:bodyPr wrap="square" lIns="0" tIns="0" rIns="0" bIns="0" rtlCol="0" anchor="t"/>
          <a:lstStyle/>
          <a:p>
            <a:pPr indent="0" marL="0">
              <a:buNone/>
            </a:pPr>
            <a:r>
              <a:rPr lang="en-US" sz="2800" b="1" dirty="0">
                <a:solidFill>
                  <a:schemeClr val="bg1"/>
                </a:solidFill>
              </a:rPr>
              <a:t>Handoff records are evidence</a:t>
            </a:r>
            <a:endParaRPr lang="en-US" sz="2800" dirty="0"/>
          </a:p>
        </p:txBody>
      </p:sp>
      <p:sp>
        <p:nvSpPr>
          <p:cNvPr id="5" name="Text 3"/>
          <p:cNvSpPr txBox="1"/>
          <p:nvPr/>
        </p:nvSpPr>
        <p:spPr>
          <a:xfrm>
            <a:off x="868680" y="3200400"/>
            <a:ext cx="3383280" cy="822960"/>
          </a:xfrm>
          <a:prstGeom prst="rect">
            <a:avLst/>
          </a:prstGeom>
          <a:noFill/>
          <a:ln/>
        </p:spPr>
        <p:txBody>
          <a:bodyPr wrap="square" lIns="0" tIns="0" rIns="0" bIns="0" rtlCol="0" anchor="t"/>
          <a:lstStyle/>
          <a:p>
            <a:pPr indent="0" marL="0">
              <a:buNone/>
            </a:pPr>
            <a:r>
              <a:rPr lang="en-US" sz="1800" dirty="0">
                <a:solidFill>
                  <a:schemeClr val="accent6"/>
                </a:solidFill>
              </a:rPr>
              <a:t>So history is preserved and access is tight.</a:t>
            </a:r>
            <a:endParaRPr lang="en-US" sz="1800" dirty="0"/>
          </a:p>
        </p:txBody>
      </p:sp>
      <p:sp>
        <p:nvSpPr>
          <p:cNvPr id="6" name="Text 4"/>
          <p:cNvSpPr txBox="1"/>
          <p:nvPr/>
        </p:nvSpPr>
        <p:spPr>
          <a:xfrm>
            <a:off x="868680" y="4663440"/>
            <a:ext cx="3383280" cy="1097280"/>
          </a:xfrm>
          <a:prstGeom prst="rect">
            <a:avLst/>
          </a:prstGeom>
          <a:noFill/>
          <a:ln/>
        </p:spPr>
        <p:txBody>
          <a:bodyPr wrap="square" lIns="0" tIns="0" rIns="0" bIns="0" rtlCol="0" anchor="t"/>
          <a:lstStyle/>
          <a:p>
            <a:pPr indent="0" marL="0">
              <a:buNone/>
            </a:pPr>
            <a:r>
              <a:rPr lang="en-US" sz="1400" dirty="0">
                <a:solidFill>
                  <a:schemeClr val="accent6"/>
                </a:solidFill>
              </a:rPr>
              <a:t>A typed acknowledgement is a record of confirmation, not a legally binding e-signature.</a:t>
            </a:r>
            <a:endParaRPr lang="en-US" sz="1400" dirty="0"/>
          </a:p>
        </p:txBody>
      </p:sp>
      <p:sp>
        <p:nvSpPr>
          <p:cNvPr id="7" name="icon-circle-FaLock"/>
          <p:cNvSpPr/>
          <p:nvPr/>
        </p:nvSpPr>
        <p:spPr>
          <a:xfrm>
            <a:off x="4983480" y="1536192"/>
            <a:ext cx="640080" cy="640080"/>
          </a:xfrm>
          <a:prstGeom prst="ellipse">
            <a:avLst/>
          </a:prstGeom>
          <a:solidFill>
            <a:srgbClr val="2563EB"/>
          </a:solidFill>
          <a:ln w="12700">
            <a:solidFill>
              <a:srgbClr val="2563EB"/>
            </a:solidFill>
            <a:prstDash val="solid"/>
          </a:ln>
        </p:spPr>
      </p:sp>
      <p:pic>
        <p:nvPicPr>
          <p:cNvPr id="8" name="Image 0" descr="Lock icon">    </p:cNvPr>
          <p:cNvPicPr>
            <a:picLocks noChangeAspect="1"/>
          </p:cNvPicPr>
          <p:nvPr/>
        </p:nvPicPr>
        <p:blipFill>
          <a:blip r:embed="rId1"/>
          <a:stretch>
            <a:fillRect/>
          </a:stretch>
        </p:blipFill>
        <p:spPr>
          <a:xfrm>
            <a:off x="5149901" y="1702613"/>
            <a:ext cx="307238" cy="307238"/>
          </a:xfrm>
          <a:prstGeom prst="rect">
            <a:avLst/>
          </a:prstGeom>
        </p:spPr>
      </p:pic>
      <p:sp>
        <p:nvSpPr>
          <p:cNvPr id="9" name="Text 6"/>
          <p:cNvSpPr txBox="1"/>
          <p:nvPr/>
        </p:nvSpPr>
        <p:spPr>
          <a:xfrm>
            <a:off x="5852160" y="1463040"/>
            <a:ext cx="5760720" cy="365760"/>
          </a:xfrm>
          <a:prstGeom prst="rect">
            <a:avLst/>
          </a:prstGeom>
          <a:noFill/>
          <a:ln/>
        </p:spPr>
        <p:txBody>
          <a:bodyPr wrap="square" lIns="0" tIns="0" rIns="0" bIns="0" rtlCol="0" anchor="ctr"/>
          <a:lstStyle/>
          <a:p>
            <a:pPr indent="0" marL="0">
              <a:buNone/>
            </a:pPr>
            <a:r>
              <a:rPr lang="en-US" sz="1800" b="1" dirty="0">
                <a:solidFill>
                  <a:schemeClr val="tx1"/>
                </a:solidFill>
              </a:rPr>
              <a:t>Protected accounts</a:t>
            </a:r>
            <a:endParaRPr lang="en-US" sz="1800" dirty="0"/>
          </a:p>
        </p:txBody>
      </p:sp>
      <p:sp>
        <p:nvSpPr>
          <p:cNvPr id="10" name="Text 7"/>
          <p:cNvSpPr txBox="1"/>
          <p:nvPr/>
        </p:nvSpPr>
        <p:spPr>
          <a:xfrm>
            <a:off x="5852160" y="1847088"/>
            <a:ext cx="5760720" cy="502920"/>
          </a:xfrm>
          <a:prstGeom prst="rect">
            <a:avLst/>
          </a:prstGeom>
          <a:noFill/>
          <a:ln/>
        </p:spPr>
        <p:txBody>
          <a:bodyPr wrap="square" lIns="0" tIns="0" rIns="0" bIns="0" rtlCol="0" anchor="t"/>
          <a:lstStyle/>
          <a:p>
            <a:pPr indent="0" marL="0">
              <a:buNone/>
            </a:pPr>
            <a:r>
              <a:rPr lang="en-US" sz="1400" dirty="0">
                <a:solidFill>
                  <a:schemeClr val="accent5"/>
                </a:solidFill>
              </a:rPr>
              <a:t>Passwords are stored hashed and sign-in attempts are rate limited.</a:t>
            </a:r>
            <a:endParaRPr lang="en-US" sz="1400" dirty="0"/>
          </a:p>
        </p:txBody>
      </p:sp>
      <p:sp>
        <p:nvSpPr>
          <p:cNvPr id="11" name="icon-circle-FaClock"/>
          <p:cNvSpPr/>
          <p:nvPr/>
        </p:nvSpPr>
        <p:spPr>
          <a:xfrm>
            <a:off x="4983480" y="2468880"/>
            <a:ext cx="640080" cy="640080"/>
          </a:xfrm>
          <a:prstGeom prst="ellipse">
            <a:avLst/>
          </a:prstGeom>
          <a:solidFill>
            <a:srgbClr val="2563EB"/>
          </a:solidFill>
          <a:ln w="12700">
            <a:solidFill>
              <a:srgbClr val="2563EB"/>
            </a:solidFill>
            <a:prstDash val="solid"/>
          </a:ln>
        </p:spPr>
      </p:sp>
      <p:pic>
        <p:nvPicPr>
          <p:cNvPr id="12" name="Image 1" descr="Clock icon">    </p:cNvPr>
          <p:cNvPicPr>
            <a:picLocks noChangeAspect="1"/>
          </p:cNvPicPr>
          <p:nvPr/>
        </p:nvPicPr>
        <p:blipFill>
          <a:blip r:embed="rId2"/>
          <a:stretch>
            <a:fillRect/>
          </a:stretch>
        </p:blipFill>
        <p:spPr>
          <a:xfrm>
            <a:off x="5149901" y="2635301"/>
            <a:ext cx="307238" cy="307238"/>
          </a:xfrm>
          <a:prstGeom prst="rect">
            <a:avLst/>
          </a:prstGeom>
        </p:spPr>
      </p:pic>
      <p:sp>
        <p:nvSpPr>
          <p:cNvPr id="13" name="Text 9"/>
          <p:cNvSpPr txBox="1"/>
          <p:nvPr/>
        </p:nvSpPr>
        <p:spPr>
          <a:xfrm>
            <a:off x="5852160" y="2395728"/>
            <a:ext cx="5760720" cy="365760"/>
          </a:xfrm>
          <a:prstGeom prst="rect">
            <a:avLst/>
          </a:prstGeom>
          <a:noFill/>
          <a:ln/>
        </p:spPr>
        <p:txBody>
          <a:bodyPr wrap="square" lIns="0" tIns="0" rIns="0" bIns="0" rtlCol="0" anchor="ctr"/>
          <a:lstStyle/>
          <a:p>
            <a:pPr indent="0" marL="0">
              <a:buNone/>
            </a:pPr>
            <a:r>
              <a:rPr lang="en-US" sz="1800" b="1" dirty="0">
                <a:solidFill>
                  <a:schemeClr val="tx1"/>
                </a:solidFill>
              </a:rPr>
              <a:t>Automatic sign-out</a:t>
            </a:r>
            <a:endParaRPr lang="en-US" sz="1800" dirty="0"/>
          </a:p>
        </p:txBody>
      </p:sp>
      <p:sp>
        <p:nvSpPr>
          <p:cNvPr id="14" name="Text 10"/>
          <p:cNvSpPr txBox="1"/>
          <p:nvPr/>
        </p:nvSpPr>
        <p:spPr>
          <a:xfrm>
            <a:off x="5852160" y="2779776"/>
            <a:ext cx="5760720" cy="502920"/>
          </a:xfrm>
          <a:prstGeom prst="rect">
            <a:avLst/>
          </a:prstGeom>
          <a:noFill/>
          <a:ln/>
        </p:spPr>
        <p:txBody>
          <a:bodyPr wrap="square" lIns="0" tIns="0" rIns="0" bIns="0" rtlCol="0" anchor="t"/>
          <a:lstStyle/>
          <a:p>
            <a:pPr indent="0" marL="0">
              <a:buNone/>
            </a:pPr>
            <a:r>
              <a:rPr lang="en-US" sz="1400" dirty="0">
                <a:solidFill>
                  <a:schemeClr val="accent5"/>
                </a:solidFill>
              </a:rPr>
              <a:t>Sessions end after 15 minutes of inactivity, in the app and on the server.</a:t>
            </a:r>
            <a:endParaRPr lang="en-US" sz="1400" dirty="0"/>
          </a:p>
        </p:txBody>
      </p:sp>
      <p:sp>
        <p:nvSpPr>
          <p:cNvPr id="15" name="icon-circle-FaLink"/>
          <p:cNvSpPr/>
          <p:nvPr/>
        </p:nvSpPr>
        <p:spPr>
          <a:xfrm>
            <a:off x="4983480" y="3401568"/>
            <a:ext cx="640080" cy="640080"/>
          </a:xfrm>
          <a:prstGeom prst="ellipse">
            <a:avLst/>
          </a:prstGeom>
          <a:solidFill>
            <a:srgbClr val="2563EB"/>
          </a:solidFill>
          <a:ln w="12700">
            <a:solidFill>
              <a:srgbClr val="2563EB"/>
            </a:solidFill>
            <a:prstDash val="solid"/>
          </a:ln>
        </p:spPr>
      </p:sp>
      <p:pic>
        <p:nvPicPr>
          <p:cNvPr id="16" name="Image 2" descr="Link icon">    </p:cNvPr>
          <p:cNvPicPr>
            <a:picLocks noChangeAspect="1"/>
          </p:cNvPicPr>
          <p:nvPr/>
        </p:nvPicPr>
        <p:blipFill>
          <a:blip r:embed="rId3"/>
          <a:stretch>
            <a:fillRect/>
          </a:stretch>
        </p:blipFill>
        <p:spPr>
          <a:xfrm>
            <a:off x="5149901" y="3567989"/>
            <a:ext cx="307238" cy="307238"/>
          </a:xfrm>
          <a:prstGeom prst="rect">
            <a:avLst/>
          </a:prstGeom>
        </p:spPr>
      </p:pic>
      <p:sp>
        <p:nvSpPr>
          <p:cNvPr id="17" name="Text 12"/>
          <p:cNvSpPr txBox="1"/>
          <p:nvPr/>
        </p:nvSpPr>
        <p:spPr>
          <a:xfrm>
            <a:off x="5852160" y="3328416"/>
            <a:ext cx="5760720" cy="365760"/>
          </a:xfrm>
          <a:prstGeom prst="rect">
            <a:avLst/>
          </a:prstGeom>
          <a:noFill/>
          <a:ln/>
        </p:spPr>
        <p:txBody>
          <a:bodyPr wrap="square" lIns="0" tIns="0" rIns="0" bIns="0" rtlCol="0" anchor="ctr"/>
          <a:lstStyle/>
          <a:p>
            <a:pPr indent="0" marL="0">
              <a:buNone/>
            </a:pPr>
            <a:r>
              <a:rPr lang="en-US" sz="1800" b="1" dirty="0">
                <a:solidFill>
                  <a:schemeClr val="tx1"/>
                </a:solidFill>
              </a:rPr>
              <a:t>Single-handoff links</a:t>
            </a:r>
            <a:endParaRPr lang="en-US" sz="1800" dirty="0"/>
          </a:p>
        </p:txBody>
      </p:sp>
      <p:sp>
        <p:nvSpPr>
          <p:cNvPr id="18" name="Text 13"/>
          <p:cNvSpPr txBox="1"/>
          <p:nvPr/>
        </p:nvSpPr>
        <p:spPr>
          <a:xfrm>
            <a:off x="5852160" y="3712464"/>
            <a:ext cx="5760720" cy="502920"/>
          </a:xfrm>
          <a:prstGeom prst="rect">
            <a:avLst/>
          </a:prstGeom>
          <a:noFill/>
          <a:ln/>
        </p:spPr>
        <p:txBody>
          <a:bodyPr wrap="square" lIns="0" tIns="0" rIns="0" bIns="0" rtlCol="0" anchor="t"/>
          <a:lstStyle/>
          <a:p>
            <a:pPr indent="0" marL="0">
              <a:buNone/>
            </a:pPr>
            <a:r>
              <a:rPr lang="en-US" sz="1400" dirty="0">
                <a:solidFill>
                  <a:schemeClr val="accent5"/>
                </a:solidFill>
              </a:rPr>
              <a:t>Recipient links are random, stored hashed, expire and open one handoff.</a:t>
            </a:r>
            <a:endParaRPr lang="en-US" sz="1400" dirty="0"/>
          </a:p>
        </p:txBody>
      </p:sp>
      <p:sp>
        <p:nvSpPr>
          <p:cNvPr id="19" name="icon-circle-FaHistory"/>
          <p:cNvSpPr/>
          <p:nvPr/>
        </p:nvSpPr>
        <p:spPr>
          <a:xfrm>
            <a:off x="4983480" y="4334256"/>
            <a:ext cx="640080" cy="640080"/>
          </a:xfrm>
          <a:prstGeom prst="ellipse">
            <a:avLst/>
          </a:prstGeom>
          <a:solidFill>
            <a:srgbClr val="2563EB"/>
          </a:solidFill>
          <a:ln w="12700">
            <a:solidFill>
              <a:srgbClr val="2563EB"/>
            </a:solidFill>
            <a:prstDash val="solid"/>
          </a:ln>
        </p:spPr>
      </p:sp>
      <p:pic>
        <p:nvPicPr>
          <p:cNvPr id="20" name="Image 3" descr="History icon">    </p:cNvPr>
          <p:cNvPicPr>
            <a:picLocks noChangeAspect="1"/>
          </p:cNvPicPr>
          <p:nvPr/>
        </p:nvPicPr>
        <p:blipFill>
          <a:blip r:embed="rId4"/>
          <a:stretch>
            <a:fillRect/>
          </a:stretch>
        </p:blipFill>
        <p:spPr>
          <a:xfrm>
            <a:off x="5149901" y="4500677"/>
            <a:ext cx="307238" cy="307238"/>
          </a:xfrm>
          <a:prstGeom prst="rect">
            <a:avLst/>
          </a:prstGeom>
        </p:spPr>
      </p:pic>
      <p:sp>
        <p:nvSpPr>
          <p:cNvPr id="21" name="Text 15"/>
          <p:cNvSpPr txBox="1"/>
          <p:nvPr/>
        </p:nvSpPr>
        <p:spPr>
          <a:xfrm>
            <a:off x="5852160" y="4261104"/>
            <a:ext cx="5760720" cy="365760"/>
          </a:xfrm>
          <a:prstGeom prst="rect">
            <a:avLst/>
          </a:prstGeom>
          <a:noFill/>
          <a:ln/>
        </p:spPr>
        <p:txBody>
          <a:bodyPr wrap="square" lIns="0" tIns="0" rIns="0" bIns="0" rtlCol="0" anchor="ctr"/>
          <a:lstStyle/>
          <a:p>
            <a:pPr indent="0" marL="0">
              <a:buNone/>
            </a:pPr>
            <a:r>
              <a:rPr lang="en-US" sz="1800" b="1" dirty="0">
                <a:solidFill>
                  <a:schemeClr val="tx1"/>
                </a:solidFill>
              </a:rPr>
              <a:t>History preserved</a:t>
            </a:r>
            <a:endParaRPr lang="en-US" sz="1800" dirty="0"/>
          </a:p>
        </p:txBody>
      </p:sp>
      <p:sp>
        <p:nvSpPr>
          <p:cNvPr id="22" name="Text 16"/>
          <p:cNvSpPr txBox="1"/>
          <p:nvPr/>
        </p:nvSpPr>
        <p:spPr>
          <a:xfrm>
            <a:off x="5852160" y="4645152"/>
            <a:ext cx="5760720" cy="502920"/>
          </a:xfrm>
          <a:prstGeom prst="rect">
            <a:avLst/>
          </a:prstGeom>
          <a:noFill/>
          <a:ln/>
        </p:spPr>
        <p:txBody>
          <a:bodyPr wrap="square" lIns="0" tIns="0" rIns="0" bIns="0" rtlCol="0" anchor="t"/>
          <a:lstStyle/>
          <a:p>
            <a:pPr indent="0" marL="0">
              <a:buNone/>
            </a:pPr>
            <a:r>
              <a:rPr lang="en-US" sz="1400" dirty="0">
                <a:solidFill>
                  <a:schemeClr val="accent5"/>
                </a:solidFill>
              </a:rPr>
              <a:t>Returns are separate entries and events are never edited. Closed is read-only.</a:t>
            </a:r>
            <a:endParaRPr lang="en-US" sz="1400" dirty="0"/>
          </a:p>
        </p:txBody>
      </p:sp>
      <p:sp>
        <p:nvSpPr>
          <p:cNvPr id="23" name="icon-circle-FaShieldAlt"/>
          <p:cNvSpPr/>
          <p:nvPr/>
        </p:nvSpPr>
        <p:spPr>
          <a:xfrm>
            <a:off x="4983480" y="5266944"/>
            <a:ext cx="640080" cy="640080"/>
          </a:xfrm>
          <a:prstGeom prst="ellipse">
            <a:avLst/>
          </a:prstGeom>
          <a:solidFill>
            <a:srgbClr val="2563EB"/>
          </a:solidFill>
          <a:ln w="12700">
            <a:solidFill>
              <a:srgbClr val="2563EB"/>
            </a:solidFill>
            <a:prstDash val="solid"/>
          </a:ln>
        </p:spPr>
      </p:sp>
      <p:pic>
        <p:nvPicPr>
          <p:cNvPr id="24" name="Image 4" descr="ShieldAlt icon">    </p:cNvPr>
          <p:cNvPicPr>
            <a:picLocks noChangeAspect="1"/>
          </p:cNvPicPr>
          <p:nvPr/>
        </p:nvPicPr>
        <p:blipFill>
          <a:blip r:embed="rId5"/>
          <a:stretch>
            <a:fillRect/>
          </a:stretch>
        </p:blipFill>
        <p:spPr>
          <a:xfrm>
            <a:off x="5149901" y="5433365"/>
            <a:ext cx="307238" cy="307238"/>
          </a:xfrm>
          <a:prstGeom prst="rect">
            <a:avLst/>
          </a:prstGeom>
        </p:spPr>
      </p:pic>
      <p:sp>
        <p:nvSpPr>
          <p:cNvPr id="25" name="Text 18"/>
          <p:cNvSpPr txBox="1"/>
          <p:nvPr/>
        </p:nvSpPr>
        <p:spPr>
          <a:xfrm>
            <a:off x="5852160" y="5193792"/>
            <a:ext cx="5760720" cy="365760"/>
          </a:xfrm>
          <a:prstGeom prst="rect">
            <a:avLst/>
          </a:prstGeom>
          <a:noFill/>
          <a:ln/>
        </p:spPr>
        <p:txBody>
          <a:bodyPr wrap="square" lIns="0" tIns="0" rIns="0" bIns="0" rtlCol="0" anchor="ctr"/>
          <a:lstStyle/>
          <a:p>
            <a:pPr indent="0" marL="0">
              <a:buNone/>
            </a:pPr>
            <a:r>
              <a:rPr lang="en-US" sz="1800" b="1" dirty="0">
                <a:solidFill>
                  <a:schemeClr val="tx1"/>
                </a:solidFill>
              </a:rPr>
              <a:t>Isolated and validated</a:t>
            </a:r>
            <a:endParaRPr lang="en-US" sz="1800" dirty="0"/>
          </a:p>
        </p:txBody>
      </p:sp>
      <p:sp>
        <p:nvSpPr>
          <p:cNvPr id="26" name="Text 19"/>
          <p:cNvSpPr txBox="1"/>
          <p:nvPr/>
        </p:nvSpPr>
        <p:spPr>
          <a:xfrm>
            <a:off x="5852160" y="5577840"/>
            <a:ext cx="5760720" cy="502920"/>
          </a:xfrm>
          <a:prstGeom prst="rect">
            <a:avLst/>
          </a:prstGeom>
          <a:noFill/>
          <a:ln/>
        </p:spPr>
        <p:txBody>
          <a:bodyPr wrap="square" lIns="0" tIns="0" rIns="0" bIns="0" rtlCol="0" anchor="t"/>
          <a:lstStyle/>
          <a:p>
            <a:pPr indent="0" marL="0">
              <a:buNone/>
            </a:pPr>
            <a:r>
              <a:rPr lang="en-US" sz="1400" dirty="0">
                <a:solidFill>
                  <a:schemeClr val="accent5"/>
                </a:solidFill>
              </a:rPr>
              <a:t>Customers see only their own records. Uploads are checked on arrival.</a:t>
            </a:r>
            <a:endParaRPr lang="en-US" sz="1400" dirty="0"/>
          </a:p>
        </p:txBody>
      </p:sp>
      <p:sp>
        <p:nvSpPr>
          <p:cNvPr id="25" name="Slide Number Placeholder 0"/>
          <p:cNvSpPr>
            <a:spLocks noGrp="1"/>
          </p:cNvSpPr>
          <p:nvPr>
            <p:ph type="sldNum" sz="quarter" idx="4294967295"/>
          </p:nvPr>
        </p:nvSpPr>
        <p:spPr>
          <a:xfrm>
            <a:off x="11045952"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One system, every device and role</a:t>
            </a:r>
            <a:endParaRPr lang="en-US" sz="3200" dirty="0"/>
          </a:p>
        </p:txBody>
      </p:sp>
      <p:sp>
        <p:nvSpPr>
          <p:cNvPr id="3" name="platform-card-1"/>
          <p:cNvSpPr/>
          <p:nvPr/>
        </p:nvSpPr>
        <p:spPr>
          <a:xfrm>
            <a:off x="548640" y="1463040"/>
            <a:ext cx="2651760" cy="3291840"/>
          </a:xfrm>
          <a:prstGeom prst="roundRect">
            <a:avLst>
              <a:gd name="adj" fmla="val 4138"/>
            </a:avLst>
          </a:prstGeom>
          <a:solidFill>
            <a:schemeClr val="bg2"/>
          </a:solidFill>
          <a:ln w="12700">
            <a:solidFill>
              <a:schemeClr val="bg2"/>
            </a:solidFill>
            <a:prstDash val="solid"/>
          </a:ln>
        </p:spPr>
      </p:sp>
      <p:sp>
        <p:nvSpPr>
          <p:cNvPr id="4" name="icon-circle-FaDesktop"/>
          <p:cNvSpPr/>
          <p:nvPr/>
        </p:nvSpPr>
        <p:spPr>
          <a:xfrm>
            <a:off x="822960" y="1737360"/>
            <a:ext cx="777240" cy="777240"/>
          </a:xfrm>
          <a:prstGeom prst="ellipse">
            <a:avLst/>
          </a:prstGeom>
          <a:solidFill>
            <a:srgbClr val="2563EB"/>
          </a:solidFill>
          <a:ln w="12700">
            <a:solidFill>
              <a:srgbClr val="2563EB"/>
            </a:solidFill>
            <a:prstDash val="solid"/>
          </a:ln>
        </p:spPr>
      </p:sp>
      <p:pic>
        <p:nvPicPr>
          <p:cNvPr id="5" name="Image 0" descr="Desktop icon">    </p:cNvPr>
          <p:cNvPicPr>
            <a:picLocks noChangeAspect="1"/>
          </p:cNvPicPr>
          <p:nvPr/>
        </p:nvPicPr>
        <p:blipFill>
          <a:blip r:embed="rId1"/>
          <a:stretch>
            <a:fillRect/>
          </a:stretch>
        </p:blipFill>
        <p:spPr>
          <a:xfrm>
            <a:off x="1025042" y="1939442"/>
            <a:ext cx="373075" cy="373075"/>
          </a:xfrm>
          <a:prstGeom prst="rect">
            <a:avLst/>
          </a:prstGeom>
        </p:spPr>
      </p:pic>
      <p:sp>
        <p:nvSpPr>
          <p:cNvPr id="6" name="Text 3"/>
          <p:cNvSpPr txBox="1"/>
          <p:nvPr/>
        </p:nvSpPr>
        <p:spPr>
          <a:xfrm>
            <a:off x="822960" y="2743200"/>
            <a:ext cx="2148840" cy="731520"/>
          </a:xfrm>
          <a:prstGeom prst="rect">
            <a:avLst/>
          </a:prstGeom>
          <a:noFill/>
          <a:ln/>
        </p:spPr>
        <p:txBody>
          <a:bodyPr wrap="square" lIns="0" tIns="0" rIns="0" bIns="0" rtlCol="0" anchor="t"/>
          <a:lstStyle/>
          <a:p>
            <a:pPr indent="0" marL="0">
              <a:buNone/>
            </a:pPr>
            <a:r>
              <a:rPr lang="en-US" sz="1900" b="1" dirty="0">
                <a:solidFill>
                  <a:schemeClr val="tx1"/>
                </a:solidFill>
              </a:rPr>
              <a:t>Customer web app</a:t>
            </a:r>
            <a:endParaRPr lang="en-US" sz="1900" dirty="0"/>
          </a:p>
        </p:txBody>
      </p:sp>
      <p:sp>
        <p:nvSpPr>
          <p:cNvPr id="7" name="Text 4"/>
          <p:cNvSpPr txBox="1"/>
          <p:nvPr/>
        </p:nvSpPr>
        <p:spPr>
          <a:xfrm>
            <a:off x="822960" y="3474720"/>
            <a:ext cx="2148840" cy="1371600"/>
          </a:xfrm>
          <a:prstGeom prst="rect">
            <a:avLst/>
          </a:prstGeom>
          <a:noFill/>
          <a:ln/>
        </p:spPr>
        <p:txBody>
          <a:bodyPr wrap="square" lIns="0" tIns="0" rIns="0" bIns="0" rtlCol="0" anchor="t"/>
          <a:lstStyle/>
          <a:p>
            <a:pPr indent="0" marL="0">
              <a:buNone/>
            </a:pPr>
            <a:r>
              <a:rPr lang="en-US" sz="1400" dirty="0">
                <a:solidFill>
                  <a:schemeClr val="accent5"/>
                </a:solidFill>
              </a:rPr>
              <a:t>Handoffs, returns, HandoffCheck, Reports, reminders, account and plans.</a:t>
            </a:r>
            <a:endParaRPr lang="en-US" sz="1400" dirty="0"/>
          </a:p>
        </p:txBody>
      </p:sp>
      <p:sp>
        <p:nvSpPr>
          <p:cNvPr id="8" name="platform-card-2"/>
          <p:cNvSpPr/>
          <p:nvPr/>
        </p:nvSpPr>
        <p:spPr>
          <a:xfrm>
            <a:off x="3364992" y="1463040"/>
            <a:ext cx="2651760" cy="3291840"/>
          </a:xfrm>
          <a:prstGeom prst="roundRect">
            <a:avLst>
              <a:gd name="adj" fmla="val 4138"/>
            </a:avLst>
          </a:prstGeom>
          <a:solidFill>
            <a:schemeClr val="bg2"/>
          </a:solidFill>
          <a:ln w="12700">
            <a:solidFill>
              <a:schemeClr val="bg2"/>
            </a:solidFill>
            <a:prstDash val="solid"/>
          </a:ln>
        </p:spPr>
      </p:sp>
      <p:sp>
        <p:nvSpPr>
          <p:cNvPr id="9" name="icon-circle-FaMobileAlt"/>
          <p:cNvSpPr/>
          <p:nvPr/>
        </p:nvSpPr>
        <p:spPr>
          <a:xfrm>
            <a:off x="3639312" y="1737360"/>
            <a:ext cx="777240" cy="777240"/>
          </a:xfrm>
          <a:prstGeom prst="ellipse">
            <a:avLst/>
          </a:prstGeom>
          <a:solidFill>
            <a:srgbClr val="2563EB"/>
          </a:solidFill>
          <a:ln w="12700">
            <a:solidFill>
              <a:srgbClr val="2563EB"/>
            </a:solidFill>
            <a:prstDash val="solid"/>
          </a:ln>
        </p:spPr>
      </p:sp>
      <p:pic>
        <p:nvPicPr>
          <p:cNvPr id="10" name="Image 1" descr="MobileAlt icon">    </p:cNvPr>
          <p:cNvPicPr>
            <a:picLocks noChangeAspect="1"/>
          </p:cNvPicPr>
          <p:nvPr/>
        </p:nvPicPr>
        <p:blipFill>
          <a:blip r:embed="rId2"/>
          <a:stretch>
            <a:fillRect/>
          </a:stretch>
        </p:blipFill>
        <p:spPr>
          <a:xfrm>
            <a:off x="3841394" y="1939442"/>
            <a:ext cx="373075" cy="373075"/>
          </a:xfrm>
          <a:prstGeom prst="rect">
            <a:avLst/>
          </a:prstGeom>
        </p:spPr>
      </p:pic>
      <p:sp>
        <p:nvSpPr>
          <p:cNvPr id="11" name="Text 7"/>
          <p:cNvSpPr txBox="1"/>
          <p:nvPr/>
        </p:nvSpPr>
        <p:spPr>
          <a:xfrm>
            <a:off x="3639312" y="2743200"/>
            <a:ext cx="2148840" cy="731520"/>
          </a:xfrm>
          <a:prstGeom prst="rect">
            <a:avLst/>
          </a:prstGeom>
          <a:noFill/>
          <a:ln/>
        </p:spPr>
        <p:txBody>
          <a:bodyPr wrap="square" lIns="0" tIns="0" rIns="0" bIns="0" rtlCol="0" anchor="t"/>
          <a:lstStyle/>
          <a:p>
            <a:pPr indent="0" marL="0">
              <a:buNone/>
            </a:pPr>
            <a:r>
              <a:rPr lang="en-US" sz="1900" b="1" dirty="0">
                <a:solidFill>
                  <a:schemeClr val="tx1"/>
                </a:solidFill>
              </a:rPr>
              <a:t>Mobile web app</a:t>
            </a:r>
            <a:endParaRPr lang="en-US" sz="1900" dirty="0"/>
          </a:p>
        </p:txBody>
      </p:sp>
      <p:sp>
        <p:nvSpPr>
          <p:cNvPr id="12" name="Text 8"/>
          <p:cNvSpPr txBox="1"/>
          <p:nvPr/>
        </p:nvSpPr>
        <p:spPr>
          <a:xfrm>
            <a:off x="3639312" y="3474720"/>
            <a:ext cx="2148840" cy="1371600"/>
          </a:xfrm>
          <a:prstGeom prst="rect">
            <a:avLst/>
          </a:prstGeom>
          <a:noFill/>
          <a:ln/>
        </p:spPr>
        <p:txBody>
          <a:bodyPr wrap="square" lIns="0" tIns="0" rIns="0" bIns="0" rtlCol="0" anchor="t"/>
          <a:lstStyle/>
          <a:p>
            <a:pPr indent="0" marL="0">
              <a:buNone/>
            </a:pPr>
            <a:r>
              <a:rPr lang="en-US" sz="1400" dirty="0">
                <a:solidFill>
                  <a:schemeClr val="accent5"/>
                </a:solidFill>
              </a:rPr>
              <a:t>Installable on a phone. Create handoffs, record returns and view reports in the field.</a:t>
            </a:r>
            <a:endParaRPr lang="en-US" sz="1400" dirty="0"/>
          </a:p>
        </p:txBody>
      </p:sp>
      <p:sp>
        <p:nvSpPr>
          <p:cNvPr id="13" name="platform-card-3"/>
          <p:cNvSpPr/>
          <p:nvPr/>
        </p:nvSpPr>
        <p:spPr>
          <a:xfrm>
            <a:off x="6181344" y="1463040"/>
            <a:ext cx="2651760" cy="3291840"/>
          </a:xfrm>
          <a:prstGeom prst="roundRect">
            <a:avLst>
              <a:gd name="adj" fmla="val 4138"/>
            </a:avLst>
          </a:prstGeom>
          <a:solidFill>
            <a:schemeClr val="bg2"/>
          </a:solidFill>
          <a:ln w="12700">
            <a:solidFill>
              <a:schemeClr val="bg2"/>
            </a:solidFill>
            <a:prstDash val="solid"/>
          </a:ln>
        </p:spPr>
      </p:sp>
      <p:sp>
        <p:nvSpPr>
          <p:cNvPr id="14" name="icon-circle-FaHeadset"/>
          <p:cNvSpPr/>
          <p:nvPr/>
        </p:nvSpPr>
        <p:spPr>
          <a:xfrm>
            <a:off x="6455664" y="1737360"/>
            <a:ext cx="777240" cy="777240"/>
          </a:xfrm>
          <a:prstGeom prst="ellipse">
            <a:avLst/>
          </a:prstGeom>
          <a:solidFill>
            <a:srgbClr val="2563EB"/>
          </a:solidFill>
          <a:ln w="12700">
            <a:solidFill>
              <a:srgbClr val="2563EB"/>
            </a:solidFill>
            <a:prstDash val="solid"/>
          </a:ln>
        </p:spPr>
      </p:sp>
      <p:pic>
        <p:nvPicPr>
          <p:cNvPr id="15" name="Image 2" descr="Headset icon">    </p:cNvPr>
          <p:cNvPicPr>
            <a:picLocks noChangeAspect="1"/>
          </p:cNvPicPr>
          <p:nvPr/>
        </p:nvPicPr>
        <p:blipFill>
          <a:blip r:embed="rId3"/>
          <a:stretch>
            <a:fillRect/>
          </a:stretch>
        </p:blipFill>
        <p:spPr>
          <a:xfrm>
            <a:off x="6657746" y="1939442"/>
            <a:ext cx="373075" cy="373075"/>
          </a:xfrm>
          <a:prstGeom prst="rect">
            <a:avLst/>
          </a:prstGeom>
        </p:spPr>
      </p:pic>
      <p:sp>
        <p:nvSpPr>
          <p:cNvPr id="16" name="Text 11"/>
          <p:cNvSpPr txBox="1"/>
          <p:nvPr/>
        </p:nvSpPr>
        <p:spPr>
          <a:xfrm>
            <a:off x="6455664" y="2743200"/>
            <a:ext cx="2148840" cy="731520"/>
          </a:xfrm>
          <a:prstGeom prst="rect">
            <a:avLst/>
          </a:prstGeom>
          <a:noFill/>
          <a:ln/>
        </p:spPr>
        <p:txBody>
          <a:bodyPr wrap="square" lIns="0" tIns="0" rIns="0" bIns="0" rtlCol="0" anchor="t"/>
          <a:lstStyle/>
          <a:p>
            <a:pPr indent="0" marL="0">
              <a:buNone/>
            </a:pPr>
            <a:r>
              <a:rPr lang="en-US" sz="1900" b="1" dirty="0">
                <a:solidFill>
                  <a:schemeClr val="tx1"/>
                </a:solidFill>
              </a:rPr>
              <a:t>Support portal</a:t>
            </a:r>
            <a:endParaRPr lang="en-US" sz="1900" dirty="0"/>
          </a:p>
        </p:txBody>
      </p:sp>
      <p:sp>
        <p:nvSpPr>
          <p:cNvPr id="17" name="Text 12"/>
          <p:cNvSpPr txBox="1"/>
          <p:nvPr/>
        </p:nvSpPr>
        <p:spPr>
          <a:xfrm>
            <a:off x="6455664" y="3474720"/>
            <a:ext cx="2148840" cy="1371600"/>
          </a:xfrm>
          <a:prstGeom prst="rect">
            <a:avLst/>
          </a:prstGeom>
          <a:noFill/>
          <a:ln/>
        </p:spPr>
        <p:txBody>
          <a:bodyPr wrap="square" lIns="0" tIns="0" rIns="0" bIns="0" rtlCol="0" anchor="t"/>
          <a:lstStyle/>
          <a:p>
            <a:pPr indent="0" marL="0">
              <a:buNone/>
            </a:pPr>
            <a:r>
              <a:rPr lang="en-US" sz="1400" dirty="0">
                <a:solidFill>
                  <a:schemeClr val="accent5"/>
                </a:solidFill>
              </a:rPr>
              <a:t>For HandOffly staff: tickets, customers, plans and an audit log, by role.</a:t>
            </a:r>
            <a:endParaRPr lang="en-US" sz="1400" dirty="0"/>
          </a:p>
        </p:txBody>
      </p:sp>
      <p:sp>
        <p:nvSpPr>
          <p:cNvPr id="18" name="platform-card-4"/>
          <p:cNvSpPr/>
          <p:nvPr/>
        </p:nvSpPr>
        <p:spPr>
          <a:xfrm>
            <a:off x="8997696" y="1463040"/>
            <a:ext cx="2651760" cy="3291840"/>
          </a:xfrm>
          <a:prstGeom prst="roundRect">
            <a:avLst>
              <a:gd name="adj" fmla="val 4138"/>
            </a:avLst>
          </a:prstGeom>
          <a:solidFill>
            <a:schemeClr val="bg2"/>
          </a:solidFill>
          <a:ln w="12700">
            <a:solidFill>
              <a:schemeClr val="bg2"/>
            </a:solidFill>
            <a:prstDash val="solid"/>
          </a:ln>
        </p:spPr>
      </p:sp>
      <p:sp>
        <p:nvSpPr>
          <p:cNvPr id="19" name="icon-circle-FaEnvelopeOpenText"/>
          <p:cNvSpPr/>
          <p:nvPr/>
        </p:nvSpPr>
        <p:spPr>
          <a:xfrm>
            <a:off x="9272016" y="1737360"/>
            <a:ext cx="777240" cy="777240"/>
          </a:xfrm>
          <a:prstGeom prst="ellipse">
            <a:avLst/>
          </a:prstGeom>
          <a:solidFill>
            <a:srgbClr val="2563EB"/>
          </a:solidFill>
          <a:ln w="12700">
            <a:solidFill>
              <a:srgbClr val="2563EB"/>
            </a:solidFill>
            <a:prstDash val="solid"/>
          </a:ln>
        </p:spPr>
      </p:sp>
      <p:pic>
        <p:nvPicPr>
          <p:cNvPr id="20" name="Image 3" descr="EnvelopeOpenText icon">    </p:cNvPr>
          <p:cNvPicPr>
            <a:picLocks noChangeAspect="1"/>
          </p:cNvPicPr>
          <p:nvPr/>
        </p:nvPicPr>
        <p:blipFill>
          <a:blip r:embed="rId4"/>
          <a:stretch>
            <a:fillRect/>
          </a:stretch>
        </p:blipFill>
        <p:spPr>
          <a:xfrm>
            <a:off x="9474098" y="1939442"/>
            <a:ext cx="373075" cy="373075"/>
          </a:xfrm>
          <a:prstGeom prst="rect">
            <a:avLst/>
          </a:prstGeom>
        </p:spPr>
      </p:pic>
      <p:sp>
        <p:nvSpPr>
          <p:cNvPr id="21" name="Text 15"/>
          <p:cNvSpPr txBox="1"/>
          <p:nvPr/>
        </p:nvSpPr>
        <p:spPr>
          <a:xfrm>
            <a:off x="9272016" y="2743200"/>
            <a:ext cx="2148840" cy="731520"/>
          </a:xfrm>
          <a:prstGeom prst="rect">
            <a:avLst/>
          </a:prstGeom>
          <a:noFill/>
          <a:ln/>
        </p:spPr>
        <p:txBody>
          <a:bodyPr wrap="square" lIns="0" tIns="0" rIns="0" bIns="0" rtlCol="0" anchor="t"/>
          <a:lstStyle/>
          <a:p>
            <a:pPr indent="0" marL="0">
              <a:buNone/>
            </a:pPr>
            <a:r>
              <a:rPr lang="en-US" sz="1900" b="1" dirty="0">
                <a:solidFill>
                  <a:schemeClr val="tx1"/>
                </a:solidFill>
              </a:rPr>
              <a:t>Recipient page</a:t>
            </a:r>
            <a:endParaRPr lang="en-US" sz="1900" dirty="0"/>
          </a:p>
        </p:txBody>
      </p:sp>
      <p:sp>
        <p:nvSpPr>
          <p:cNvPr id="22" name="Text 16"/>
          <p:cNvSpPr txBox="1"/>
          <p:nvPr/>
        </p:nvSpPr>
        <p:spPr>
          <a:xfrm>
            <a:off x="9272016" y="3474720"/>
            <a:ext cx="2148840" cy="1371600"/>
          </a:xfrm>
          <a:prstGeom prst="rect">
            <a:avLst/>
          </a:prstGeom>
          <a:noFill/>
          <a:ln/>
        </p:spPr>
        <p:txBody>
          <a:bodyPr wrap="square" lIns="0" tIns="0" rIns="0" bIns="0" rtlCol="0" anchor="t"/>
          <a:lstStyle/>
          <a:p>
            <a:pPr indent="0" marL="0">
              <a:buNone/>
            </a:pPr>
            <a:r>
              <a:rPr lang="en-US" sz="1400" dirty="0">
                <a:solidFill>
                  <a:schemeClr val="accent5"/>
                </a:solidFill>
              </a:rPr>
              <a:t>A secure link to review, accept or decline. Nothing to install.</a:t>
            </a:r>
            <a:endParaRPr lang="en-US" sz="1400" dirty="0"/>
          </a:p>
        </p:txBody>
      </p:sp>
      <p:sp>
        <p:nvSpPr>
          <p:cNvPr id="23" name="one-backend-banner"/>
          <p:cNvSpPr/>
          <p:nvPr/>
        </p:nvSpPr>
        <p:spPr>
          <a:xfrm>
            <a:off x="548640" y="5074920"/>
            <a:ext cx="11091672" cy="868680"/>
          </a:xfrm>
          <a:prstGeom prst="roundRect">
            <a:avLst>
              <a:gd name="adj" fmla="val 12632"/>
            </a:avLst>
          </a:prstGeom>
          <a:solidFill>
            <a:schemeClr val="bg2"/>
          </a:solidFill>
          <a:ln w="12700">
            <a:solidFill>
              <a:schemeClr val="bg2"/>
            </a:solidFill>
            <a:prstDash val="solid"/>
          </a:ln>
        </p:spPr>
      </p:sp>
      <p:sp>
        <p:nvSpPr>
          <p:cNvPr id="24" name="Text 18"/>
          <p:cNvSpPr txBox="1"/>
          <p:nvPr/>
        </p:nvSpPr>
        <p:spPr>
          <a:xfrm>
            <a:off x="822960" y="5074920"/>
            <a:ext cx="10515600" cy="868680"/>
          </a:xfrm>
          <a:prstGeom prst="rect">
            <a:avLst/>
          </a:prstGeom>
          <a:noFill/>
          <a:ln/>
        </p:spPr>
        <p:txBody>
          <a:bodyPr wrap="square" lIns="0" tIns="0" rIns="0" bIns="0" rtlCol="0" anchor="ctr"/>
          <a:lstStyle/>
          <a:p>
            <a:pPr indent="0" marL="0">
              <a:buNone/>
            </a:pPr>
            <a:r>
              <a:rPr lang="en-US" sz="1700" dirty="0">
                <a:solidFill>
                  <a:schemeClr val="tx1"/>
                </a:solidFill>
              </a:rPr>
              <a:t>One backend and one set of business rules sit behind all of them, so every screen shows the same data.</a:t>
            </a:r>
            <a:endParaRPr lang="en-US" sz="1700" dirty="0"/>
          </a:p>
        </p:txBody>
      </p:sp>
      <p:sp>
        <p:nvSpPr>
          <p:cNvPr id="25" name="Slide Number Placeholder 0"/>
          <p:cNvSpPr>
            <a:spLocks noGrp="1"/>
          </p:cNvSpPr>
          <p:nvPr>
            <p:ph type="sldNum" sz="quarter" idx="4294967295"/>
          </p:nvPr>
        </p:nvSpPr>
        <p:spPr>
          <a:xfrm>
            <a:off x="11045952"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Simple pricing, core features on every plan</a:t>
            </a:r>
            <a:endParaRPr lang="en-US" sz="3200" dirty="0"/>
          </a:p>
        </p:txBody>
      </p:sp>
      <p:sp>
        <p:nvSpPr>
          <p:cNvPr id="3" name="plan-card-Monthly"/>
          <p:cNvSpPr/>
          <p:nvPr/>
        </p:nvSpPr>
        <p:spPr>
          <a:xfrm>
            <a:off x="548640" y="1600200"/>
            <a:ext cx="2651760" cy="4343400"/>
          </a:xfrm>
          <a:prstGeom prst="roundRect">
            <a:avLst>
              <a:gd name="adj" fmla="val 4138"/>
            </a:avLst>
          </a:prstGeom>
          <a:solidFill>
            <a:schemeClr val="bg2"/>
          </a:solidFill>
          <a:ln w="12700">
            <a:solidFill>
              <a:schemeClr val="bg2"/>
            </a:solidFill>
            <a:prstDash val="solid"/>
          </a:ln>
        </p:spPr>
      </p:sp>
      <p:sp>
        <p:nvSpPr>
          <p:cNvPr id="4" name="Text 2"/>
          <p:cNvSpPr txBox="1"/>
          <p:nvPr/>
        </p:nvSpPr>
        <p:spPr>
          <a:xfrm>
            <a:off x="822960" y="1920240"/>
            <a:ext cx="2103120" cy="365760"/>
          </a:xfrm>
          <a:prstGeom prst="rect">
            <a:avLst/>
          </a:prstGeom>
          <a:noFill/>
          <a:ln/>
        </p:spPr>
        <p:txBody>
          <a:bodyPr wrap="square" lIns="0" tIns="0" rIns="0" bIns="0" rtlCol="0" anchor="ctr"/>
          <a:lstStyle/>
          <a:p>
            <a:pPr indent="0" marL="0">
              <a:buNone/>
            </a:pPr>
            <a:r>
              <a:rPr lang="en-US" sz="2000" b="1" dirty="0">
                <a:solidFill>
                  <a:schemeClr val="tx1"/>
                </a:solidFill>
              </a:rPr>
              <a:t>Monthly</a:t>
            </a:r>
            <a:endParaRPr lang="en-US" sz="2000" dirty="0"/>
          </a:p>
        </p:txBody>
      </p:sp>
      <p:sp>
        <p:nvSpPr>
          <p:cNvPr id="5" name="Text 3"/>
          <p:cNvSpPr txBox="1"/>
          <p:nvPr/>
        </p:nvSpPr>
        <p:spPr>
          <a:xfrm>
            <a:off x="822960" y="2331720"/>
            <a:ext cx="2103120" cy="731520"/>
          </a:xfrm>
          <a:prstGeom prst="rect">
            <a:avLst/>
          </a:prstGeom>
          <a:noFill/>
          <a:ln/>
        </p:spPr>
        <p:txBody>
          <a:bodyPr wrap="square" lIns="0" tIns="0" rIns="0" bIns="0" rtlCol="0" anchor="ctr"/>
          <a:lstStyle/>
          <a:p>
            <a:pPr indent="0" marL="0">
              <a:buNone/>
            </a:pPr>
            <a:r>
              <a:rPr lang="en-US" sz="4000" b="1" dirty="0">
                <a:solidFill>
                  <a:schemeClr val="tx1"/>
                </a:solidFill>
              </a:rPr>
              <a:t>₹199</a:t>
            </a:r>
            <a:endParaRPr lang="en-US" sz="4000" dirty="0"/>
          </a:p>
        </p:txBody>
      </p:sp>
      <p:sp>
        <p:nvSpPr>
          <p:cNvPr id="6" name="Text 4"/>
          <p:cNvSpPr txBox="1"/>
          <p:nvPr/>
        </p:nvSpPr>
        <p:spPr>
          <a:xfrm>
            <a:off x="822960" y="3063240"/>
            <a:ext cx="2148840" cy="502920"/>
          </a:xfrm>
          <a:prstGeom prst="rect">
            <a:avLst/>
          </a:prstGeom>
          <a:noFill/>
          <a:ln/>
        </p:spPr>
        <p:txBody>
          <a:bodyPr wrap="square" lIns="0" tIns="0" rIns="0" bIns="0" rtlCol="0" anchor="t"/>
          <a:lstStyle/>
          <a:p>
            <a:pPr indent="0" marL="0">
              <a:buNone/>
            </a:pPr>
            <a:r>
              <a:rPr lang="en-US" sz="1400" dirty="0">
                <a:solidFill>
                  <a:schemeClr val="accent5"/>
                </a:solidFill>
              </a:rPr>
              <a:t>per month</a:t>
            </a:r>
            <a:endParaRPr lang="en-US" sz="1400" dirty="0"/>
          </a:p>
        </p:txBody>
      </p:sp>
      <p:sp>
        <p:nvSpPr>
          <p:cNvPr id="7" name="Text 5"/>
          <p:cNvSpPr txBox="1"/>
          <p:nvPr/>
        </p:nvSpPr>
        <p:spPr>
          <a:xfrm>
            <a:off x="822960" y="3703320"/>
            <a:ext cx="219456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Unlimited handoffs and returns</a:t>
            </a:r>
            <a:endParaRPr lang="en-US" sz="1400" dirty="0"/>
          </a:p>
          <a:p>
            <a:pPr marL="342900" indent="-342900">
              <a:spcAft>
                <a:spcPts val="600"/>
              </a:spcAft>
              <a:buSzPct val="100000"/>
              <a:buChar char="•"/>
            </a:pPr>
            <a:r>
              <a:rPr lang="en-US" sz="1400" dirty="0">
                <a:solidFill>
                  <a:schemeClr val="tx1"/>
                </a:solidFill>
              </a:rPr>
              <a:t>AI Handoff Creator</a:t>
            </a:r>
            <a:endParaRPr lang="en-US" sz="1400" dirty="0"/>
          </a:p>
          <a:p>
            <a:pPr marL="342900" indent="-342900">
              <a:spcAft>
                <a:spcPts val="600"/>
              </a:spcAft>
              <a:buSzPct val="100000"/>
              <a:buChar char="•"/>
            </a:pPr>
            <a:r>
              <a:rPr lang="en-US" sz="1400" dirty="0">
                <a:solidFill>
                  <a:schemeClr val="tx1"/>
                </a:solidFill>
              </a:rPr>
              <a:t>Email support via the contact page</a:t>
            </a:r>
            <a:endParaRPr lang="en-US" sz="1400" dirty="0"/>
          </a:p>
        </p:txBody>
      </p:sp>
      <p:sp>
        <p:nvSpPr>
          <p:cNvPr id="8" name="plan-card-Quarterly"/>
          <p:cNvSpPr/>
          <p:nvPr/>
        </p:nvSpPr>
        <p:spPr>
          <a:xfrm>
            <a:off x="3364992" y="1600200"/>
            <a:ext cx="2651760" cy="4343400"/>
          </a:xfrm>
          <a:prstGeom prst="roundRect">
            <a:avLst>
              <a:gd name="adj" fmla="val 4138"/>
            </a:avLst>
          </a:prstGeom>
          <a:solidFill>
            <a:schemeClr val="bg2"/>
          </a:solidFill>
          <a:ln w="12700">
            <a:solidFill>
              <a:schemeClr val="bg2"/>
            </a:solidFill>
            <a:prstDash val="solid"/>
          </a:ln>
        </p:spPr>
      </p:sp>
      <p:sp>
        <p:nvSpPr>
          <p:cNvPr id="9" name="Text 7"/>
          <p:cNvSpPr txBox="1"/>
          <p:nvPr/>
        </p:nvSpPr>
        <p:spPr>
          <a:xfrm>
            <a:off x="3639312" y="1920240"/>
            <a:ext cx="2103120" cy="365760"/>
          </a:xfrm>
          <a:prstGeom prst="rect">
            <a:avLst/>
          </a:prstGeom>
          <a:noFill/>
          <a:ln/>
        </p:spPr>
        <p:txBody>
          <a:bodyPr wrap="square" lIns="0" tIns="0" rIns="0" bIns="0" rtlCol="0" anchor="ctr"/>
          <a:lstStyle/>
          <a:p>
            <a:pPr indent="0" marL="0">
              <a:buNone/>
            </a:pPr>
            <a:r>
              <a:rPr lang="en-US" sz="2000" b="1" dirty="0">
                <a:solidFill>
                  <a:schemeClr val="tx1"/>
                </a:solidFill>
              </a:rPr>
              <a:t>Quarterly</a:t>
            </a:r>
            <a:endParaRPr lang="en-US" sz="2000" dirty="0"/>
          </a:p>
        </p:txBody>
      </p:sp>
      <p:sp>
        <p:nvSpPr>
          <p:cNvPr id="10" name="Text 8"/>
          <p:cNvSpPr txBox="1"/>
          <p:nvPr/>
        </p:nvSpPr>
        <p:spPr>
          <a:xfrm>
            <a:off x="3639312" y="2331720"/>
            <a:ext cx="2103120" cy="731520"/>
          </a:xfrm>
          <a:prstGeom prst="rect">
            <a:avLst/>
          </a:prstGeom>
          <a:noFill/>
          <a:ln/>
        </p:spPr>
        <p:txBody>
          <a:bodyPr wrap="square" lIns="0" tIns="0" rIns="0" bIns="0" rtlCol="0" anchor="ctr"/>
          <a:lstStyle/>
          <a:p>
            <a:pPr indent="0" marL="0">
              <a:buNone/>
            </a:pPr>
            <a:r>
              <a:rPr lang="en-US" sz="4000" b="1" dirty="0">
                <a:solidFill>
                  <a:schemeClr val="tx1"/>
                </a:solidFill>
              </a:rPr>
              <a:t>₹549</a:t>
            </a:r>
            <a:endParaRPr lang="en-US" sz="4000" dirty="0"/>
          </a:p>
        </p:txBody>
      </p:sp>
      <p:sp>
        <p:nvSpPr>
          <p:cNvPr id="11" name="Text 9"/>
          <p:cNvSpPr txBox="1"/>
          <p:nvPr/>
        </p:nvSpPr>
        <p:spPr>
          <a:xfrm>
            <a:off x="3639312" y="3063240"/>
            <a:ext cx="2148840" cy="502920"/>
          </a:xfrm>
          <a:prstGeom prst="rect">
            <a:avLst/>
          </a:prstGeom>
          <a:noFill/>
          <a:ln/>
        </p:spPr>
        <p:txBody>
          <a:bodyPr wrap="square" lIns="0" tIns="0" rIns="0" bIns="0" rtlCol="0" anchor="t"/>
          <a:lstStyle/>
          <a:p>
            <a:pPr indent="0" marL="0">
              <a:buNone/>
            </a:pPr>
            <a:r>
              <a:rPr lang="en-US" sz="1400" dirty="0">
                <a:solidFill>
                  <a:schemeClr val="accent5"/>
                </a:solidFill>
              </a:rPr>
              <a:t>per 3 months · about ₹183 a month</a:t>
            </a:r>
            <a:endParaRPr lang="en-US" sz="1400" dirty="0"/>
          </a:p>
        </p:txBody>
      </p:sp>
      <p:sp>
        <p:nvSpPr>
          <p:cNvPr id="12" name="Text 10"/>
          <p:cNvSpPr txBox="1"/>
          <p:nvPr/>
        </p:nvSpPr>
        <p:spPr>
          <a:xfrm>
            <a:off x="3639312" y="3703320"/>
            <a:ext cx="219456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Unlimited handoffs and returns</a:t>
            </a:r>
            <a:endParaRPr lang="en-US" sz="1400" dirty="0"/>
          </a:p>
          <a:p>
            <a:pPr marL="342900" indent="-342900">
              <a:spcAft>
                <a:spcPts val="600"/>
              </a:spcAft>
              <a:buSzPct val="100000"/>
              <a:buChar char="•"/>
            </a:pPr>
            <a:r>
              <a:rPr lang="en-US" sz="1400" dirty="0">
                <a:solidFill>
                  <a:schemeClr val="tx1"/>
                </a:solidFill>
              </a:rPr>
              <a:t>AI Handoff Creator</a:t>
            </a:r>
            <a:endParaRPr lang="en-US" sz="1400" dirty="0"/>
          </a:p>
          <a:p>
            <a:pPr marL="342900" indent="-342900">
              <a:spcAft>
                <a:spcPts val="600"/>
              </a:spcAft>
              <a:buSzPct val="100000"/>
              <a:buChar char="•"/>
            </a:pPr>
            <a:r>
              <a:rPr lang="en-US" sz="1400" dirty="0">
                <a:solidFill>
                  <a:schemeClr val="tx1"/>
                </a:solidFill>
              </a:rPr>
              <a:t>Contact Support in the app</a:t>
            </a:r>
            <a:endParaRPr lang="en-US" sz="1400" dirty="0"/>
          </a:p>
        </p:txBody>
      </p:sp>
      <p:sp>
        <p:nvSpPr>
          <p:cNvPr id="13" name="plan-card-Half-yearly"/>
          <p:cNvSpPr/>
          <p:nvPr/>
        </p:nvSpPr>
        <p:spPr>
          <a:xfrm>
            <a:off x="6181344" y="1600200"/>
            <a:ext cx="2651760" cy="4343400"/>
          </a:xfrm>
          <a:prstGeom prst="roundRect">
            <a:avLst>
              <a:gd name="adj" fmla="val 4138"/>
            </a:avLst>
          </a:prstGeom>
          <a:solidFill>
            <a:schemeClr val="bg2"/>
          </a:solidFill>
          <a:ln w="12700">
            <a:solidFill>
              <a:schemeClr val="bg2"/>
            </a:solidFill>
            <a:prstDash val="solid"/>
          </a:ln>
        </p:spPr>
      </p:sp>
      <p:sp>
        <p:nvSpPr>
          <p:cNvPr id="14" name="Text 12"/>
          <p:cNvSpPr txBox="1"/>
          <p:nvPr/>
        </p:nvSpPr>
        <p:spPr>
          <a:xfrm>
            <a:off x="6455664" y="1920240"/>
            <a:ext cx="2103120" cy="365760"/>
          </a:xfrm>
          <a:prstGeom prst="rect">
            <a:avLst/>
          </a:prstGeom>
          <a:noFill/>
          <a:ln/>
        </p:spPr>
        <p:txBody>
          <a:bodyPr wrap="square" lIns="0" tIns="0" rIns="0" bIns="0" rtlCol="0" anchor="ctr"/>
          <a:lstStyle/>
          <a:p>
            <a:pPr indent="0" marL="0">
              <a:buNone/>
            </a:pPr>
            <a:r>
              <a:rPr lang="en-US" sz="2000" b="1" dirty="0">
                <a:solidFill>
                  <a:schemeClr val="tx1"/>
                </a:solidFill>
              </a:rPr>
              <a:t>Half-yearly</a:t>
            </a:r>
            <a:endParaRPr lang="en-US" sz="2000" dirty="0"/>
          </a:p>
        </p:txBody>
      </p:sp>
      <p:sp>
        <p:nvSpPr>
          <p:cNvPr id="15" name="Text 13"/>
          <p:cNvSpPr txBox="1"/>
          <p:nvPr/>
        </p:nvSpPr>
        <p:spPr>
          <a:xfrm>
            <a:off x="6455664" y="2331720"/>
            <a:ext cx="2103120" cy="731520"/>
          </a:xfrm>
          <a:prstGeom prst="rect">
            <a:avLst/>
          </a:prstGeom>
          <a:noFill/>
          <a:ln/>
        </p:spPr>
        <p:txBody>
          <a:bodyPr wrap="square" lIns="0" tIns="0" rIns="0" bIns="0" rtlCol="0" anchor="ctr"/>
          <a:lstStyle/>
          <a:p>
            <a:pPr indent="0" marL="0">
              <a:buNone/>
            </a:pPr>
            <a:r>
              <a:rPr lang="en-US" sz="4000" b="1" dirty="0">
                <a:solidFill>
                  <a:schemeClr val="tx1"/>
                </a:solidFill>
              </a:rPr>
              <a:t>₹999</a:t>
            </a:r>
            <a:endParaRPr lang="en-US" sz="4000" dirty="0"/>
          </a:p>
        </p:txBody>
      </p:sp>
      <p:sp>
        <p:nvSpPr>
          <p:cNvPr id="16" name="Text 14"/>
          <p:cNvSpPr txBox="1"/>
          <p:nvPr/>
        </p:nvSpPr>
        <p:spPr>
          <a:xfrm>
            <a:off x="6455664" y="3063240"/>
            <a:ext cx="2148840" cy="502920"/>
          </a:xfrm>
          <a:prstGeom prst="rect">
            <a:avLst/>
          </a:prstGeom>
          <a:noFill/>
          <a:ln/>
        </p:spPr>
        <p:txBody>
          <a:bodyPr wrap="square" lIns="0" tIns="0" rIns="0" bIns="0" rtlCol="0" anchor="t"/>
          <a:lstStyle/>
          <a:p>
            <a:pPr indent="0" marL="0">
              <a:buNone/>
            </a:pPr>
            <a:r>
              <a:rPr lang="en-US" sz="1400" dirty="0">
                <a:solidFill>
                  <a:schemeClr val="accent5"/>
                </a:solidFill>
              </a:rPr>
              <a:t>per 6 months · about ₹167 a month</a:t>
            </a:r>
            <a:endParaRPr lang="en-US" sz="1400" dirty="0"/>
          </a:p>
        </p:txBody>
      </p:sp>
      <p:sp>
        <p:nvSpPr>
          <p:cNvPr id="17" name="Text 15"/>
          <p:cNvSpPr txBox="1"/>
          <p:nvPr/>
        </p:nvSpPr>
        <p:spPr>
          <a:xfrm>
            <a:off x="6455664" y="3703320"/>
            <a:ext cx="219456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Everything in Quarterly</a:t>
            </a:r>
            <a:endParaRPr lang="en-US" sz="1400" dirty="0"/>
          </a:p>
          <a:p>
            <a:pPr marL="342900" indent="-342900">
              <a:spcAft>
                <a:spcPts val="600"/>
              </a:spcAft>
              <a:buSzPct val="100000"/>
              <a:buChar char="•"/>
            </a:pPr>
            <a:r>
              <a:rPr lang="en-US" sz="1400" dirty="0">
                <a:solidFill>
                  <a:schemeClr val="tx1"/>
                </a:solidFill>
              </a:rPr>
              <a:t>HandoffCheck comparison</a:t>
            </a:r>
            <a:endParaRPr lang="en-US" sz="1400" dirty="0"/>
          </a:p>
          <a:p>
            <a:pPr marL="342900" indent="-342900">
              <a:spcAft>
                <a:spcPts val="600"/>
              </a:spcAft>
              <a:buSzPct val="100000"/>
              <a:buChar char="•"/>
            </a:pPr>
            <a:r>
              <a:rPr lang="en-US" sz="1400" dirty="0">
                <a:solidFill>
                  <a:schemeClr val="tx1"/>
                </a:solidFill>
              </a:rPr>
              <a:t>AI Report Assistant</a:t>
            </a:r>
            <a:endParaRPr lang="en-US" sz="1400" dirty="0"/>
          </a:p>
          <a:p>
            <a:pPr marL="342900" indent="-342900">
              <a:spcAft>
                <a:spcPts val="600"/>
              </a:spcAft>
              <a:buSzPct val="100000"/>
              <a:buChar char="•"/>
            </a:pPr>
            <a:r>
              <a:rPr lang="en-US" sz="1400" dirty="0">
                <a:solidFill>
                  <a:schemeClr val="tx1"/>
                </a:solidFill>
              </a:rPr>
              <a:t>Tickets and priority support</a:t>
            </a:r>
            <a:endParaRPr lang="en-US" sz="1400" dirty="0"/>
          </a:p>
        </p:txBody>
      </p:sp>
      <p:sp>
        <p:nvSpPr>
          <p:cNvPr id="18" name="plan-card-Yearly"/>
          <p:cNvSpPr/>
          <p:nvPr/>
        </p:nvSpPr>
        <p:spPr>
          <a:xfrm>
            <a:off x="8997696" y="1600200"/>
            <a:ext cx="2651760" cy="4343400"/>
          </a:xfrm>
          <a:prstGeom prst="roundRect">
            <a:avLst>
              <a:gd name="adj" fmla="val 4138"/>
            </a:avLst>
          </a:prstGeom>
          <a:solidFill>
            <a:schemeClr val="accent1"/>
          </a:solidFill>
          <a:ln w="12700">
            <a:solidFill>
              <a:schemeClr val="accent1"/>
            </a:solidFill>
            <a:prstDash val="solid"/>
          </a:ln>
        </p:spPr>
      </p:sp>
      <p:sp>
        <p:nvSpPr>
          <p:cNvPr id="19" name="best-value-pill"/>
          <p:cNvSpPr/>
          <p:nvPr/>
        </p:nvSpPr>
        <p:spPr>
          <a:xfrm>
            <a:off x="9774936" y="1417320"/>
            <a:ext cx="1097280" cy="329184"/>
          </a:xfrm>
          <a:prstGeom prst="roundRect">
            <a:avLst>
              <a:gd name="adj" fmla="val 50000"/>
            </a:avLst>
          </a:prstGeom>
          <a:solidFill>
            <a:schemeClr val="accent3"/>
          </a:solidFill>
          <a:ln w="12700">
            <a:solidFill>
              <a:schemeClr val="accent3"/>
            </a:solidFill>
            <a:prstDash val="solid"/>
          </a:ln>
        </p:spPr>
      </p:sp>
      <p:sp>
        <p:nvSpPr>
          <p:cNvPr id="20" name="Text 18"/>
          <p:cNvSpPr txBox="1"/>
          <p:nvPr/>
        </p:nvSpPr>
        <p:spPr>
          <a:xfrm>
            <a:off x="9774936" y="1417320"/>
            <a:ext cx="1097280" cy="329184"/>
          </a:xfrm>
          <a:prstGeom prst="rect">
            <a:avLst/>
          </a:prstGeom>
          <a:noFill/>
          <a:ln/>
        </p:spPr>
        <p:txBody>
          <a:bodyPr wrap="square" lIns="0" tIns="0" rIns="0" bIns="0" rtlCol="0" anchor="ctr"/>
          <a:lstStyle/>
          <a:p>
            <a:pPr algn="ctr" indent="0" marL="0">
              <a:buNone/>
            </a:pPr>
            <a:r>
              <a:rPr lang="en-US" sz="1200" b="1" dirty="0">
                <a:solidFill>
                  <a:schemeClr val="tx2"/>
                </a:solidFill>
              </a:rPr>
              <a:t>Best value</a:t>
            </a:r>
            <a:endParaRPr lang="en-US" sz="1200" dirty="0"/>
          </a:p>
        </p:txBody>
      </p:sp>
      <p:sp>
        <p:nvSpPr>
          <p:cNvPr id="21" name="Text 19"/>
          <p:cNvSpPr txBox="1"/>
          <p:nvPr/>
        </p:nvSpPr>
        <p:spPr>
          <a:xfrm>
            <a:off x="9272016" y="1920240"/>
            <a:ext cx="2103120" cy="365760"/>
          </a:xfrm>
          <a:prstGeom prst="rect">
            <a:avLst/>
          </a:prstGeom>
          <a:noFill/>
          <a:ln/>
        </p:spPr>
        <p:txBody>
          <a:bodyPr wrap="square" lIns="0" tIns="0" rIns="0" bIns="0" rtlCol="0" anchor="ctr"/>
          <a:lstStyle/>
          <a:p>
            <a:pPr indent="0" marL="0">
              <a:buNone/>
            </a:pPr>
            <a:r>
              <a:rPr lang="en-US" sz="2000" b="1" dirty="0">
                <a:solidFill>
                  <a:schemeClr val="bg1"/>
                </a:solidFill>
              </a:rPr>
              <a:t>Yearly</a:t>
            </a:r>
            <a:endParaRPr lang="en-US" sz="2000" dirty="0"/>
          </a:p>
        </p:txBody>
      </p:sp>
      <p:sp>
        <p:nvSpPr>
          <p:cNvPr id="22" name="Text 20"/>
          <p:cNvSpPr txBox="1"/>
          <p:nvPr/>
        </p:nvSpPr>
        <p:spPr>
          <a:xfrm>
            <a:off x="9272016" y="2331720"/>
            <a:ext cx="2103120" cy="731520"/>
          </a:xfrm>
          <a:prstGeom prst="rect">
            <a:avLst/>
          </a:prstGeom>
          <a:noFill/>
          <a:ln/>
        </p:spPr>
        <p:txBody>
          <a:bodyPr wrap="square" lIns="0" tIns="0" rIns="0" bIns="0" rtlCol="0" anchor="ctr"/>
          <a:lstStyle/>
          <a:p>
            <a:pPr indent="0" marL="0">
              <a:buNone/>
            </a:pPr>
            <a:r>
              <a:rPr lang="en-US" sz="4000" b="1" dirty="0">
                <a:solidFill>
                  <a:schemeClr val="bg1"/>
                </a:solidFill>
              </a:rPr>
              <a:t>₹1,999</a:t>
            </a:r>
            <a:endParaRPr lang="en-US" sz="4000" dirty="0"/>
          </a:p>
        </p:txBody>
      </p:sp>
      <p:sp>
        <p:nvSpPr>
          <p:cNvPr id="23" name="Text 21"/>
          <p:cNvSpPr txBox="1"/>
          <p:nvPr/>
        </p:nvSpPr>
        <p:spPr>
          <a:xfrm>
            <a:off x="9272016" y="3063240"/>
            <a:ext cx="2148840" cy="502920"/>
          </a:xfrm>
          <a:prstGeom prst="rect">
            <a:avLst/>
          </a:prstGeom>
          <a:noFill/>
          <a:ln/>
        </p:spPr>
        <p:txBody>
          <a:bodyPr wrap="square" lIns="0" tIns="0" rIns="0" bIns="0" rtlCol="0" anchor="t"/>
          <a:lstStyle/>
          <a:p>
            <a:pPr indent="0" marL="0">
              <a:buNone/>
            </a:pPr>
            <a:r>
              <a:rPr lang="en-US" sz="1400" dirty="0">
                <a:solidFill>
                  <a:schemeClr val="accent6"/>
                </a:solidFill>
              </a:rPr>
              <a:t>per year · about ₹167 a month</a:t>
            </a:r>
            <a:endParaRPr lang="en-US" sz="1400" dirty="0"/>
          </a:p>
        </p:txBody>
      </p:sp>
      <p:sp>
        <p:nvSpPr>
          <p:cNvPr id="24" name="Text 22"/>
          <p:cNvSpPr txBox="1"/>
          <p:nvPr/>
        </p:nvSpPr>
        <p:spPr>
          <a:xfrm>
            <a:off x="9272016" y="3703320"/>
            <a:ext cx="219456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Everything in Half-yearly</a:t>
            </a:r>
            <a:endParaRPr lang="en-US" sz="1400" dirty="0"/>
          </a:p>
          <a:p>
            <a:pPr marL="342900" indent="-342900">
              <a:spcAft>
                <a:spcPts val="600"/>
              </a:spcAft>
              <a:buSzPct val="100000"/>
              <a:buChar char="•"/>
            </a:pPr>
            <a:r>
              <a:rPr lang="en-US" sz="1400" dirty="0">
                <a:solidFill>
                  <a:schemeClr val="bg1"/>
                </a:solidFill>
              </a:rPr>
              <a:t>Direct phone support</a:t>
            </a:r>
            <a:endParaRPr lang="en-US" sz="1400" dirty="0"/>
          </a:p>
          <a:p>
            <a:pPr marL="342900" indent="-342900">
              <a:spcAft>
                <a:spcPts val="600"/>
              </a:spcAft>
              <a:buSzPct val="100000"/>
              <a:buChar char="•"/>
            </a:pPr>
            <a:r>
              <a:rPr lang="en-US" sz="1400" dirty="0">
                <a:solidFill>
                  <a:schemeClr val="bg1"/>
                </a:solidFill>
              </a:rPr>
              <a:t>Highest-priority support</a:t>
            </a:r>
            <a:endParaRPr lang="en-US" sz="1400" dirty="0"/>
          </a:p>
        </p:txBody>
      </p:sp>
      <p:sp>
        <p:nvSpPr>
          <p:cNvPr id="25" name="Text 23"/>
          <p:cNvSpPr txBox="1"/>
          <p:nvPr/>
        </p:nvSpPr>
        <p:spPr>
          <a:xfrm>
            <a:off x="548640" y="5989320"/>
            <a:ext cx="11091672" cy="320040"/>
          </a:xfrm>
          <a:prstGeom prst="rect">
            <a:avLst/>
          </a:prstGeom>
          <a:noFill/>
          <a:ln/>
        </p:spPr>
        <p:txBody>
          <a:bodyPr wrap="square" lIns="0" tIns="0" rIns="0" bIns="0" rtlCol="0" anchor="ctr"/>
          <a:lstStyle/>
          <a:p>
            <a:pPr indent="0" marL="0">
              <a:buNone/>
            </a:pPr>
            <a:r>
              <a:rPr lang="en-US" sz="1200" dirty="0">
                <a:solidFill>
                  <a:schemeClr val="accent5"/>
                </a:solidFill>
              </a:rPr>
              <a:t>Every plan includes unlimited handoffs, returns and missing-item tracking, and attachments. Upgrade any time by paying only the difference.</a:t>
            </a:r>
            <a:endParaRPr lang="en-US" sz="1200" dirty="0"/>
          </a:p>
        </p:txBody>
      </p:sp>
      <p:sp>
        <p:nvSpPr>
          <p:cNvPr id="25" name="Slide Number Placeholder 0"/>
          <p:cNvSpPr>
            <a:spLocks noGrp="1"/>
          </p:cNvSpPr>
          <p:nvPr>
            <p:ph type="sldNum" sz="quarter" idx="4294967295"/>
          </p:nvPr>
        </p:nvSpPr>
        <p:spPr>
          <a:xfrm>
            <a:off x="11045952"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What changes for your business</a:t>
            </a:r>
            <a:endParaRPr lang="en-US" sz="3200" dirty="0"/>
          </a:p>
        </p:txBody>
      </p:sp>
      <p:sp>
        <p:nvSpPr>
          <p:cNvPr id="3" name="icon-circle-FaBalanceScale"/>
          <p:cNvSpPr/>
          <p:nvPr/>
        </p:nvSpPr>
        <p:spPr>
          <a:xfrm>
            <a:off x="548640" y="1508760"/>
            <a:ext cx="731520" cy="731520"/>
          </a:xfrm>
          <a:prstGeom prst="ellipse">
            <a:avLst/>
          </a:prstGeom>
          <a:solidFill>
            <a:srgbClr val="0E9F8E"/>
          </a:solidFill>
          <a:ln w="12700">
            <a:solidFill>
              <a:srgbClr val="0E9F8E"/>
            </a:solidFill>
            <a:prstDash val="solid"/>
          </a:ln>
        </p:spPr>
      </p:sp>
      <p:pic>
        <p:nvPicPr>
          <p:cNvPr id="4" name="Image 0" descr="BalanceScale icon">    </p:cNvPr>
          <p:cNvPicPr>
            <a:picLocks noChangeAspect="1"/>
          </p:cNvPicPr>
          <p:nvPr/>
        </p:nvPicPr>
        <p:blipFill>
          <a:blip r:embed="rId1"/>
          <a:stretch>
            <a:fillRect/>
          </a:stretch>
        </p:blipFill>
        <p:spPr>
          <a:xfrm>
            <a:off x="738835" y="1698955"/>
            <a:ext cx="351130" cy="351130"/>
          </a:xfrm>
          <a:prstGeom prst="rect">
            <a:avLst/>
          </a:prstGeom>
        </p:spPr>
      </p:pic>
      <p:sp>
        <p:nvSpPr>
          <p:cNvPr id="5" name="Text 2"/>
          <p:cNvSpPr txBox="1"/>
          <p:nvPr/>
        </p:nvSpPr>
        <p:spPr>
          <a:xfrm>
            <a:off x="1554480" y="1463040"/>
            <a:ext cx="4389120" cy="411480"/>
          </a:xfrm>
          <a:prstGeom prst="rect">
            <a:avLst/>
          </a:prstGeom>
          <a:noFill/>
          <a:ln/>
        </p:spPr>
        <p:txBody>
          <a:bodyPr wrap="square" lIns="0" tIns="0" rIns="0" bIns="0" rtlCol="0" anchor="ctr"/>
          <a:lstStyle/>
          <a:p>
            <a:pPr indent="0" marL="0">
              <a:buNone/>
            </a:pPr>
            <a:r>
              <a:rPr lang="en-US" sz="2000" b="1" dirty="0">
                <a:solidFill>
                  <a:schemeClr val="tx1"/>
                </a:solidFill>
              </a:rPr>
              <a:t>Fewer disputes</a:t>
            </a:r>
            <a:endParaRPr lang="en-US" sz="2000" dirty="0"/>
          </a:p>
        </p:txBody>
      </p:sp>
      <p:sp>
        <p:nvSpPr>
          <p:cNvPr id="6" name="Text 3"/>
          <p:cNvSpPr txBox="1"/>
          <p:nvPr/>
        </p:nvSpPr>
        <p:spPr>
          <a:xfrm>
            <a:off x="1554480" y="1920240"/>
            <a:ext cx="4389120" cy="822960"/>
          </a:xfrm>
          <a:prstGeom prst="rect">
            <a:avLst/>
          </a:prstGeom>
          <a:noFill/>
          <a:ln/>
        </p:spPr>
        <p:txBody>
          <a:bodyPr wrap="square" lIns="0" tIns="0" rIns="0" bIns="0" rtlCol="0" anchor="t"/>
          <a:lstStyle/>
          <a:p>
            <a:pPr indent="0" marL="0">
              <a:buNone/>
            </a:pPr>
            <a:r>
              <a:rPr lang="en-US" sz="1500" dirty="0">
                <a:solidFill>
                  <a:schemeClr val="accent5"/>
                </a:solidFill>
              </a:rPr>
              <a:t>The recipient accepted a specific list, and every return is on the same record.</a:t>
            </a:r>
            <a:endParaRPr lang="en-US" sz="1500" dirty="0"/>
          </a:p>
        </p:txBody>
      </p:sp>
      <p:sp>
        <p:nvSpPr>
          <p:cNvPr id="7" name="icon-circle-FaBoxOpen"/>
          <p:cNvSpPr/>
          <p:nvPr/>
        </p:nvSpPr>
        <p:spPr>
          <a:xfrm>
            <a:off x="6190488" y="1508760"/>
            <a:ext cx="731520" cy="731520"/>
          </a:xfrm>
          <a:prstGeom prst="ellipse">
            <a:avLst/>
          </a:prstGeom>
          <a:solidFill>
            <a:srgbClr val="0E9F8E"/>
          </a:solidFill>
          <a:ln w="12700">
            <a:solidFill>
              <a:srgbClr val="0E9F8E"/>
            </a:solidFill>
            <a:prstDash val="solid"/>
          </a:ln>
        </p:spPr>
      </p:sp>
      <p:pic>
        <p:nvPicPr>
          <p:cNvPr id="8" name="Image 1" descr="BoxOpen icon">    </p:cNvPr>
          <p:cNvPicPr>
            <a:picLocks noChangeAspect="1"/>
          </p:cNvPicPr>
          <p:nvPr/>
        </p:nvPicPr>
        <p:blipFill>
          <a:blip r:embed="rId2"/>
          <a:stretch>
            <a:fillRect/>
          </a:stretch>
        </p:blipFill>
        <p:spPr>
          <a:xfrm>
            <a:off x="6380683" y="1698955"/>
            <a:ext cx="351130" cy="351130"/>
          </a:xfrm>
          <a:prstGeom prst="rect">
            <a:avLst/>
          </a:prstGeom>
        </p:spPr>
      </p:pic>
      <p:sp>
        <p:nvSpPr>
          <p:cNvPr id="9" name="Text 5"/>
          <p:cNvSpPr txBox="1"/>
          <p:nvPr/>
        </p:nvSpPr>
        <p:spPr>
          <a:xfrm>
            <a:off x="7196328" y="1463040"/>
            <a:ext cx="4389120" cy="411480"/>
          </a:xfrm>
          <a:prstGeom prst="rect">
            <a:avLst/>
          </a:prstGeom>
          <a:noFill/>
          <a:ln/>
        </p:spPr>
        <p:txBody>
          <a:bodyPr wrap="square" lIns="0" tIns="0" rIns="0" bIns="0" rtlCol="0" anchor="ctr"/>
          <a:lstStyle/>
          <a:p>
            <a:pPr indent="0" marL="0">
              <a:buNone/>
            </a:pPr>
            <a:r>
              <a:rPr lang="en-US" sz="2000" b="1" dirty="0">
                <a:solidFill>
                  <a:schemeClr val="tx1"/>
                </a:solidFill>
              </a:rPr>
              <a:t>Less lost property</a:t>
            </a:r>
            <a:endParaRPr lang="en-US" sz="2000" dirty="0"/>
          </a:p>
        </p:txBody>
      </p:sp>
      <p:sp>
        <p:nvSpPr>
          <p:cNvPr id="10" name="Text 6"/>
          <p:cNvSpPr txBox="1"/>
          <p:nvPr/>
        </p:nvSpPr>
        <p:spPr>
          <a:xfrm>
            <a:off x="7196328" y="1920240"/>
            <a:ext cx="4389120" cy="822960"/>
          </a:xfrm>
          <a:prstGeom prst="rect">
            <a:avLst/>
          </a:prstGeom>
          <a:noFill/>
          <a:ln/>
        </p:spPr>
        <p:txBody>
          <a:bodyPr wrap="square" lIns="0" tIns="0" rIns="0" bIns="0" rtlCol="0" anchor="t"/>
          <a:lstStyle/>
          <a:p>
            <a:pPr indent="0" marL="0">
              <a:buNone/>
            </a:pPr>
            <a:r>
              <a:rPr lang="en-US" sz="1500" dirty="0">
                <a:solidFill>
                  <a:schemeClr val="accent5"/>
                </a:solidFill>
              </a:rPr>
              <a:t>Outstanding and missing items are visible per handoff and in Reports.</a:t>
            </a:r>
            <a:endParaRPr lang="en-US" sz="1500" dirty="0"/>
          </a:p>
        </p:txBody>
      </p:sp>
      <p:sp>
        <p:nvSpPr>
          <p:cNvPr id="11" name="icon-circle-FaBolt"/>
          <p:cNvSpPr/>
          <p:nvPr/>
        </p:nvSpPr>
        <p:spPr>
          <a:xfrm>
            <a:off x="548640" y="3063240"/>
            <a:ext cx="731520" cy="731520"/>
          </a:xfrm>
          <a:prstGeom prst="ellipse">
            <a:avLst/>
          </a:prstGeom>
          <a:solidFill>
            <a:srgbClr val="0E9F8E"/>
          </a:solidFill>
          <a:ln w="12700">
            <a:solidFill>
              <a:srgbClr val="0E9F8E"/>
            </a:solidFill>
            <a:prstDash val="solid"/>
          </a:ln>
        </p:spPr>
      </p:sp>
      <p:pic>
        <p:nvPicPr>
          <p:cNvPr id="12" name="Image 2" descr="Bolt icon">    </p:cNvPr>
          <p:cNvPicPr>
            <a:picLocks noChangeAspect="1"/>
          </p:cNvPicPr>
          <p:nvPr/>
        </p:nvPicPr>
        <p:blipFill>
          <a:blip r:embed="rId3"/>
          <a:stretch>
            <a:fillRect/>
          </a:stretch>
        </p:blipFill>
        <p:spPr>
          <a:xfrm>
            <a:off x="738835" y="3253435"/>
            <a:ext cx="351130" cy="351130"/>
          </a:xfrm>
          <a:prstGeom prst="rect">
            <a:avLst/>
          </a:prstGeom>
        </p:spPr>
      </p:pic>
      <p:sp>
        <p:nvSpPr>
          <p:cNvPr id="13" name="Text 8"/>
          <p:cNvSpPr txBox="1"/>
          <p:nvPr/>
        </p:nvSpPr>
        <p:spPr>
          <a:xfrm>
            <a:off x="1554480" y="3017520"/>
            <a:ext cx="4389120" cy="411480"/>
          </a:xfrm>
          <a:prstGeom prst="rect">
            <a:avLst/>
          </a:prstGeom>
          <a:noFill/>
          <a:ln/>
        </p:spPr>
        <p:txBody>
          <a:bodyPr wrap="square" lIns="0" tIns="0" rIns="0" bIns="0" rtlCol="0" anchor="ctr"/>
          <a:lstStyle/>
          <a:p>
            <a:pPr indent="0" marL="0">
              <a:buNone/>
            </a:pPr>
            <a:r>
              <a:rPr lang="en-US" sz="2000" b="1" dirty="0">
                <a:solidFill>
                  <a:schemeClr val="tx1"/>
                </a:solidFill>
              </a:rPr>
              <a:t>Faster handoffs</a:t>
            </a:r>
            <a:endParaRPr lang="en-US" sz="2000" dirty="0"/>
          </a:p>
        </p:txBody>
      </p:sp>
      <p:sp>
        <p:nvSpPr>
          <p:cNvPr id="14" name="Text 9"/>
          <p:cNvSpPr txBox="1"/>
          <p:nvPr/>
        </p:nvSpPr>
        <p:spPr>
          <a:xfrm>
            <a:off x="1554480" y="3474720"/>
            <a:ext cx="4389120" cy="822960"/>
          </a:xfrm>
          <a:prstGeom prst="rect">
            <a:avLst/>
          </a:prstGeom>
          <a:noFill/>
          <a:ln/>
        </p:spPr>
        <p:txBody>
          <a:bodyPr wrap="square" lIns="0" tIns="0" rIns="0" bIns="0" rtlCol="0" anchor="t"/>
          <a:lstStyle/>
          <a:p>
            <a:pPr indent="0" marL="0">
              <a:buNone/>
            </a:pPr>
            <a:r>
              <a:rPr lang="en-US" sz="1500" dirty="0">
                <a:solidFill>
                  <a:schemeClr val="accent5"/>
                </a:solidFill>
              </a:rPr>
              <a:t>AI-assisted drafts, duplicate and import replace retyping.</a:t>
            </a:r>
            <a:endParaRPr lang="en-US" sz="1500" dirty="0"/>
          </a:p>
        </p:txBody>
      </p:sp>
      <p:sp>
        <p:nvSpPr>
          <p:cNvPr id="15" name="icon-circle-FaBell"/>
          <p:cNvSpPr/>
          <p:nvPr/>
        </p:nvSpPr>
        <p:spPr>
          <a:xfrm>
            <a:off x="6190488" y="3063240"/>
            <a:ext cx="731520" cy="731520"/>
          </a:xfrm>
          <a:prstGeom prst="ellipse">
            <a:avLst/>
          </a:prstGeom>
          <a:solidFill>
            <a:srgbClr val="0E9F8E"/>
          </a:solidFill>
          <a:ln w="12700">
            <a:solidFill>
              <a:srgbClr val="0E9F8E"/>
            </a:solidFill>
            <a:prstDash val="solid"/>
          </a:ln>
        </p:spPr>
      </p:sp>
      <p:pic>
        <p:nvPicPr>
          <p:cNvPr id="16" name="Image 3" descr="Bell icon">    </p:cNvPr>
          <p:cNvPicPr>
            <a:picLocks noChangeAspect="1"/>
          </p:cNvPicPr>
          <p:nvPr/>
        </p:nvPicPr>
        <p:blipFill>
          <a:blip r:embed="rId4"/>
          <a:stretch>
            <a:fillRect/>
          </a:stretch>
        </p:blipFill>
        <p:spPr>
          <a:xfrm>
            <a:off x="6380683" y="3253435"/>
            <a:ext cx="351130" cy="351130"/>
          </a:xfrm>
          <a:prstGeom prst="rect">
            <a:avLst/>
          </a:prstGeom>
        </p:spPr>
      </p:pic>
      <p:sp>
        <p:nvSpPr>
          <p:cNvPr id="17" name="Text 11"/>
          <p:cNvSpPr txBox="1"/>
          <p:nvPr/>
        </p:nvSpPr>
        <p:spPr>
          <a:xfrm>
            <a:off x="7196328" y="3017520"/>
            <a:ext cx="4389120" cy="411480"/>
          </a:xfrm>
          <a:prstGeom prst="rect">
            <a:avLst/>
          </a:prstGeom>
          <a:noFill/>
          <a:ln/>
        </p:spPr>
        <p:txBody>
          <a:bodyPr wrap="square" lIns="0" tIns="0" rIns="0" bIns="0" rtlCol="0" anchor="ctr"/>
          <a:lstStyle/>
          <a:p>
            <a:pPr indent="0" marL="0">
              <a:buNone/>
            </a:pPr>
            <a:r>
              <a:rPr lang="en-US" sz="2000" b="1" dirty="0">
                <a:solidFill>
                  <a:schemeClr val="tx1"/>
                </a:solidFill>
              </a:rPr>
              <a:t>Less chasing</a:t>
            </a:r>
            <a:endParaRPr lang="en-US" sz="2000" dirty="0"/>
          </a:p>
        </p:txBody>
      </p:sp>
      <p:sp>
        <p:nvSpPr>
          <p:cNvPr id="18" name="Text 12"/>
          <p:cNvSpPr txBox="1"/>
          <p:nvPr/>
        </p:nvSpPr>
        <p:spPr>
          <a:xfrm>
            <a:off x="7196328" y="3474720"/>
            <a:ext cx="4389120" cy="822960"/>
          </a:xfrm>
          <a:prstGeom prst="rect">
            <a:avLst/>
          </a:prstGeom>
          <a:noFill/>
          <a:ln/>
        </p:spPr>
        <p:txBody>
          <a:bodyPr wrap="square" lIns="0" tIns="0" rIns="0" bIns="0" rtlCol="0" anchor="t"/>
          <a:lstStyle/>
          <a:p>
            <a:pPr indent="0" marL="0">
              <a:buNone/>
            </a:pPr>
            <a:r>
              <a:rPr lang="en-US" sz="1500" dirty="0">
                <a:solidFill>
                  <a:schemeClr val="accent5"/>
                </a:solidFill>
              </a:rPr>
              <a:t>Scheduled reminders for due, overdue, missing and unanswered handoffs.</a:t>
            </a:r>
            <a:endParaRPr lang="en-US" sz="1500" dirty="0"/>
          </a:p>
        </p:txBody>
      </p:sp>
      <p:sp>
        <p:nvSpPr>
          <p:cNvPr id="19" name="icon-circle-FaGlobe"/>
          <p:cNvSpPr/>
          <p:nvPr/>
        </p:nvSpPr>
        <p:spPr>
          <a:xfrm>
            <a:off x="548640" y="4617720"/>
            <a:ext cx="731520" cy="731520"/>
          </a:xfrm>
          <a:prstGeom prst="ellipse">
            <a:avLst/>
          </a:prstGeom>
          <a:solidFill>
            <a:srgbClr val="0E9F8E"/>
          </a:solidFill>
          <a:ln w="12700">
            <a:solidFill>
              <a:srgbClr val="0E9F8E"/>
            </a:solidFill>
            <a:prstDash val="solid"/>
          </a:ln>
        </p:spPr>
      </p:sp>
      <p:pic>
        <p:nvPicPr>
          <p:cNvPr id="20" name="Image 4" descr="Globe icon">    </p:cNvPr>
          <p:cNvPicPr>
            <a:picLocks noChangeAspect="1"/>
          </p:cNvPicPr>
          <p:nvPr/>
        </p:nvPicPr>
        <p:blipFill>
          <a:blip r:embed="rId5"/>
          <a:stretch>
            <a:fillRect/>
          </a:stretch>
        </p:blipFill>
        <p:spPr>
          <a:xfrm>
            <a:off x="738835" y="4807915"/>
            <a:ext cx="351130" cy="351130"/>
          </a:xfrm>
          <a:prstGeom prst="rect">
            <a:avLst/>
          </a:prstGeom>
        </p:spPr>
      </p:pic>
      <p:sp>
        <p:nvSpPr>
          <p:cNvPr id="21" name="Text 14"/>
          <p:cNvSpPr txBox="1"/>
          <p:nvPr/>
        </p:nvSpPr>
        <p:spPr>
          <a:xfrm>
            <a:off x="1554480" y="4572000"/>
            <a:ext cx="4389120" cy="411480"/>
          </a:xfrm>
          <a:prstGeom prst="rect">
            <a:avLst/>
          </a:prstGeom>
          <a:noFill/>
          <a:ln/>
        </p:spPr>
        <p:txBody>
          <a:bodyPr wrap="square" lIns="0" tIns="0" rIns="0" bIns="0" rtlCol="0" anchor="ctr"/>
          <a:lstStyle/>
          <a:p>
            <a:pPr indent="0" marL="0">
              <a:buNone/>
            </a:pPr>
            <a:r>
              <a:rPr lang="en-US" sz="2000" b="1" dirty="0">
                <a:solidFill>
                  <a:schemeClr val="tx1"/>
                </a:solidFill>
              </a:rPr>
              <a:t>Works for any business</a:t>
            </a:r>
            <a:endParaRPr lang="en-US" sz="2000" dirty="0"/>
          </a:p>
        </p:txBody>
      </p:sp>
      <p:sp>
        <p:nvSpPr>
          <p:cNvPr id="22" name="Text 15"/>
          <p:cNvSpPr txBox="1"/>
          <p:nvPr/>
        </p:nvSpPr>
        <p:spPr>
          <a:xfrm>
            <a:off x="1554480" y="5029200"/>
            <a:ext cx="4389120" cy="822960"/>
          </a:xfrm>
          <a:prstGeom prst="rect">
            <a:avLst/>
          </a:prstGeom>
          <a:noFill/>
          <a:ln/>
        </p:spPr>
        <p:txBody>
          <a:bodyPr wrap="square" lIns="0" tIns="0" rIns="0" bIns="0" rtlCol="0" anchor="t"/>
          <a:lstStyle/>
          <a:p>
            <a:pPr indent="0" marL="0">
              <a:buNone/>
            </a:pPr>
            <a:r>
              <a:rPr lang="en-US" sz="1500" dirty="0">
                <a:solidFill>
                  <a:schemeClr val="accent5"/>
                </a:solidFill>
              </a:rPr>
              <a:t>One engine and free-text categories, with no per-industry setup.</a:t>
            </a:r>
            <a:endParaRPr lang="en-US" sz="1500" dirty="0"/>
          </a:p>
        </p:txBody>
      </p:sp>
      <p:sp>
        <p:nvSpPr>
          <p:cNvPr id="23" name="icon-circle-FaShieldAlt"/>
          <p:cNvSpPr/>
          <p:nvPr/>
        </p:nvSpPr>
        <p:spPr>
          <a:xfrm>
            <a:off x="6190488" y="4617720"/>
            <a:ext cx="731520" cy="731520"/>
          </a:xfrm>
          <a:prstGeom prst="ellipse">
            <a:avLst/>
          </a:prstGeom>
          <a:solidFill>
            <a:srgbClr val="0E9F8E"/>
          </a:solidFill>
          <a:ln w="12700">
            <a:solidFill>
              <a:srgbClr val="0E9F8E"/>
            </a:solidFill>
            <a:prstDash val="solid"/>
          </a:ln>
        </p:spPr>
      </p:sp>
      <p:pic>
        <p:nvPicPr>
          <p:cNvPr id="24" name="Image 5" descr="ShieldAlt icon">    </p:cNvPr>
          <p:cNvPicPr>
            <a:picLocks noChangeAspect="1"/>
          </p:cNvPicPr>
          <p:nvPr/>
        </p:nvPicPr>
        <p:blipFill>
          <a:blip r:embed="rId6"/>
          <a:stretch>
            <a:fillRect/>
          </a:stretch>
        </p:blipFill>
        <p:spPr>
          <a:xfrm>
            <a:off x="6380683" y="4807915"/>
            <a:ext cx="351130" cy="351130"/>
          </a:xfrm>
          <a:prstGeom prst="rect">
            <a:avLst/>
          </a:prstGeom>
        </p:spPr>
      </p:pic>
      <p:sp>
        <p:nvSpPr>
          <p:cNvPr id="25" name="Text 17"/>
          <p:cNvSpPr txBox="1"/>
          <p:nvPr/>
        </p:nvSpPr>
        <p:spPr>
          <a:xfrm>
            <a:off x="7196328" y="4572000"/>
            <a:ext cx="4389120" cy="411480"/>
          </a:xfrm>
          <a:prstGeom prst="rect">
            <a:avLst/>
          </a:prstGeom>
          <a:noFill/>
          <a:ln/>
        </p:spPr>
        <p:txBody>
          <a:bodyPr wrap="square" lIns="0" tIns="0" rIns="0" bIns="0" rtlCol="0" anchor="ctr"/>
          <a:lstStyle/>
          <a:p>
            <a:pPr indent="0" marL="0">
              <a:buNone/>
            </a:pPr>
            <a:r>
              <a:rPr lang="en-US" sz="2000" b="1" dirty="0">
                <a:solidFill>
                  <a:schemeClr val="tx1"/>
                </a:solidFill>
              </a:rPr>
              <a:t>A record that holds up</a:t>
            </a:r>
            <a:endParaRPr lang="en-US" sz="2000" dirty="0"/>
          </a:p>
        </p:txBody>
      </p:sp>
      <p:sp>
        <p:nvSpPr>
          <p:cNvPr id="26" name="Text 18"/>
          <p:cNvSpPr txBox="1"/>
          <p:nvPr/>
        </p:nvSpPr>
        <p:spPr>
          <a:xfrm>
            <a:off x="7196328" y="5029200"/>
            <a:ext cx="4389120" cy="822960"/>
          </a:xfrm>
          <a:prstGeom prst="rect">
            <a:avLst/>
          </a:prstGeom>
          <a:noFill/>
          <a:ln/>
        </p:spPr>
        <p:txBody>
          <a:bodyPr wrap="square" lIns="0" tIns="0" rIns="0" bIns="0" rtlCol="0" anchor="t"/>
          <a:lstStyle/>
          <a:p>
            <a:pPr indent="0" marL="0">
              <a:buNone/>
            </a:pPr>
            <a:r>
              <a:rPr lang="en-US" sz="1500" dirty="0">
                <a:solidFill>
                  <a:schemeClr val="accent5"/>
                </a:solidFill>
              </a:rPr>
              <a:t>Preserved history, an audit trail and a read-only closed state.</a:t>
            </a:r>
            <a:endParaRPr lang="en-US" sz="1500" dirty="0"/>
          </a:p>
        </p:txBody>
      </p:sp>
      <p:sp>
        <p:nvSpPr>
          <p:cNvPr id="25" name="Slide Number Placeholder 0"/>
          <p:cNvSpPr>
            <a:spLocks noGrp="1"/>
          </p:cNvSpPr>
          <p:nvPr>
            <p:ph type="sldNum" sz="quarter" idx="4294967295"/>
          </p:nvPr>
        </p:nvSpPr>
        <p:spPr>
          <a:xfrm>
            <a:off x="11045952"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40080" y="1097280"/>
            <a:ext cx="10515600" cy="914400"/>
          </a:xfrm>
          <a:prstGeom prst="rect">
            <a:avLst/>
          </a:prstGeom>
          <a:noFill/>
          <a:ln/>
        </p:spPr>
        <p:txBody>
          <a:bodyPr wrap="square" lIns="0" tIns="0" rIns="0" bIns="0" rtlCol="0" anchor="ctr"/>
          <a:lstStyle/>
          <a:p>
            <a:pPr indent="0" marL="0">
              <a:buNone/>
            </a:pPr>
            <a:r>
              <a:rPr lang="en-US" sz="4400" b="1" dirty="0">
                <a:solidFill>
                  <a:schemeClr val="bg1"/>
                </a:solidFill>
              </a:rPr>
              <a:t>Start with your next handoff</a:t>
            </a:r>
            <a:endParaRPr lang="en-US" sz="4400" dirty="0"/>
          </a:p>
        </p:txBody>
      </p:sp>
      <p:sp>
        <p:nvSpPr>
          <p:cNvPr id="3" name="go-circle-1"/>
          <p:cNvSpPr/>
          <p:nvPr/>
        </p:nvSpPr>
        <p:spPr>
          <a:xfrm>
            <a:off x="640080" y="2651760"/>
            <a:ext cx="731520" cy="731520"/>
          </a:xfrm>
          <a:prstGeom prst="ellipse">
            <a:avLst/>
          </a:prstGeom>
          <a:solidFill>
            <a:schemeClr val="accent1"/>
          </a:solidFill>
          <a:ln w="12700">
            <a:solidFill>
              <a:schemeClr val="accent1"/>
            </a:solidFill>
            <a:prstDash val="solid"/>
          </a:ln>
        </p:spPr>
      </p:sp>
      <p:sp>
        <p:nvSpPr>
          <p:cNvPr id="4" name="Text 2"/>
          <p:cNvSpPr txBox="1"/>
          <p:nvPr/>
        </p:nvSpPr>
        <p:spPr>
          <a:xfrm>
            <a:off x="640080" y="265176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5" name="Text 3"/>
          <p:cNvSpPr txBox="1"/>
          <p:nvPr/>
        </p:nvSpPr>
        <p:spPr>
          <a:xfrm>
            <a:off x="640080" y="3611880"/>
            <a:ext cx="3383280" cy="731520"/>
          </a:xfrm>
          <a:prstGeom prst="rect">
            <a:avLst/>
          </a:prstGeom>
          <a:noFill/>
          <a:ln/>
        </p:spPr>
        <p:txBody>
          <a:bodyPr wrap="square" lIns="0" tIns="0" rIns="0" bIns="0" rtlCol="0" anchor="t"/>
          <a:lstStyle/>
          <a:p>
            <a:pPr indent="0" marL="0">
              <a:buNone/>
            </a:pPr>
            <a:r>
              <a:rPr lang="en-US" sz="2000" b="1" dirty="0">
                <a:solidFill>
                  <a:schemeClr val="bg1"/>
                </a:solidFill>
              </a:rPr>
              <a:t>Choose a plan and sign up</a:t>
            </a:r>
            <a:endParaRPr lang="en-US" sz="2000" dirty="0"/>
          </a:p>
        </p:txBody>
      </p:sp>
      <p:sp>
        <p:nvSpPr>
          <p:cNvPr id="6" name="Text 4"/>
          <p:cNvSpPr txBox="1"/>
          <p:nvPr/>
        </p:nvSpPr>
        <p:spPr>
          <a:xfrm>
            <a:off x="640080" y="4389120"/>
            <a:ext cx="3291840" cy="914400"/>
          </a:xfrm>
          <a:prstGeom prst="rect">
            <a:avLst/>
          </a:prstGeom>
          <a:noFill/>
          <a:ln/>
        </p:spPr>
        <p:txBody>
          <a:bodyPr wrap="square" lIns="0" tIns="0" rIns="0" bIns="0" rtlCol="0" anchor="t"/>
          <a:lstStyle/>
          <a:p>
            <a:pPr indent="0" marL="0">
              <a:buNone/>
            </a:pPr>
            <a:r>
              <a:rPr lang="en-US" sz="1600" dirty="0">
                <a:solidFill>
                  <a:schemeClr val="accent6"/>
                </a:solidFill>
              </a:rPr>
              <a:t>Pick the plan that fits and create your account.</a:t>
            </a:r>
            <a:endParaRPr lang="en-US" sz="1600" dirty="0"/>
          </a:p>
        </p:txBody>
      </p:sp>
      <p:sp>
        <p:nvSpPr>
          <p:cNvPr id="7" name="go-circle-2"/>
          <p:cNvSpPr/>
          <p:nvPr/>
        </p:nvSpPr>
        <p:spPr>
          <a:xfrm>
            <a:off x="4389120" y="2651760"/>
            <a:ext cx="731520" cy="731520"/>
          </a:xfrm>
          <a:prstGeom prst="ellipse">
            <a:avLst/>
          </a:prstGeom>
          <a:solidFill>
            <a:schemeClr val="accent1"/>
          </a:solidFill>
          <a:ln w="12700">
            <a:solidFill>
              <a:schemeClr val="accent1"/>
            </a:solidFill>
            <a:prstDash val="solid"/>
          </a:ln>
        </p:spPr>
      </p:sp>
      <p:sp>
        <p:nvSpPr>
          <p:cNvPr id="8" name="Text 6"/>
          <p:cNvSpPr txBox="1"/>
          <p:nvPr/>
        </p:nvSpPr>
        <p:spPr>
          <a:xfrm>
            <a:off x="4389120" y="265176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9" name="Text 7"/>
          <p:cNvSpPr txBox="1"/>
          <p:nvPr/>
        </p:nvSpPr>
        <p:spPr>
          <a:xfrm>
            <a:off x="4389120" y="3611880"/>
            <a:ext cx="3383280" cy="731520"/>
          </a:xfrm>
          <a:prstGeom prst="rect">
            <a:avLst/>
          </a:prstGeom>
          <a:noFill/>
          <a:ln/>
        </p:spPr>
        <p:txBody>
          <a:bodyPr wrap="square" lIns="0" tIns="0" rIns="0" bIns="0" rtlCol="0" anchor="t"/>
          <a:lstStyle/>
          <a:p>
            <a:pPr indent="0" marL="0">
              <a:buNone/>
            </a:pPr>
            <a:r>
              <a:rPr lang="en-US" sz="2000" b="1" dirty="0">
                <a:solidFill>
                  <a:schemeClr val="bg1"/>
                </a:solidFill>
              </a:rPr>
              <a:t>Create your first handoff</a:t>
            </a:r>
            <a:endParaRPr lang="en-US" sz="2000" dirty="0"/>
          </a:p>
        </p:txBody>
      </p:sp>
      <p:sp>
        <p:nvSpPr>
          <p:cNvPr id="10" name="Text 8"/>
          <p:cNvSpPr txBox="1"/>
          <p:nvPr/>
        </p:nvSpPr>
        <p:spPr>
          <a:xfrm>
            <a:off x="4389120" y="4389120"/>
            <a:ext cx="3291840" cy="914400"/>
          </a:xfrm>
          <a:prstGeom prst="rect">
            <a:avLst/>
          </a:prstGeom>
          <a:noFill/>
          <a:ln/>
        </p:spPr>
        <p:txBody>
          <a:bodyPr wrap="square" lIns="0" tIns="0" rIns="0" bIns="0" rtlCol="0" anchor="t"/>
          <a:lstStyle/>
          <a:p>
            <a:pPr indent="0" marL="0">
              <a:buNone/>
            </a:pPr>
            <a:r>
              <a:rPr lang="en-US" sz="1600" dirty="0">
                <a:solidFill>
                  <a:schemeClr val="accent6"/>
                </a:solidFill>
              </a:rPr>
              <a:t>By hand, or by describing it to the AI Handoff Creator.</a:t>
            </a:r>
            <a:endParaRPr lang="en-US" sz="1600" dirty="0"/>
          </a:p>
        </p:txBody>
      </p:sp>
      <p:sp>
        <p:nvSpPr>
          <p:cNvPr id="11" name="go-circle-3"/>
          <p:cNvSpPr/>
          <p:nvPr/>
        </p:nvSpPr>
        <p:spPr>
          <a:xfrm>
            <a:off x="8138160" y="2651760"/>
            <a:ext cx="731520" cy="731520"/>
          </a:xfrm>
          <a:prstGeom prst="ellipse">
            <a:avLst/>
          </a:prstGeom>
          <a:solidFill>
            <a:schemeClr val="accent1"/>
          </a:solidFill>
          <a:ln w="12700">
            <a:solidFill>
              <a:schemeClr val="accent1"/>
            </a:solidFill>
            <a:prstDash val="solid"/>
          </a:ln>
        </p:spPr>
      </p:sp>
      <p:sp>
        <p:nvSpPr>
          <p:cNvPr id="12" name="Text 10"/>
          <p:cNvSpPr txBox="1"/>
          <p:nvPr/>
        </p:nvSpPr>
        <p:spPr>
          <a:xfrm>
            <a:off x="8138160" y="265176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3" name="Text 11"/>
          <p:cNvSpPr txBox="1"/>
          <p:nvPr/>
        </p:nvSpPr>
        <p:spPr>
          <a:xfrm>
            <a:off x="8138160" y="3611880"/>
            <a:ext cx="3383280" cy="731520"/>
          </a:xfrm>
          <a:prstGeom prst="rect">
            <a:avLst/>
          </a:prstGeom>
          <a:noFill/>
          <a:ln/>
        </p:spPr>
        <p:txBody>
          <a:bodyPr wrap="square" lIns="0" tIns="0" rIns="0" bIns="0" rtlCol="0" anchor="t"/>
          <a:lstStyle/>
          <a:p>
            <a:pPr indent="0" marL="0">
              <a:buNone/>
            </a:pPr>
            <a:r>
              <a:rPr lang="en-US" sz="2000" b="1" dirty="0">
                <a:solidFill>
                  <a:schemeClr val="bg1"/>
                </a:solidFill>
              </a:rPr>
              <a:t>Record returns and close</a:t>
            </a:r>
            <a:endParaRPr lang="en-US" sz="2000" dirty="0"/>
          </a:p>
        </p:txBody>
      </p:sp>
      <p:sp>
        <p:nvSpPr>
          <p:cNvPr id="14" name="Text 12"/>
          <p:cNvSpPr txBox="1"/>
          <p:nvPr/>
        </p:nvSpPr>
        <p:spPr>
          <a:xfrm>
            <a:off x="8138160" y="4389120"/>
            <a:ext cx="3291840" cy="914400"/>
          </a:xfrm>
          <a:prstGeom prst="rect">
            <a:avLst/>
          </a:prstGeom>
          <a:noFill/>
          <a:ln/>
        </p:spPr>
        <p:txBody>
          <a:bodyPr wrap="square" lIns="0" tIns="0" rIns="0" bIns="0" rtlCol="0" anchor="t"/>
          <a:lstStyle/>
          <a:p>
            <a:pPr indent="0" marL="0">
              <a:buNone/>
            </a:pPr>
            <a:r>
              <a:rPr lang="en-US" sz="1600" dirty="0">
                <a:solidFill>
                  <a:schemeClr val="accent6"/>
                </a:solidFill>
              </a:rPr>
              <a:t>Add returns as items come back, and close when all is accounted for.</a:t>
            </a:r>
            <a:endParaRPr lang="en-US" sz="1600" dirty="0"/>
          </a:p>
        </p:txBody>
      </p:sp>
      <p:sp>
        <p:nvSpPr>
          <p:cNvPr id="15" name="Text 13"/>
          <p:cNvSpPr txBox="1"/>
          <p:nvPr/>
        </p:nvSpPr>
        <p:spPr>
          <a:xfrm>
            <a:off x="640080" y="5806440"/>
            <a:ext cx="4572000" cy="548640"/>
          </a:xfrm>
          <a:prstGeom prst="rect">
            <a:avLst/>
          </a:prstGeom>
          <a:noFill/>
          <a:ln/>
        </p:spPr>
        <p:txBody>
          <a:bodyPr wrap="square" lIns="0" tIns="0" rIns="0" bIns="0" rtlCol="0" anchor="ctr"/>
          <a:lstStyle/>
          <a:p>
            <a:pPr indent="0" marL="0">
              <a:buNone/>
            </a:pPr>
            <a:r>
              <a:rPr lang="en-US" sz="2400" b="1" dirty="0">
                <a:solidFill>
                  <a:schemeClr val="accent3"/>
                </a:solidFill>
              </a:rPr>
              <a:t>Questions?</a:t>
            </a:r>
            <a:endParaRPr lang="en-US" sz="2400" dirty="0"/>
          </a:p>
        </p:txBody>
      </p:sp>
    </p:spTree>
  </p:cSld>
  <p:clrMapOvr>
    <a:masterClrMapping/>
  </p:clrMapOvr>
</p:sld>
</file>

<file path=ppt/theme/theme1.xml><?xml version="1.0" encoding="utf-8"?>
<a:theme xmlns:a="http://schemas.openxmlformats.org/drawingml/2006/main" name="HandOffly">
  <a:themeElements>
    <a:clrScheme name="HandOffly">
      <a:dk1>
        <a:srgbClr val="0F172A"/>
      </a:dk1>
      <a:lt1>
        <a:srgbClr val="FFFFFF"/>
      </a:lt1>
      <a:dk2>
        <a:srgbClr val="0B2545"/>
      </a:dk2>
      <a:lt2>
        <a:srgbClr val="F1F5F9"/>
      </a:lt2>
      <a:accent1>
        <a:srgbClr val="2563EB"/>
      </a:accent1>
      <a:accent2>
        <a:srgbClr val="0E9F8E"/>
      </a:accent2>
      <a:accent3>
        <a:srgbClr val="F59E0B"/>
      </a:accent3>
      <a:accent4>
        <a:srgbClr val="DC2626"/>
      </a:accent4>
      <a:accent5>
        <a:srgbClr val="64748B"/>
      </a:accent5>
      <a:accent6>
        <a:srgbClr val="CBD5E1"/>
      </a:accent6>
      <a:hlink>
        <a:srgbClr val="2563EB"/>
      </a:hlink>
      <a:folHlink>
        <a:srgbClr val="64748B"/>
      </a:folHlink>
    </a:clrScheme>
    <a:fontScheme name="HandOffl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HandOffly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HandOffly: proof of every handoff, tracked until it is returned</dc:title>
  <dc:subject>PptxGenJS Presentation</dc:subject>
  <dc:creator>HandOffly</dc:creator>
  <cp:lastModifiedBy>HandOffly</cp:lastModifiedBy>
  <cp:revision>1</cp:revision>
  <dcterms:created xsi:type="dcterms:W3CDTF">2026-10-15T19:45:57Z</dcterms:created>
  <dcterms:modified xsi:type="dcterms:W3CDTF">2026-10-15T19:45:57Z</dcterms:modified>
</cp:coreProperties>
</file>